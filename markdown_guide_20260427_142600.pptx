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各位同学好，今天我们要讲的是 Markdown 使用指南。</a:t>
            </a:r>
          </a:p>
          <a:p>
            <a:r>
              <a:rPr lang="zh-CN" dirty="0"/>
              <a:t>这门"语言"听起来技术，但其实学起来非常轻松。整场分享我会用大约 12 到 15 分钟，带大家从认识 Markdown 到上手基本语法。</a:t>
            </a:r>
          </a:p>
          <a:p>
            <a:r>
              <a:rPr lang="zh-CN" dirty="0"/>
              <a:t>[停顿] 我希望讲完这 15 页之后，你能立刻打开任何一个编辑器，写下自己的第一篇 Markdown 文档。</a:t>
            </a:r>
          </a:p>
          <a:p>
            <a:endParaRPr lang="zh-CN" dirty="0"/>
          </a:p>
          <a:p>
            <a:r>
              <a:rPr lang="zh-CN" dirty="0"/>
              <a:t>要点：(1) 主题是 Markdown 入门 (2) 受众覆盖技术写作 / 学生 / 开发者 / 科研笔记 (3) 总时长约 12-15 分钟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在正式开始之前，我们先看一下今天的"路线图"。</a:t>
            </a:r>
          </a:p>
          <a:p>
            <a:r>
              <a:rPr lang="zh-CN" dirty="0"/>
              <a:t>整场分享分成三大部分。第一章是简介与优点 — 这部分讲 Markdown 是什么、为什么它能流行起来；第二章是基本语法 — 标题、段落、强调、列表、代码这五类核心标记；第三部分是总结 — 何时何地用 Markdown，以及你可以马上开始的行动清单。</a:t>
            </a:r>
          </a:p>
          <a:p>
            <a:r>
              <a:rPr lang="zh-CN" dirty="0"/>
              <a:t>[停顿] 看到右下角的 "P03 — P08 · 6 页"了吗？这就是每章的页数指示，方便你大致估算节奏。</a:t>
            </a:r>
          </a:p>
          <a:p>
            <a:endParaRPr lang="zh-CN" dirty="0"/>
          </a:p>
          <a:p>
            <a:r>
              <a:rPr lang="zh-CN" dirty="0"/>
              <a:t>要点：(1) 三章结构 (2) 共 15 页 (3) 强调"动手"而非纯理论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我们直接进入第一章 — 简介与优点。</a:t>
            </a:r>
          </a:p>
          <a:p>
            <a:r>
              <a:rPr lang="zh-CN" dirty="0"/>
              <a:t>这一章一共 6 页，大约用 5 分钟。我们要回答两个问题：什么是 Markdown？为什么它会流行？</a:t>
            </a:r>
          </a:p>
          <a:p>
            <a:r>
              <a:rPr lang="zh-CN" dirty="0"/>
              <a:t>[停顿] 第二个问题尤其关键 — 因为如果一个东西没有真实的优势，就不会有今天的生态。</a:t>
            </a:r>
          </a:p>
          <a:p>
            <a:endParaRPr lang="zh-CN" dirty="0"/>
          </a:p>
          <a:p>
            <a:r>
              <a:rPr lang="zh-CN" dirty="0"/>
              <a:t>要点：(1) 章节定位 (2) 双重问题：定义 + 流行原因 (3) 时间预算</a:t>
            </a:r>
          </a:p>
          <a:p>
            <a:r>
              <a:rPr lang="zh-CN" dirty="0"/>
              <a:t>时长：30 秒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先回答最基础的问题 — 什么是 Markdown？</a:t>
            </a:r>
          </a:p>
          <a:p>
            <a:r>
              <a:rPr lang="zh-CN" dirty="0"/>
              <a:t>一句话定义：它是一种轻量级标记语言，使用易读易写的纯文本格式来编写文档。注意这两个加重的词："轻量级"和"纯文本"，它们是 Markdown 区别于 Word、HTML 这些工具的关键。</a:t>
            </a:r>
          </a:p>
          <a:p>
            <a:r>
              <a:rPr lang="zh-CN" dirty="0"/>
              <a:t>[互动] 屏幕下方这三个特征 — 语法简洁、关注内容、兼容广泛 — 大家觉得哪一个最打动你？</a:t>
            </a:r>
          </a:p>
          <a:p>
            <a:r>
              <a:rPr lang="zh-CN" dirty="0"/>
              <a:t>[停顿] 留个悬念，后面几页我们会看到具体的例子来印证这三点。</a:t>
            </a:r>
          </a:p>
          <a:p>
            <a:endParaRPr lang="zh-CN" dirty="0"/>
          </a:p>
          <a:p>
            <a:r>
              <a:rPr lang="zh-CN" dirty="0"/>
              <a:t>要点：(1) 一句话定义 (2) 三大特征 (3) 引出后续展开</a:t>
            </a:r>
          </a:p>
          <a:p>
            <a:r>
              <a:rPr lang="zh-CN" dirty="0"/>
              <a:t>时长：1.5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既然 Markdown 这么受欢迎，到底好在哪？我把它的优势浓缩成了 7 个理由。</a:t>
            </a:r>
          </a:p>
          <a:p>
            <a:r>
              <a:rPr lang="zh-CN" dirty="0"/>
              <a:t>你可以看到屏幕上的 7 张卡片：① 语法简单 ② 可读性强 ③ 聚焦内容 ④ 纯文本兼容 ⑤ 版本控制友好 ⑥ 代码与公式支持 ⑦ 应用范围广。</a:t>
            </a:r>
          </a:p>
          <a:p>
            <a:r>
              <a:rPr lang="zh-CN" dirty="0"/>
              <a:t>[停顿] 这一页是一个"全景图"，我不会把每一项都展开 — 接下来三页会按主题把它们详细讲清楚。</a:t>
            </a:r>
          </a:p>
          <a:p>
            <a:r>
              <a:rPr lang="zh-CN" dirty="0"/>
              <a:t>[互动] 在我展开之前，先猜猜：哪一条优势对你的具体场景最有价值？</a:t>
            </a:r>
          </a:p>
          <a:p>
            <a:endParaRPr lang="zh-CN" dirty="0"/>
          </a:p>
          <a:p>
            <a:r>
              <a:rPr lang="zh-CN" dirty="0"/>
              <a:t>要点：(1) 七大优势全景 (2) 后续按主题展开 (3) 邀请观众预先选择关注点</a:t>
            </a:r>
          </a:p>
          <a:p>
            <a:r>
              <a:rPr lang="zh-CN" dirty="0"/>
              <a:t>时长：1.5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我们从"易学"和"可读"这两条开始，因为它们是其他优势的前提。</a:t>
            </a:r>
          </a:p>
          <a:p>
            <a:r>
              <a:rPr lang="zh-CN" dirty="0"/>
              <a:t>看左上半屏的"语法简单" — Markdown 用非常少的符号就能完成基本排版。井号代表标题、星号代表强调、短横线代表列表，5 行示例就覆盖了大半语法。相比之下，Word 的工具栏要点开 4 层菜单才能改一个字号。</a:t>
            </a:r>
          </a:p>
          <a:p>
            <a:r>
              <a:rPr lang="zh-CN" dirty="0"/>
              <a:t>[停顿] 再看左下半屏的"可读性强"。屏幕上是一个论文大纲的源文件，即使我不渲染它，你也能立刻看出"研究背景 - 方法 - 实验 - 结论"四个部分的层级关系。这一点比 HTML 的 `&lt;h1&gt;` `&lt;h2&gt;` 标签更直观。</a:t>
            </a:r>
          </a:p>
          <a:p>
            <a:endParaRPr lang="zh-CN" dirty="0"/>
          </a:p>
          <a:p>
            <a:r>
              <a:rPr lang="zh-CN" dirty="0"/>
              <a:t>要点：(1) 几个符号覆盖大部分场景 (2) 不渲染也有结构感 (3) 比 HTML 更可读</a:t>
            </a:r>
          </a:p>
          <a:p>
            <a:r>
              <a:rPr lang="zh-CN" dirty="0"/>
              <a:t>时长：1.5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第三和第四条 — 聚焦内容、跨平台兼容 — 这两点更偏"工作方式"层面。</a:t>
            </a:r>
          </a:p>
          <a:p>
            <a:r>
              <a:rPr lang="zh-CN" dirty="0"/>
              <a:t>左侧的对比条很说明问题：用 Word 写作，大约 60% 的精力花在排版上；而用 Markdown，只需要 20%。多出来的 40% 时间，全部还给内容本身。</a:t>
            </a:r>
          </a:p>
          <a:p>
            <a:r>
              <a:rPr lang="zh-CN" dirty="0"/>
              <a:t>[停顿] 右侧讲的是兼容性。Markdown 文件就是普通文本 — 体积小、不依赖软件、任何系统都能打开、不易损坏。更重要的是它能导出成 HTML、PDF、Word、PPT、LaTeX —— 写一份原稿，输出多种格式。</a:t>
            </a:r>
          </a:p>
          <a:p>
            <a:r>
              <a:rPr lang="zh-CN" dirty="0"/>
              <a:t>[数据] 一份源文件，6 种以上的输出 — 这个杠杆比是其他文档格式很难做到的。</a:t>
            </a:r>
          </a:p>
          <a:p>
            <a:endParaRPr lang="zh-CN" dirty="0"/>
          </a:p>
          <a:p>
            <a:r>
              <a:rPr lang="zh-CN" dirty="0"/>
              <a:t>要点：(1) 写作精力解放 (2) 一份源稿多格式输出 (3) 文件本身极简健壮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最后三条优势 — 协作、技术支持、应用范围 — 是 Markdown 真正"破圈"的原因。</a:t>
            </a:r>
          </a:p>
          <a:p>
            <a:r>
              <a:rPr lang="zh-CN" dirty="0"/>
              <a:t>[停顿] 第五条：因为是纯文本，Markdown 与 Git 完美配合 — 不同版本之间的 diff 一行就看出差异，所以 GitHub 的 README、项目说明、API 文档、开发指南，几乎全是 Markdown。</a:t>
            </a:r>
          </a:p>
          <a:p>
            <a:r>
              <a:rPr lang="zh-CN" dirty="0"/>
              <a:t>第六条：原生支持代码块和 LaTeX 数学公式。这对技术文档和科研写作太重要了 — 代码可以高亮，公式 `$E = mc^2$` 在多数编辑器里直接渲染。</a:t>
            </a:r>
          </a:p>
          <a:p>
            <a:r>
              <a:rPr lang="zh-CN" dirty="0"/>
              <a:t>第七条：应用范围。技术博客、科研笔记、软件文档、AI 项目文档、Notion、Obsidian — 学一次，处处可用。</a:t>
            </a:r>
          </a:p>
          <a:p>
            <a:r>
              <a:rPr lang="zh-CN" dirty="0"/>
              <a:t>[互动] 看看屏幕右下的 tag 云 — 你日常用的工具有几个在里面？</a:t>
            </a:r>
          </a:p>
          <a:p>
            <a:endParaRPr lang="zh-CN" dirty="0"/>
          </a:p>
          <a:p>
            <a:r>
              <a:rPr lang="zh-CN" dirty="0"/>
              <a:t>要点：(1) 协作友好 (2) 代码与公式原生支持 (3) 应用生态全覆盖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优点讲完了，接下来进入实操 — 第二章基本语法。</a:t>
            </a:r>
          </a:p>
          <a:p>
            <a:r>
              <a:rPr lang="zh-CN" dirty="0"/>
              <a:t>这一章我们用 6 页讲 5 类核心标记：标题、段落、强调、列表、代码。屏幕底部的标签条已经把它们全部列出来了。</a:t>
            </a:r>
          </a:p>
          <a:p>
            <a:r>
              <a:rPr lang="zh-CN" dirty="0"/>
              <a:t>[停顿] 提醒大家：这部分会出现很多代码示例，但都非常短 — 真正的"几个符号"。</a:t>
            </a:r>
          </a:p>
          <a:p>
            <a:endParaRPr lang="zh-CN" dirty="0"/>
          </a:p>
          <a:p>
            <a:r>
              <a:rPr lang="zh-CN" dirty="0"/>
              <a:t>要点：(1) 章节定位 (2) 5 类核心标记 (3) 代码示例都很短</a:t>
            </a:r>
          </a:p>
          <a:p>
            <a:r>
              <a:rPr lang="zh-CN" dirty="0"/>
              <a:t>时长：30 秒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第一类语法 — 标题。</a:t>
            </a:r>
          </a:p>
          <a:p>
            <a:r>
              <a:rPr lang="zh-CN" dirty="0"/>
              <a:t>规则非常简单：在文字前加井号 # 就是标题，井号的数量代表级别。3 个井号就是 h3，6 个井号就是 h6。</a:t>
            </a:r>
          </a:p>
          <a:p>
            <a:r>
              <a:rPr lang="zh-CN" dirty="0"/>
              <a:t>[停顿] 看屏幕右侧的对照表 — 每一行都是 Markdown 语法对应的 HTML 输出。我把第三级标记成了"最常用"，因为在大多数文档里，h3 是承上启下的细分层级。</a:t>
            </a:r>
          </a:p>
          <a:p>
            <a:r>
              <a:rPr lang="zh-CN" dirty="0"/>
              <a:t>[互动] 提示框那条很重要：井号和文字之间一定要留一个空格，否则会被识别成普通文本。</a:t>
            </a:r>
          </a:p>
          <a:p>
            <a:endParaRPr lang="zh-CN" dirty="0"/>
          </a:p>
          <a:p>
            <a:r>
              <a:rPr lang="zh-CN" dirty="0"/>
              <a:t>要点：(1) # 数量 = 层级 (2) 1-6 级对应 h1-h6 (3) 井号和文字间要有空格</a:t>
            </a:r>
          </a:p>
          <a:p>
            <a:r>
              <a:rPr lang="zh-CN" dirty="0"/>
              <a:t>时长：1.5 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第二类语法 — 段落和换行。这两个最容易混淆，但其实规则很清楚。</a:t>
            </a:r>
          </a:p>
          <a:p>
            <a:r>
              <a:rPr lang="zh-CN" dirty="0"/>
              <a:t>段落：用空白行分隔，每段会被自动包裹成 `&lt;p&gt;...&lt;/p&gt;`。看左上的对比 — 一个空行，就分成两段。</a:t>
            </a:r>
          </a:p>
          <a:p>
            <a:r>
              <a:rPr lang="zh-CN" dirty="0"/>
              <a:t>换行：在行末加两个空格再回车。注意右侧高亮的两个红点 — 那就是必须的两个空格。HTML 里它会被翻译成 `&lt;br&gt;`。</a:t>
            </a:r>
          </a:p>
          <a:p>
            <a:r>
              <a:rPr lang="zh-CN" dirty="0"/>
              <a:t>[停顿] 总结一下：换段用空行，换行用两个空格。</a:t>
            </a:r>
          </a:p>
          <a:p>
            <a:endParaRPr lang="zh-CN" dirty="0"/>
          </a:p>
          <a:p>
            <a:r>
              <a:rPr lang="zh-CN" dirty="0"/>
              <a:t>要点：(1) 段落用空行分隔 (2) 换行需行尾两空格 (3) 容易踩的坑</a:t>
            </a:r>
          </a:p>
          <a:p>
            <a:r>
              <a:rPr lang="zh-CN" dirty="0"/>
              <a:t>时长：1.5 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第三类语法 — 强调。也就是粗体和斜体。</a:t>
            </a:r>
          </a:p>
          <a:p>
            <a:r>
              <a:rPr lang="zh-CN" dirty="0"/>
              <a:t>粗体：前后各两个星号或两个下划线 — 比如 `bold text`。</a:t>
            </a:r>
          </a:p>
          <a:p>
            <a:r>
              <a:rPr lang="zh-CN" dirty="0"/>
              <a:t>斜体：前后各一个星号或一个下划线 — 比如 `*cat's meow*`。</a:t>
            </a:r>
          </a:p>
          <a:p>
            <a:r>
              <a:rPr lang="zh-CN" dirty="0"/>
              <a:t>[停顿] 屏幕底部两个提示框很关键 — 单词中间加粗推荐用 `**`，因为 `__` 在某些渲染器里失效；中间斜体只能用 `*`，且星号和字母之间不能有空格。</a:t>
            </a:r>
          </a:p>
          <a:p>
            <a:r>
              <a:rPr lang="zh-CN" dirty="0"/>
              <a:t>[互动] 这是很多新手会踩的坑 — 写了 `_中间加粗_` 发现不工作，往往就是混用了符号。</a:t>
            </a:r>
          </a:p>
          <a:p>
            <a:endParaRPr lang="zh-CN" dirty="0"/>
          </a:p>
          <a:p>
            <a:r>
              <a:rPr lang="zh-CN" dirty="0"/>
              <a:t>要点：(1) 两个 = 粗体，一个 = 斜体 (2) 中间加粗 / 斜体的特殊规则 (3) 推荐统一用星号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第四类语法 — 列表。Markdown 列表分有序和无序。</a:t>
            </a:r>
          </a:p>
          <a:p>
            <a:r>
              <a:rPr lang="zh-CN" dirty="0"/>
              <a:t>有序列表：数字加点开头 — `1. First item`。看左下的提示 — 数字其实不必按顺序，写 `1. 8. 3. 5.` 也会被渲染成 1, 2, 3, 4，但建议从 1 起始。</a:t>
            </a:r>
          </a:p>
          <a:p>
            <a:r>
              <a:rPr lang="zh-CN" dirty="0"/>
              <a:t>无序列表：用 `-` `*` `+` 任一开头都可以。看右侧的预览 — 渲染出来都是圆点。</a:t>
            </a:r>
          </a:p>
          <a:p>
            <a:r>
              <a:rPr lang="zh-CN" dirty="0"/>
              <a:t>[停顿] 共同的规则：缩进两个空格创建嵌套子项。屏幕中间的预览图清楚地显示了缩进后的二级条目。</a:t>
            </a:r>
          </a:p>
          <a:p>
            <a:r>
              <a:rPr lang="zh-CN" dirty="0"/>
              <a:t>[过渡] 选符号要稳定 — 同一个列表内不要混用 `-` 和 `*`，否则源文件可读性会下降。</a:t>
            </a:r>
          </a:p>
          <a:p>
            <a:endParaRPr lang="zh-CN" dirty="0"/>
          </a:p>
          <a:p>
            <a:r>
              <a:rPr lang="zh-CN" dirty="0"/>
              <a:t>要点：(1) 有序：数字+. (2) 无序：- * + 任一 (3) 缩进两空格嵌套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最后一类语法 — 代码。这一类对程序员、对技术文档作者来说最重要。</a:t>
            </a:r>
          </a:p>
          <a:p>
            <a:r>
              <a:rPr lang="zh-CN" dirty="0"/>
              <a:t>行内代码：用反引号包裹一个词或短语，比如 `` `nano` ``，渲染出来就是 `nano`。如果代码本身含反引号，外面用双反引号包裹。</a:t>
            </a:r>
          </a:p>
          <a:p>
            <a:r>
              <a:rPr lang="zh-CN" dirty="0"/>
              <a:t>[停顿] 代码块有两种写法：方法 1 是每行行首缩进 4 个空格，兼容旧版渲染器；方法 2 是 fenced code blocks — 三个反引号包裹，并标注语言名（比如 `python`）— 这种写法可以触发自动语法高亮，强烈推荐。</a:t>
            </a:r>
          </a:p>
          <a:p>
            <a:r>
              <a:rPr lang="zh-CN" dirty="0"/>
              <a:t>[互动] 看屏幕右下角的 RECOMMENDED 标签 — 我建议大家直接习惯方法 2。</a:t>
            </a:r>
          </a:p>
          <a:p>
            <a:endParaRPr lang="zh-CN" dirty="0"/>
          </a:p>
          <a:p>
            <a:r>
              <a:rPr lang="zh-CN" dirty="0"/>
              <a:t>要点：(1) 行内代码用反引号 (2) 代码块推荐 fenced (3) 标语言名可触发高亮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我们已经走完了简介、优点和基本语法。最后留一页给"行动"。</a:t>
            </a:r>
          </a:p>
          <a:p>
            <a:r>
              <a:rPr lang="zh-CN" dirty="0"/>
              <a:t>今天讲的所有内容浓缩成一句话：现在，开始你的第一篇 Markdown。</a:t>
            </a:r>
          </a:p>
          <a:p>
            <a:r>
              <a:rPr lang="zh-CN" dirty="0"/>
              <a:t>[停顿] 屏幕中央三步 — 选一个工具、写一份 README、体验差异。这是最低成本的入门路径。Typora、VS Code、Obsidian、Notion 都可以，选你最顺手的。</a:t>
            </a:r>
          </a:p>
          <a:p>
            <a:r>
              <a:rPr lang="zh-CN" dirty="0"/>
              <a:t>[互动] 我建议今天回去就动手 — 哪怕只是把今天的会议纪要用 Markdown 写一遍。你会感觉到 Word 和 Markdown 在写作精力分配上的真实差异。</a:t>
            </a:r>
          </a:p>
          <a:p>
            <a:r>
              <a:rPr lang="zh-CN" dirty="0"/>
              <a:t>[停顿] 谢谢大家 — 接下来是 Q&amp;A 时间。</a:t>
            </a:r>
          </a:p>
          <a:p>
            <a:endParaRPr lang="zh-CN" dirty="0"/>
          </a:p>
          <a:p>
            <a:r>
              <a:rPr lang="zh-CN" dirty="0"/>
              <a:t>要点：(1) 三步行动清单 (2) 推荐立即动手 (3) 引出 Q&amp;A</a:t>
            </a:r>
          </a:p>
          <a:p>
            <a:r>
              <a:rPr lang="zh-CN" dirty="0"/>
              <a:t>时长：1.5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2E8F0"/>
              </a:gs>
            </a:gsLst>
            <a:lin ang="2700000" scaled="1"/>
          </a:gra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200150" cy="6858000"/>
            <a:chOff x="0" y="0"/>
            <a:chExt cx="120015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143000" cy="6858000"/>
            </a:xfrm>
            <a:prstGeom prst="rect">
              <a:avLst/>
            </a:prstGeom>
            <a:gradFill>
              <a:gsLst>
                <a:gs pos="0">
                  <a:srgbClr val="1565C0"/>
                </a:gs>
                <a:gs pos="100000">
                  <a:srgbClr val="0F172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143000" y="0"/>
              <a:ext cx="57150" cy="68580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1201400" y="723900"/>
            <a:ext cx="647700" cy="361950"/>
            <a:chOff x="11201400" y="723900"/>
            <a:chExt cx="647700" cy="361950"/>
          </a:xfrm>
        </p:grpSpPr>
        <p:sp>
          <p:nvSpPr>
            <p:cNvPr id="6" name="Ellipse 6"/>
            <p:cNvSpPr/>
            <p:nvPr/>
          </p:nvSpPr>
          <p:spPr>
            <a:xfrm>
              <a:off x="11201400" y="723900"/>
              <a:ext cx="76200" cy="76200"/>
            </a:xfrm>
            <a:prstGeom prst="ellipse">
              <a:avLst/>
            </a:prstGeom>
            <a:solidFill>
              <a:srgbClr val="1565C0">
                <a:alpha val="35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1487150" y="723900"/>
              <a:ext cx="76200" cy="76200"/>
            </a:xfrm>
            <a:prstGeom prst="ellipse">
              <a:avLst/>
            </a:prstGeom>
            <a:solidFill>
              <a:srgbClr val="1565C0">
                <a:alpha val="55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772900" y="723900"/>
              <a:ext cx="76200" cy="76200"/>
            </a:xfrm>
            <a:prstGeom prst="ellipse">
              <a:avLst/>
            </a:prstGeom>
            <a:solidFill>
              <a:srgbClr val="06B6D4">
                <a:alpha val="85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201400" y="1009650"/>
              <a:ext cx="76200" cy="76200"/>
            </a:xfrm>
            <a:prstGeom prst="ellipse">
              <a:avLst/>
            </a:prstGeom>
            <a:solidFill>
              <a:srgbClr val="1565C0">
                <a:alpha val="2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487150" y="1009650"/>
              <a:ext cx="76200" cy="76200"/>
            </a:xfrm>
            <a:prstGeom prst="ellipse">
              <a:avLst/>
            </a:prstGeom>
            <a:solidFill>
              <a:srgbClr val="1565C0">
                <a:alpha val="35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772900" y="1009650"/>
              <a:ext cx="76200" cy="76200"/>
            </a:xfrm>
            <a:prstGeom prst="ellipse">
              <a:avLst/>
            </a:prstGeom>
            <a:solidFill>
              <a:srgbClr val="06B6D4">
                <a:alpha val="55000"/>
              </a:srgbClr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838325" y="2063750"/>
            <a:ext cx="3997833" cy="3294062"/>
            <a:chOff x="1838325" y="2063750"/>
            <a:chExt cx="3997833" cy="3294062"/>
          </a:xfrm>
        </p:grpSpPr>
        <p:grpSp>
          <p:nvGrpSpPr>
            <p:cNvPr id="16" name="Group 16"/>
            <p:cNvGrpSpPr/>
            <p:nvPr/>
          </p:nvGrpSpPr>
          <p:grpSpPr>
            <a:xfrm>
              <a:off x="2000250" y="2063750"/>
              <a:ext cx="571500" cy="444500"/>
              <a:chOff x="2000250" y="2063750"/>
              <a:chExt cx="571500" cy="4445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2000250" y="2063750"/>
                <a:ext cx="571500" cy="4445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444500">
                    <a:moveTo>
                      <a:pt x="0" y="63500"/>
                    </a:moveTo>
                    <a:cubicBezTo>
                      <a:pt x="0" y="28430"/>
                      <a:pt x="28430" y="0"/>
                      <a:pt x="63500" y="0"/>
                    </a:cubicBezTo>
                    <a:lnTo>
                      <a:pt x="508000" y="0"/>
                    </a:lnTo>
                    <a:cubicBezTo>
                      <a:pt x="543070" y="0"/>
                      <a:pt x="571500" y="28430"/>
                      <a:pt x="571500" y="63500"/>
                    </a:cubicBezTo>
                    <a:lnTo>
                      <a:pt x="571500" y="381000"/>
                    </a:lnTo>
                    <a:cubicBezTo>
                      <a:pt x="571500" y="416070"/>
                      <a:pt x="543070" y="444500"/>
                      <a:pt x="508000" y="444500"/>
                    </a:cubicBezTo>
                    <a:lnTo>
                      <a:pt x="63500" y="444500"/>
                    </a:lnTo>
                    <a:cubicBezTo>
                      <a:pt x="28430" y="444500"/>
                      <a:pt x="0" y="416070"/>
                      <a:pt x="0" y="381000"/>
                    </a:cubicBezTo>
                    <a:lnTo>
                      <a:pt x="0" y="635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127250" y="2190750"/>
                <a:ext cx="127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90500">
                    <a:moveTo>
                      <a:pt x="0" y="190500"/>
                    </a:moveTo>
                    <a:lnTo>
                      <a:pt x="0" y="0"/>
                    </a:lnTo>
                    <a:lnTo>
                      <a:pt x="63500" y="63500"/>
                    </a:lnTo>
                    <a:lnTo>
                      <a:pt x="127000" y="0"/>
                    </a:lnTo>
                    <a:lnTo>
                      <a:pt x="127000" y="1905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349500" y="2190750"/>
                <a:ext cx="127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90500">
                    <a:moveTo>
                      <a:pt x="0" y="127000"/>
                    </a:moveTo>
                    <a:lnTo>
                      <a:pt x="63500" y="190500"/>
                    </a:lnTo>
                    <a:lnTo>
                      <a:pt x="127000" y="127000"/>
                    </a:lnTo>
                    <a:moveTo>
                      <a:pt x="63500" y="19050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2857500" y="2095500"/>
              <a:ext cx="1619250" cy="381000"/>
              <a:chOff x="2857500" y="2095500"/>
              <a:chExt cx="1619250" cy="381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2857500" y="2095500"/>
                <a:ext cx="16192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381000">
                    <a:moveTo>
                      <a:pt x="190500" y="0"/>
                    </a:moveTo>
                    <a:lnTo>
                      <a:pt x="1428750" y="0"/>
                    </a:lnTo>
                    <a:cubicBezTo>
                      <a:pt x="1533960" y="0"/>
                      <a:pt x="1619250" y="85290"/>
                      <a:pt x="1619250" y="190500"/>
                    </a:cubicBezTo>
                    <a:lnTo>
                      <a:pt x="1619250" y="190500"/>
                    </a:lnTo>
                    <a:cubicBezTo>
                      <a:pt x="1619250" y="295710"/>
                      <a:pt x="1533960" y="381000"/>
                      <a:pt x="1428750" y="381000"/>
                    </a:cubicBezTo>
                    <a:lnTo>
                      <a:pt x="190500" y="381000"/>
                    </a:lnTo>
                    <a:cubicBezTo>
                      <a:pt x="85290" y="381000"/>
                      <a:pt x="0" y="295710"/>
                      <a:pt x="0" y="190500"/>
                    </a:cubicBezTo>
                    <a:lnTo>
                      <a:pt x="0" y="190500"/>
                    </a:lnTo>
                    <a:cubicBezTo>
                      <a:pt x="0" y="85290"/>
                      <a:pt x="85290" y="0"/>
                      <a:pt x="1905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06B6D4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099816" y="2223135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6B6D4"/>
                    </a:solidFill>
                    <a:latin typeface="Segoe UI"/>
                    <a:ea typeface="Microsoft YaHei"/>
                    <a:cs typeface="Segoe UI"/>
                  </a:rPr>
                  <a:t>技术写作教程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838325" y="2862262"/>
              <a:ext cx="3997833" cy="1066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0" b="1" dirty="0">
                  <a:gradFill>
                    <a:gsLst>
                      <a:gs pos="0">
                        <a:srgbClr val="1565C0"/>
                      </a:gs>
                      <a:gs pos="100000">
                        <a:srgbClr val="06B6D4"/>
                      </a:gs>
                    </a:gsLst>
                    <a:lin ang="0" scaled="1"/>
                  </a:gradFill>
                  <a:latin typeface="Segoe UI"/>
                  <a:ea typeface="Microsoft YaHei"/>
                  <a:cs typeface="Segoe UI"/>
                </a:rPr>
                <a:t>Markdown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49755" y="3626168"/>
              <a:ext cx="277882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使用指南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1905000" y="4429125"/>
              <a:ext cx="762000" cy="47625"/>
            </a:xfrm>
            <a:custGeom>
              <a:avLst/>
              <a:gdLst/>
              <a:ahLst/>
              <a:cxnLst/>
              <a:rect l="l" t="t" r="r" b="b"/>
              <a:pathLst>
                <a:path w="762000" h="47625">
                  <a:moveTo>
                    <a:pt x="19050" y="0"/>
                  </a:moveTo>
                  <a:lnTo>
                    <a:pt x="742950" y="0"/>
                  </a:lnTo>
                  <a:cubicBezTo>
                    <a:pt x="753471" y="0"/>
                    <a:pt x="762000" y="8529"/>
                    <a:pt x="762000" y="19050"/>
                  </a:cubicBezTo>
                  <a:lnTo>
                    <a:pt x="762000" y="28575"/>
                  </a:lnTo>
                  <a:cubicBezTo>
                    <a:pt x="762000" y="39096"/>
                    <a:pt x="753471" y="47625"/>
                    <a:pt x="742950" y="47625"/>
                  </a:cubicBezTo>
                  <a:lnTo>
                    <a:pt x="19050" y="47625"/>
                  </a:lnTo>
                  <a:cubicBezTo>
                    <a:pt x="8529" y="47625"/>
                    <a:pt x="0" y="39096"/>
                    <a:pt x="0" y="28575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878330" y="4631055"/>
              <a:ext cx="281368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轻量级标记语言入门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84045" y="5022532"/>
              <a:ext cx="25240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简介 · 优点 · 基本语法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890712" y="6191250"/>
            <a:ext cx="9363076" cy="440531"/>
            <a:chOff x="1890712" y="6191250"/>
            <a:chExt cx="9363076" cy="440531"/>
          </a:xfrm>
        </p:grpSpPr>
        <p:sp>
          <p:nvSpPr>
            <p:cNvPr id="26" name="Line 26"/>
            <p:cNvSpPr/>
            <p:nvPr/>
          </p:nvSpPr>
          <p:spPr>
            <a:xfrm>
              <a:off x="1905000" y="619125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890712" y="6403181"/>
              <a:ext cx="3314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2026.04 · 技术写作教程 · markdown_guide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6940" y="6403181"/>
              <a:ext cx="4968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01 / 15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571500"/>
            <a:ext cx="4969240" cy="747712"/>
            <a:chOff x="571500" y="571500"/>
            <a:chExt cx="4969240" cy="747712"/>
          </a:xfrm>
        </p:grpSpPr>
        <p:sp>
          <p:nvSpPr>
            <p:cNvPr id="3" name="Freeform 3"/>
            <p:cNvSpPr/>
            <p:nvPr/>
          </p:nvSpPr>
          <p:spPr>
            <a:xfrm>
              <a:off x="571500" y="571500"/>
              <a:ext cx="57150" cy="419100"/>
            </a:xfrm>
            <a:custGeom>
              <a:avLst/>
              <a:gdLst/>
              <a:ahLst/>
              <a:cxnLst/>
              <a:rect l="l" t="t" r="r" b="b"/>
              <a:pathLst>
                <a:path w="57150" h="419100">
                  <a:moveTo>
                    <a:pt x="19050" y="0"/>
                  </a:moveTo>
                  <a:lnTo>
                    <a:pt x="38100" y="0"/>
                  </a:lnTo>
                  <a:cubicBezTo>
                    <a:pt x="48621" y="0"/>
                    <a:pt x="57150" y="8529"/>
                    <a:pt x="57150" y="19050"/>
                  </a:cubicBezTo>
                  <a:lnTo>
                    <a:pt x="57150" y="400050"/>
                  </a:lnTo>
                  <a:cubicBezTo>
                    <a:pt x="57150" y="410571"/>
                    <a:pt x="48621" y="419100"/>
                    <a:pt x="38100" y="419100"/>
                  </a:cubicBezTo>
                  <a:lnTo>
                    <a:pt x="19050" y="419100"/>
                  </a:lnTo>
                  <a:cubicBezTo>
                    <a:pt x="8529" y="419100"/>
                    <a:pt x="0" y="410571"/>
                    <a:pt x="0" y="400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7710" y="613410"/>
              <a:ext cx="89668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4855" y="1044892"/>
              <a:ext cx="47958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CONTENTS · 三个章节，从认识 Markdown 到上手语法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1905000"/>
            <a:ext cx="3619500" cy="3619500"/>
            <a:chOff x="571500" y="1905000"/>
            <a:chExt cx="3619500" cy="3619500"/>
          </a:xfrm>
        </p:grpSpPr>
        <p:sp>
          <p:nvSpPr>
            <p:cNvPr id="7" name="Freeform 7"/>
            <p:cNvSpPr/>
            <p:nvPr/>
          </p:nvSpPr>
          <p:spPr>
            <a:xfrm>
              <a:off x="571500" y="1905000"/>
              <a:ext cx="3619500" cy="3619500"/>
            </a:xfrm>
            <a:custGeom>
              <a:avLst/>
              <a:gdLst/>
              <a:ahLst/>
              <a:cxnLst/>
              <a:rect l="l" t="t" r="r" b="b"/>
              <a:pathLst>
                <a:path w="3619500" h="361950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3486150"/>
                  </a:lnTo>
                  <a:cubicBezTo>
                    <a:pt x="3619500" y="3559797"/>
                    <a:pt x="3559797" y="3619500"/>
                    <a:pt x="3486150" y="3619500"/>
                  </a:cubicBezTo>
                  <a:lnTo>
                    <a:pt x="133350" y="3619500"/>
                  </a:lnTo>
                  <a:cubicBezTo>
                    <a:pt x="59703" y="3619500"/>
                    <a:pt x="0" y="3559797"/>
                    <a:pt x="0" y="3486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905000"/>
              <a:ext cx="3619500" cy="57150"/>
            </a:xfrm>
            <a:custGeom>
              <a:avLst/>
              <a:gdLst/>
              <a:ahLst/>
              <a:cxnLst/>
              <a:rect l="l" t="t" r="r" b="b"/>
              <a:pathLst>
                <a:path w="3619500" h="57150">
                  <a:moveTo>
                    <a:pt x="28575" y="0"/>
                  </a:moveTo>
                  <a:lnTo>
                    <a:pt x="3590925" y="0"/>
                  </a:lnTo>
                  <a:cubicBezTo>
                    <a:pt x="3606707" y="0"/>
                    <a:pt x="3619500" y="12793"/>
                    <a:pt x="3619500" y="28575"/>
                  </a:cubicBezTo>
                  <a:lnTo>
                    <a:pt x="3619500" y="28575"/>
                  </a:lnTo>
                  <a:cubicBezTo>
                    <a:pt x="3619500" y="44357"/>
                    <a:pt x="3606707" y="57150"/>
                    <a:pt x="3590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910" y="2118360"/>
              <a:ext cx="654148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565C0">
                      <a:alpha val="85000"/>
                    </a:srgbClr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3100388" y="2279650"/>
              <a:ext cx="296863" cy="279400"/>
            </a:xfrm>
            <a:custGeom>
              <a:avLst/>
              <a:gdLst/>
              <a:ahLst/>
              <a:cxnLst/>
              <a:rect l="l" t="t" r="r" b="b"/>
              <a:pathLst>
                <a:path w="296863" h="279400">
                  <a:moveTo>
                    <a:pt x="227012" y="244475"/>
                  </a:moveTo>
                  <a:cubicBezTo>
                    <a:pt x="246301" y="244475"/>
                    <a:pt x="261938" y="260111"/>
                    <a:pt x="261938" y="279400"/>
                  </a:cubicBezTo>
                  <a:cubicBezTo>
                    <a:pt x="261938" y="260111"/>
                    <a:pt x="277574" y="244475"/>
                    <a:pt x="296863" y="244475"/>
                  </a:cubicBezTo>
                  <a:cubicBezTo>
                    <a:pt x="277574" y="244475"/>
                    <a:pt x="261938" y="228839"/>
                    <a:pt x="261938" y="209550"/>
                  </a:cubicBezTo>
                  <a:cubicBezTo>
                    <a:pt x="261938" y="228839"/>
                    <a:pt x="246301" y="244475"/>
                    <a:pt x="227012" y="244475"/>
                  </a:cubicBezTo>
                  <a:moveTo>
                    <a:pt x="227012" y="34925"/>
                  </a:moveTo>
                  <a:cubicBezTo>
                    <a:pt x="246301" y="34925"/>
                    <a:pt x="261938" y="50561"/>
                    <a:pt x="261938" y="69850"/>
                  </a:cubicBezTo>
                  <a:cubicBezTo>
                    <a:pt x="261938" y="50561"/>
                    <a:pt x="277574" y="34925"/>
                    <a:pt x="296863" y="34925"/>
                  </a:cubicBezTo>
                  <a:cubicBezTo>
                    <a:pt x="277574" y="34925"/>
                    <a:pt x="261938" y="19289"/>
                    <a:pt x="261938" y="0"/>
                  </a:cubicBezTo>
                  <a:cubicBezTo>
                    <a:pt x="261938" y="19289"/>
                    <a:pt x="246301" y="34925"/>
                    <a:pt x="227012" y="34925"/>
                  </a:cubicBezTo>
                  <a:moveTo>
                    <a:pt x="104775" y="244475"/>
                  </a:moveTo>
                  <a:cubicBezTo>
                    <a:pt x="104775" y="186609"/>
                    <a:pt x="151684" y="139700"/>
                    <a:pt x="209550" y="139700"/>
                  </a:cubicBezTo>
                  <a:cubicBezTo>
                    <a:pt x="151684" y="139700"/>
                    <a:pt x="104775" y="92791"/>
                    <a:pt x="104775" y="34925"/>
                  </a:cubicBezTo>
                  <a:cubicBezTo>
                    <a:pt x="104775" y="92791"/>
                    <a:pt x="57866" y="139700"/>
                    <a:pt x="0" y="139700"/>
                  </a:cubicBezTo>
                  <a:cubicBezTo>
                    <a:pt x="57866" y="139700"/>
                    <a:pt x="104775" y="186609"/>
                    <a:pt x="104775" y="244475"/>
                  </a:cubicBez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57250" y="29527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06B6D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0580" y="3202305"/>
              <a:ext cx="185676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简介 与 优点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010" y="3632835"/>
              <a:ext cx="25542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认识 Markdown 与它流行的原因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3915" y="4172902"/>
              <a:ext cx="12262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P03 — P08 · 6 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2962" y="4545806"/>
              <a:ext cx="14991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什么是 Markdown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2962" y="4783931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七大优势全景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2962" y="502205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优势详解（共 3 页）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286250" y="1905000"/>
            <a:ext cx="3619500" cy="3619500"/>
            <a:chOff x="4286250" y="1905000"/>
            <a:chExt cx="3619500" cy="3619500"/>
          </a:xfrm>
        </p:grpSpPr>
        <p:sp>
          <p:nvSpPr>
            <p:cNvPr id="19" name="Freeform 19"/>
            <p:cNvSpPr/>
            <p:nvPr/>
          </p:nvSpPr>
          <p:spPr>
            <a:xfrm>
              <a:off x="4286250" y="1905000"/>
              <a:ext cx="3619500" cy="3619500"/>
            </a:xfrm>
            <a:custGeom>
              <a:avLst/>
              <a:gdLst/>
              <a:ahLst/>
              <a:cxnLst/>
              <a:rect l="l" t="t" r="r" b="b"/>
              <a:pathLst>
                <a:path w="3619500" h="361950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3486150"/>
                  </a:lnTo>
                  <a:cubicBezTo>
                    <a:pt x="3619500" y="3559797"/>
                    <a:pt x="3559797" y="3619500"/>
                    <a:pt x="3486150" y="3619500"/>
                  </a:cubicBezTo>
                  <a:lnTo>
                    <a:pt x="133350" y="3619500"/>
                  </a:lnTo>
                  <a:cubicBezTo>
                    <a:pt x="59703" y="3619500"/>
                    <a:pt x="0" y="3559797"/>
                    <a:pt x="0" y="3486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286250" y="1905000"/>
              <a:ext cx="3619500" cy="57150"/>
            </a:xfrm>
            <a:custGeom>
              <a:avLst/>
              <a:gdLst/>
              <a:ahLst/>
              <a:cxnLst/>
              <a:rect l="l" t="t" r="r" b="b"/>
              <a:pathLst>
                <a:path w="3619500" h="57150">
                  <a:moveTo>
                    <a:pt x="28575" y="0"/>
                  </a:moveTo>
                  <a:lnTo>
                    <a:pt x="3590925" y="0"/>
                  </a:lnTo>
                  <a:cubicBezTo>
                    <a:pt x="3606707" y="0"/>
                    <a:pt x="3619500" y="12793"/>
                    <a:pt x="3619500" y="28575"/>
                  </a:cubicBezTo>
                  <a:lnTo>
                    <a:pt x="3619500" y="28575"/>
                  </a:lnTo>
                  <a:cubicBezTo>
                    <a:pt x="3619500" y="44357"/>
                    <a:pt x="3606707" y="57150"/>
                    <a:pt x="3590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18660" y="2118360"/>
              <a:ext cx="815169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6B6D4">
                      <a:alpha val="85000"/>
                    </a:srgbClr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815138" y="2279650"/>
              <a:ext cx="314324" cy="279400"/>
              <a:chOff x="6815138" y="2279650"/>
              <a:chExt cx="314324" cy="2794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15138" y="2349500"/>
                <a:ext cx="698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39700">
                    <a:moveTo>
                      <a:pt x="69850" y="0"/>
                    </a:moveTo>
                    <a:lnTo>
                      <a:pt x="0" y="69850"/>
                    </a:lnTo>
                    <a:lnTo>
                      <a:pt x="69850" y="1397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059612" y="2349500"/>
                <a:ext cx="698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39700">
                    <a:moveTo>
                      <a:pt x="0" y="0"/>
                    </a:moveTo>
                    <a:lnTo>
                      <a:pt x="69850" y="69850"/>
                    </a:lnTo>
                    <a:lnTo>
                      <a:pt x="0" y="1397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937375" y="2279650"/>
                <a:ext cx="6985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279400">
                    <a:moveTo>
                      <a:pt x="69850" y="0"/>
                    </a:moveTo>
                    <a:lnTo>
                      <a:pt x="0" y="2794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26" name="Line 26"/>
            <p:cNvSpPr/>
            <p:nvPr/>
          </p:nvSpPr>
          <p:spPr>
            <a:xfrm>
              <a:off x="4572000" y="29527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45330" y="3202305"/>
              <a:ext cx="1341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基本语法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56760" y="3632835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五类核心标记，几分钟即可上手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58665" y="4172902"/>
              <a:ext cx="1186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P09 — P14 · 6 页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57712" y="4545806"/>
              <a:ext cx="153197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标题 / 段落 / 换行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57712" y="4783931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强调 · 粗体与斜体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57712" y="502205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列表 · 代码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001000" y="1905000"/>
            <a:ext cx="3619500" cy="3619500"/>
            <a:chOff x="8001000" y="1905000"/>
            <a:chExt cx="3619500" cy="3619500"/>
          </a:xfrm>
        </p:grpSpPr>
        <p:sp>
          <p:nvSpPr>
            <p:cNvPr id="34" name="Freeform 34"/>
            <p:cNvSpPr/>
            <p:nvPr/>
          </p:nvSpPr>
          <p:spPr>
            <a:xfrm>
              <a:off x="8001000" y="1905000"/>
              <a:ext cx="3619500" cy="3619500"/>
            </a:xfrm>
            <a:custGeom>
              <a:avLst/>
              <a:gdLst/>
              <a:ahLst/>
              <a:cxnLst/>
              <a:rect l="l" t="t" r="r" b="b"/>
              <a:pathLst>
                <a:path w="3619500" h="361950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3486150"/>
                  </a:lnTo>
                  <a:cubicBezTo>
                    <a:pt x="3619500" y="3559797"/>
                    <a:pt x="3559797" y="3619500"/>
                    <a:pt x="3486150" y="3619500"/>
                  </a:cubicBezTo>
                  <a:lnTo>
                    <a:pt x="133350" y="3619500"/>
                  </a:lnTo>
                  <a:cubicBezTo>
                    <a:pt x="59703" y="3619500"/>
                    <a:pt x="0" y="3559797"/>
                    <a:pt x="0" y="3486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001000" y="1905000"/>
              <a:ext cx="3619500" cy="57150"/>
            </a:xfrm>
            <a:custGeom>
              <a:avLst/>
              <a:gdLst/>
              <a:ahLst/>
              <a:cxnLst/>
              <a:rect l="l" t="t" r="r" b="b"/>
              <a:pathLst>
                <a:path w="3619500" h="57150">
                  <a:moveTo>
                    <a:pt x="28575" y="0"/>
                  </a:moveTo>
                  <a:lnTo>
                    <a:pt x="3590925" y="0"/>
                  </a:lnTo>
                  <a:cubicBezTo>
                    <a:pt x="3606707" y="0"/>
                    <a:pt x="3619500" y="12793"/>
                    <a:pt x="3619500" y="28575"/>
                  </a:cubicBezTo>
                  <a:lnTo>
                    <a:pt x="3619500" y="28575"/>
                  </a:lnTo>
                  <a:cubicBezTo>
                    <a:pt x="3619500" y="44357"/>
                    <a:pt x="3606707" y="57150"/>
                    <a:pt x="3590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33410" y="2118360"/>
              <a:ext cx="815169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F172A">
                      <a:alpha val="85000"/>
                    </a:srgbClr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0541834" y="2279650"/>
              <a:ext cx="284916" cy="284916"/>
              <a:chOff x="10541834" y="2279650"/>
              <a:chExt cx="284916" cy="28491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0547350" y="2279650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157162"/>
                    </a:moveTo>
                    <a:cubicBezTo>
                      <a:pt x="64091" y="164779"/>
                      <a:pt x="114621" y="215309"/>
                      <a:pt x="122238" y="279400"/>
                    </a:cubicBezTo>
                    <a:cubicBezTo>
                      <a:pt x="153619" y="261308"/>
                      <a:pt x="173429" y="228291"/>
                      <a:pt x="174625" y="192087"/>
                    </a:cubicBezTo>
                    <a:cubicBezTo>
                      <a:pt x="234587" y="170994"/>
                      <a:pt x="275939" y="115858"/>
                      <a:pt x="279400" y="52388"/>
                    </a:cubicBezTo>
                    <a:cubicBezTo>
                      <a:pt x="279400" y="23455"/>
                      <a:pt x="255945" y="0"/>
                      <a:pt x="227013" y="0"/>
                    </a:cubicBezTo>
                    <a:cubicBezTo>
                      <a:pt x="163542" y="3461"/>
                      <a:pt x="108406" y="44813"/>
                      <a:pt x="87313" y="104775"/>
                    </a:cubicBezTo>
                    <a:cubicBezTo>
                      <a:pt x="51109" y="105971"/>
                      <a:pt x="18092" y="125781"/>
                      <a:pt x="0" y="157162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541834" y="2454275"/>
                <a:ext cx="110291" cy="110291"/>
              </a:xfrm>
              <a:custGeom>
                <a:avLst/>
                <a:gdLst/>
                <a:ahLst/>
                <a:cxnLst/>
                <a:rect l="l" t="t" r="r" b="b"/>
                <a:pathLst>
                  <a:path w="110291" h="110291">
                    <a:moveTo>
                      <a:pt x="57903" y="0"/>
                    </a:moveTo>
                    <a:cubicBezTo>
                      <a:pt x="20725" y="20989"/>
                      <a:pt x="0" y="62438"/>
                      <a:pt x="5516" y="104775"/>
                    </a:cubicBezTo>
                    <a:cubicBezTo>
                      <a:pt x="47852" y="110291"/>
                      <a:pt x="89301" y="89566"/>
                      <a:pt x="110291" y="52388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21975" y="2349500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41" name="Line 41"/>
            <p:cNvSpPr/>
            <p:nvPr/>
          </p:nvSpPr>
          <p:spPr>
            <a:xfrm>
              <a:off x="8286750" y="29527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rgbClr val="06B6D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60080" y="3202305"/>
              <a:ext cx="185676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总结 与 应用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71510" y="3632835"/>
              <a:ext cx="19758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何时何地使用 Markdown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73415" y="4172902"/>
              <a:ext cx="694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P15 · 1 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72462" y="4545806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关键收获回顾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72462" y="4783931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推荐应用场景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72462" y="5022056"/>
              <a:ext cx="9897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· 下一步行动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60070" y="6286500"/>
            <a:ext cx="11071860" cy="371475"/>
            <a:chOff x="560070" y="6286500"/>
            <a:chExt cx="11071860" cy="371475"/>
          </a:xfrm>
        </p:grpSpPr>
        <p:sp>
          <p:nvSpPr>
            <p:cNvPr id="49" name="Line 49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0070" y="6475095"/>
              <a:ext cx="1219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Markdown 使用指南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01590" y="64750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02 / 15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565C0"/>
              </a:gs>
            </a:gsLst>
            <a:lin ang="2700000" scaled="1"/>
          </a:gra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933450" y="933450"/>
            <a:ext cx="10706100" cy="5181600"/>
            <a:chOff x="933450" y="933450"/>
            <a:chExt cx="10706100" cy="5181600"/>
          </a:xfrm>
        </p:grpSpPr>
        <p:sp>
          <p:nvSpPr>
            <p:cNvPr id="3" name="Ellipse 3"/>
            <p:cNvSpPr/>
            <p:nvPr/>
          </p:nvSpPr>
          <p:spPr>
            <a:xfrm>
              <a:off x="933450" y="933450"/>
              <a:ext cx="38100" cy="38100"/>
            </a:xfrm>
            <a:prstGeom prst="ellipse">
              <a:avLst/>
            </a:prstGeom>
            <a:solidFill>
              <a:srgbClr val="06B6D4">
                <a:alpha val="3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504950" y="933450"/>
              <a:ext cx="38100" cy="38100"/>
            </a:xfrm>
            <a:prstGeom prst="ellipse">
              <a:avLst/>
            </a:prstGeom>
            <a:solidFill>
              <a:srgbClr val="06B6D4">
                <a:alpha val="20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076450" y="933450"/>
              <a:ext cx="38100" cy="38100"/>
            </a:xfrm>
            <a:prstGeom prst="ellipse">
              <a:avLst/>
            </a:prstGeom>
            <a:solidFill>
              <a:srgbClr val="06B6D4">
                <a:alpha val="15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933450" y="1504950"/>
              <a:ext cx="38100" cy="38100"/>
            </a:xfrm>
            <a:prstGeom prst="ellipse">
              <a:avLst/>
            </a:prstGeom>
            <a:solidFill>
              <a:srgbClr val="06B6D4">
                <a:alpha val="2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504950" y="1504950"/>
              <a:ext cx="38100" cy="38100"/>
            </a:xfrm>
            <a:prstGeom prst="ellipse">
              <a:avLst/>
            </a:prstGeom>
            <a:solidFill>
              <a:srgbClr val="06B6D4">
                <a:alpha val="15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458450" y="5695950"/>
              <a:ext cx="38100" cy="38100"/>
            </a:xfrm>
            <a:prstGeom prst="ellipse">
              <a:avLst/>
            </a:prstGeom>
            <a:solidFill>
              <a:srgbClr val="06B6D4">
                <a:alpha val="3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029950" y="5695950"/>
              <a:ext cx="38100" cy="38100"/>
            </a:xfrm>
            <a:prstGeom prst="ellipse">
              <a:avLst/>
            </a:prstGeom>
            <a:solidFill>
              <a:srgbClr val="06B6D4">
                <a:alpha val="2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458450" y="6076950"/>
              <a:ext cx="38100" cy="38100"/>
            </a:xfrm>
            <a:prstGeom prst="ellipse">
              <a:avLst/>
            </a:prstGeom>
            <a:solidFill>
              <a:srgbClr val="06B6D4">
                <a:alpha val="20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029950" y="6076950"/>
              <a:ext cx="38100" cy="38100"/>
            </a:xfrm>
            <a:prstGeom prst="ellipse">
              <a:avLst/>
            </a:prstGeom>
            <a:solidFill>
              <a:srgbClr val="06B6D4">
                <a:alpha val="30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1601450" y="6076950"/>
              <a:ext cx="38100" cy="38100"/>
            </a:xfrm>
            <a:prstGeom prst="ellipse">
              <a:avLst/>
            </a:prstGeom>
            <a:solidFill>
              <a:srgbClr val="06B6D4">
                <a:alpha val="15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52500" y="952500"/>
            <a:ext cx="1223724" cy="347662"/>
            <a:chOff x="952500" y="952500"/>
            <a:chExt cx="1223724" cy="347662"/>
          </a:xfrm>
        </p:grpSpPr>
        <p:sp>
          <p:nvSpPr>
            <p:cNvPr id="14" name="Freeform 14"/>
            <p:cNvSpPr/>
            <p:nvPr/>
          </p:nvSpPr>
          <p:spPr>
            <a:xfrm>
              <a:off x="952500" y="952500"/>
              <a:ext cx="57150" cy="266700"/>
            </a:xfrm>
            <a:custGeom>
              <a:avLst/>
              <a:gdLst/>
              <a:ahLst/>
              <a:cxnLst/>
              <a:rect l="l" t="t" r="r" b="b"/>
              <a:pathLst>
                <a:path w="57150" h="266700">
                  <a:moveTo>
                    <a:pt x="19050" y="0"/>
                  </a:moveTo>
                  <a:lnTo>
                    <a:pt x="38100" y="0"/>
                  </a:lnTo>
                  <a:cubicBezTo>
                    <a:pt x="48621" y="0"/>
                    <a:pt x="57150" y="8529"/>
                    <a:pt x="57150" y="19050"/>
                  </a:cubicBezTo>
                  <a:lnTo>
                    <a:pt x="57150" y="247650"/>
                  </a:lnTo>
                  <a:cubicBezTo>
                    <a:pt x="57150" y="258171"/>
                    <a:pt x="48621" y="266700"/>
                    <a:pt x="38100" y="266700"/>
                  </a:cubicBezTo>
                  <a:lnTo>
                    <a:pt x="19050" y="266700"/>
                  </a:lnTo>
                  <a:cubicBezTo>
                    <a:pt x="8529" y="266700"/>
                    <a:pt x="0" y="258171"/>
                    <a:pt x="0" y="2476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06805" y="102584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CHAPTER 01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2152650"/>
            <a:ext cx="8565832" cy="3657600"/>
            <a:chOff x="723900" y="2152650"/>
            <a:chExt cx="8565832" cy="3657600"/>
          </a:xfrm>
        </p:grpSpPr>
        <p:sp>
          <p:nvSpPr>
            <p:cNvPr id="17" name="TextBox 17"/>
            <p:cNvSpPr txBox="1"/>
            <p:nvPr/>
          </p:nvSpPr>
          <p:spPr>
            <a:xfrm>
              <a:off x="723900" y="2152650"/>
              <a:ext cx="2803493" cy="3657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0" b="1" dirty="0">
                  <a:gradFill>
                    <a:gsLst>
                      <a:gs pos="0">
                        <a:srgbClr val="06B6D4"/>
                      </a:gs>
                      <a:gs pos="100000">
                        <a:srgbClr val="1565C0"/>
                      </a:gs>
                    </a:gsLst>
                    <a:lin ang="2700000" scaled="1"/>
                  </a:gra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143500" y="2667000"/>
              <a:ext cx="38100" cy="17145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71160" y="2689860"/>
              <a:ext cx="371353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简介 与 优点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01640" y="3472815"/>
              <a:ext cx="339756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Introduction &amp; Advantages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05450" y="4076700"/>
              <a:ext cx="37842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什么是 Markdown，为什么它会流行？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" y="5715000"/>
            <a:ext cx="10287000" cy="571500"/>
            <a:chOff x="952500" y="5715000"/>
            <a:chExt cx="10287000" cy="571500"/>
          </a:xfrm>
        </p:grpSpPr>
        <p:sp>
          <p:nvSpPr>
            <p:cNvPr id="23" name="Line 23"/>
            <p:cNvSpPr/>
            <p:nvPr/>
          </p:nvSpPr>
          <p:spPr>
            <a:xfrm>
              <a:off x="952500" y="5715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9525">
              <a:solidFill>
                <a:srgbClr val="06B6D4">
                  <a:alpha val="30000"/>
                </a:srgbClr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981075" y="6038850"/>
              <a:ext cx="161925" cy="152400"/>
            </a:xfrm>
            <a:custGeom>
              <a:avLst/>
              <a:gdLst/>
              <a:ahLst/>
              <a:cxnLst/>
              <a:rect l="l" t="t" r="r" b="b"/>
              <a:pathLst>
                <a:path w="161925" h="152400">
                  <a:moveTo>
                    <a:pt x="123825" y="133350"/>
                  </a:moveTo>
                  <a:cubicBezTo>
                    <a:pt x="134346" y="133350"/>
                    <a:pt x="142875" y="141879"/>
                    <a:pt x="142875" y="152400"/>
                  </a:cubicBezTo>
                  <a:cubicBezTo>
                    <a:pt x="142875" y="141879"/>
                    <a:pt x="151404" y="133350"/>
                    <a:pt x="161925" y="133350"/>
                  </a:cubicBezTo>
                  <a:cubicBezTo>
                    <a:pt x="151404" y="133350"/>
                    <a:pt x="142875" y="124821"/>
                    <a:pt x="142875" y="114300"/>
                  </a:cubicBezTo>
                  <a:cubicBezTo>
                    <a:pt x="142875" y="124821"/>
                    <a:pt x="134346" y="133350"/>
                    <a:pt x="123825" y="133350"/>
                  </a:cubicBezTo>
                  <a:moveTo>
                    <a:pt x="123825" y="19050"/>
                  </a:moveTo>
                  <a:cubicBezTo>
                    <a:pt x="134346" y="19050"/>
                    <a:pt x="142875" y="27579"/>
                    <a:pt x="142875" y="38100"/>
                  </a:cubicBezTo>
                  <a:cubicBezTo>
                    <a:pt x="142875" y="27579"/>
                    <a:pt x="151404" y="19050"/>
                    <a:pt x="161925" y="19050"/>
                  </a:cubicBezTo>
                  <a:cubicBezTo>
                    <a:pt x="151404" y="19050"/>
                    <a:pt x="142875" y="10521"/>
                    <a:pt x="142875" y="0"/>
                  </a:cubicBezTo>
                  <a:cubicBezTo>
                    <a:pt x="142875" y="10521"/>
                    <a:pt x="134346" y="19050"/>
                    <a:pt x="123825" y="19050"/>
                  </a:cubicBezTo>
                  <a:moveTo>
                    <a:pt x="57150" y="133350"/>
                  </a:moveTo>
                  <a:cubicBezTo>
                    <a:pt x="57150" y="101787"/>
                    <a:pt x="82737" y="76200"/>
                    <a:pt x="114300" y="76200"/>
                  </a:cubicBezTo>
                  <a:cubicBezTo>
                    <a:pt x="82737" y="76200"/>
                    <a:pt x="57150" y="50613"/>
                    <a:pt x="57150" y="19050"/>
                  </a:cubicBezTo>
                  <a:cubicBezTo>
                    <a:pt x="57150" y="50613"/>
                    <a:pt x="31563" y="76200"/>
                    <a:pt x="0" y="76200"/>
                  </a:cubicBezTo>
                  <a:cubicBezTo>
                    <a:pt x="31563" y="76200"/>
                    <a:pt x="57150" y="101787"/>
                    <a:pt x="57150" y="133350"/>
                  </a:cubicBez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70635" y="6042660"/>
              <a:ext cx="28434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P03 — P08 · 共 6 页 · 约 5 分钟阅读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201590" y="642747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03 / 15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B6D4">
                  <a:alpha val="10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571500"/>
            <a:ext cx="3992661" cy="733425"/>
            <a:chOff x="571500" y="571500"/>
            <a:chExt cx="3992661" cy="733425"/>
          </a:xfrm>
        </p:grpSpPr>
        <p:sp>
          <p:nvSpPr>
            <p:cNvPr id="4" name="Freeform 4"/>
            <p:cNvSpPr/>
            <p:nvPr/>
          </p:nvSpPr>
          <p:spPr>
            <a:xfrm>
              <a:off x="571500" y="571500"/>
              <a:ext cx="57150" cy="419100"/>
            </a:xfrm>
            <a:custGeom>
              <a:avLst/>
              <a:gdLst/>
              <a:ahLst/>
              <a:cxnLst/>
              <a:rect l="l" t="t" r="r" b="b"/>
              <a:pathLst>
                <a:path w="57150" h="419100">
                  <a:moveTo>
                    <a:pt x="19050" y="0"/>
                  </a:moveTo>
                  <a:lnTo>
                    <a:pt x="38100" y="0"/>
                  </a:lnTo>
                  <a:cubicBezTo>
                    <a:pt x="48621" y="0"/>
                    <a:pt x="57150" y="8529"/>
                    <a:pt x="57150" y="19050"/>
                  </a:cubicBezTo>
                  <a:lnTo>
                    <a:pt x="57150" y="400050"/>
                  </a:lnTo>
                  <a:cubicBezTo>
                    <a:pt x="57150" y="410571"/>
                    <a:pt x="48621" y="419100"/>
                    <a:pt x="38100" y="419100"/>
                  </a:cubicBezTo>
                  <a:lnTo>
                    <a:pt x="19050" y="419100"/>
                  </a:lnTo>
                  <a:cubicBezTo>
                    <a:pt x="8529" y="419100"/>
                    <a:pt x="0" y="410571"/>
                    <a:pt x="0" y="400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27710" y="613410"/>
              <a:ext cx="383645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什么是 Markdown？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6760" y="1061085"/>
              <a:ext cx="8980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DEFINITION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615690" y="1504950"/>
            <a:ext cx="4960620" cy="2505075"/>
            <a:chOff x="3615690" y="1504950"/>
            <a:chExt cx="4960620" cy="2505075"/>
          </a:xfrm>
        </p:grpSpPr>
        <p:sp>
          <p:nvSpPr>
            <p:cNvPr id="8" name="TextBox 8"/>
            <p:cNvSpPr txBox="1"/>
            <p:nvPr/>
          </p:nvSpPr>
          <p:spPr>
            <a:xfrm>
              <a:off x="5602153" y="1504950"/>
              <a:ext cx="987695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1565C0">
                      <a:alpha val="10000"/>
                    </a:srgbClr>
                  </a:solidFill>
                  <a:latin typeface="Consolas"/>
                  <a:ea typeface="Microsoft YaHei"/>
                  <a:cs typeface="Consolas"/>
                </a:rPr>
                <a:t>"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08371" y="2867978"/>
              <a:ext cx="397525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一种</a:t>
              </a:r>
              <a:r>
                <a:rPr lang="zh-CN" sz="255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轻量级标记语言</a:t>
              </a:r>
              <a:r>
                <a:rPr lang="zh-CN" sz="25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15690" y="3392805"/>
              <a:ext cx="49606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使用易读易写的</a:t>
              </a:r>
              <a:r>
                <a:rPr lang="zh-CN" sz="21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纯文本格式</a:t>
              </a:r>
              <a:r>
                <a:rPr lang="zh-CN" sz="21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编写文档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143500" y="4000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240631" y="4724400"/>
            <a:ext cx="1671638" cy="1050131"/>
            <a:chOff x="1240631" y="4724400"/>
            <a:chExt cx="1671638" cy="1050131"/>
          </a:xfrm>
        </p:grpSpPr>
        <p:sp>
          <p:nvSpPr>
            <p:cNvPr id="13" name="Freeform 13"/>
            <p:cNvSpPr/>
            <p:nvPr/>
          </p:nvSpPr>
          <p:spPr>
            <a:xfrm>
              <a:off x="1947862" y="4724400"/>
              <a:ext cx="242888" cy="228600"/>
            </a:xfrm>
            <a:custGeom>
              <a:avLst/>
              <a:gdLst/>
              <a:ahLst/>
              <a:cxnLst/>
              <a:rect l="l" t="t" r="r" b="b"/>
              <a:pathLst>
                <a:path w="242888" h="228600">
                  <a:moveTo>
                    <a:pt x="185738" y="200025"/>
                  </a:moveTo>
                  <a:cubicBezTo>
                    <a:pt x="201519" y="200025"/>
                    <a:pt x="214312" y="212818"/>
                    <a:pt x="214312" y="228600"/>
                  </a:cubicBezTo>
                  <a:cubicBezTo>
                    <a:pt x="214312" y="212818"/>
                    <a:pt x="227106" y="200025"/>
                    <a:pt x="242888" y="200025"/>
                  </a:cubicBezTo>
                  <a:cubicBezTo>
                    <a:pt x="227106" y="200025"/>
                    <a:pt x="214312" y="187232"/>
                    <a:pt x="214312" y="171450"/>
                  </a:cubicBezTo>
                  <a:cubicBezTo>
                    <a:pt x="214312" y="187232"/>
                    <a:pt x="201519" y="200025"/>
                    <a:pt x="185738" y="200025"/>
                  </a:cubicBezTo>
                  <a:moveTo>
                    <a:pt x="185738" y="28575"/>
                  </a:moveTo>
                  <a:cubicBezTo>
                    <a:pt x="201519" y="28575"/>
                    <a:pt x="214312" y="41368"/>
                    <a:pt x="214312" y="57150"/>
                  </a:cubicBezTo>
                  <a:cubicBezTo>
                    <a:pt x="214312" y="41368"/>
                    <a:pt x="227106" y="28575"/>
                    <a:pt x="242888" y="28575"/>
                  </a:cubicBezTo>
                  <a:cubicBezTo>
                    <a:pt x="227106" y="28575"/>
                    <a:pt x="214312" y="15782"/>
                    <a:pt x="214312" y="0"/>
                  </a:cubicBezTo>
                  <a:cubicBezTo>
                    <a:pt x="214312" y="15782"/>
                    <a:pt x="201519" y="28575"/>
                    <a:pt x="185738" y="28575"/>
                  </a:cubicBezTo>
                  <a:moveTo>
                    <a:pt x="85725" y="200025"/>
                  </a:moveTo>
                  <a:cubicBezTo>
                    <a:pt x="85725" y="152680"/>
                    <a:pt x="124105" y="114300"/>
                    <a:pt x="171450" y="114300"/>
                  </a:cubicBezTo>
                  <a:cubicBezTo>
                    <a:pt x="124105" y="114300"/>
                    <a:pt x="85725" y="75920"/>
                    <a:pt x="85725" y="28575"/>
                  </a:cubicBezTo>
                  <a:cubicBezTo>
                    <a:pt x="85725" y="75920"/>
                    <a:pt x="47345" y="114300"/>
                    <a:pt x="0" y="114300"/>
                  </a:cubicBezTo>
                  <a:cubicBezTo>
                    <a:pt x="47345" y="114300"/>
                    <a:pt x="85725" y="152680"/>
                    <a:pt x="85725" y="200025"/>
                  </a:cubicBez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597342" y="52197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语法简洁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40631" y="5545931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几个符号就能完成排版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60181" y="4710112"/>
            <a:ext cx="1671638" cy="1064419"/>
            <a:chOff x="5260181" y="4710112"/>
            <a:chExt cx="1671638" cy="1064419"/>
          </a:xfrm>
        </p:grpSpPr>
        <p:grpSp>
          <p:nvGrpSpPr>
            <p:cNvPr id="19" name="Group 19"/>
            <p:cNvGrpSpPr/>
            <p:nvPr/>
          </p:nvGrpSpPr>
          <p:grpSpPr>
            <a:xfrm>
              <a:off x="5967412" y="4710112"/>
              <a:ext cx="257175" cy="257175"/>
              <a:chOff x="5967412" y="4710112"/>
              <a:chExt cx="257175" cy="2571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088856" y="4831556"/>
                <a:ext cx="14288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14288">
                    <a:moveTo>
                      <a:pt x="0" y="7144"/>
                    </a:moveTo>
                    <a:cubicBezTo>
                      <a:pt x="0" y="11089"/>
                      <a:pt x="3198" y="14288"/>
                      <a:pt x="7144" y="14288"/>
                    </a:cubicBezTo>
                    <a:cubicBezTo>
                      <a:pt x="11089" y="14288"/>
                      <a:pt x="14288" y="11089"/>
                      <a:pt x="14288" y="7144"/>
                    </a:cubicBezTo>
                    <a:cubicBezTo>
                      <a:pt x="14288" y="3198"/>
                      <a:pt x="11089" y="0"/>
                      <a:pt x="7144" y="0"/>
                    </a:cubicBezTo>
                    <a:cubicBezTo>
                      <a:pt x="3198" y="0"/>
                      <a:pt x="0" y="3198"/>
                      <a:pt x="0" y="7144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967412" y="47101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5616892" y="52197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关注内容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60181" y="5545931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从排版细节中解放出来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238655" y="4710112"/>
            <a:ext cx="1753791" cy="1064419"/>
            <a:chOff x="9238655" y="4710112"/>
            <a:chExt cx="1753791" cy="1064419"/>
          </a:xfrm>
        </p:grpSpPr>
        <p:grpSp>
          <p:nvGrpSpPr>
            <p:cNvPr id="28" name="Group 28"/>
            <p:cNvGrpSpPr/>
            <p:nvPr/>
          </p:nvGrpSpPr>
          <p:grpSpPr>
            <a:xfrm>
              <a:off x="9986962" y="4710112"/>
              <a:ext cx="257175" cy="257175"/>
              <a:chOff x="9986962" y="4710112"/>
              <a:chExt cx="257175" cy="25717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9986962" y="47101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995535" y="4795838"/>
                <a:ext cx="24003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0030" h="9525">
                    <a:moveTo>
                      <a:pt x="0" y="0"/>
                    </a:moveTo>
                    <a:lnTo>
                      <a:pt x="24003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995535" y="4881562"/>
                <a:ext cx="24003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0030" h="9525">
                    <a:moveTo>
                      <a:pt x="0" y="0"/>
                    </a:moveTo>
                    <a:lnTo>
                      <a:pt x="24003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0059299" y="4710112"/>
                <a:ext cx="4910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9107" h="257175">
                    <a:moveTo>
                      <a:pt x="49107" y="0"/>
                    </a:moveTo>
                    <a:cubicBezTo>
                      <a:pt x="0" y="78692"/>
                      <a:pt x="0" y="178483"/>
                      <a:pt x="49107" y="25717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122694" y="4710112"/>
                <a:ext cx="4910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9107" h="257175">
                    <a:moveTo>
                      <a:pt x="0" y="0"/>
                    </a:moveTo>
                    <a:cubicBezTo>
                      <a:pt x="49107" y="78692"/>
                      <a:pt x="49107" y="178483"/>
                      <a:pt x="0" y="25717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636442" y="521970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兼容广泛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38655" y="5545931"/>
              <a:ext cx="17537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导出 HTML / PDF / .md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0070" y="6286500"/>
            <a:ext cx="11071860" cy="371475"/>
            <a:chOff x="560070" y="6286500"/>
            <a:chExt cx="11071860" cy="371475"/>
          </a:xfrm>
        </p:grpSpPr>
        <p:sp>
          <p:nvSpPr>
            <p:cNvPr id="32" name="Line 32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0070" y="647509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第 01 章 · 简介与优点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01590" y="64750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04 / 15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76250"/>
            <a:ext cx="6476971" cy="733425"/>
            <a:chOff x="571500" y="476250"/>
            <a:chExt cx="6476971" cy="733425"/>
          </a:xfrm>
        </p:grpSpPr>
        <p:sp>
          <p:nvSpPr>
            <p:cNvPr id="3" name="Freeform 3"/>
            <p:cNvSpPr/>
            <p:nvPr/>
          </p:nvSpPr>
          <p:spPr>
            <a:xfrm>
              <a:off x="571500" y="476250"/>
              <a:ext cx="57150" cy="419100"/>
            </a:xfrm>
            <a:custGeom>
              <a:avLst/>
              <a:gdLst/>
              <a:ahLst/>
              <a:cxnLst/>
              <a:rect l="l" t="t" r="r" b="b"/>
              <a:pathLst>
                <a:path w="57150" h="419100">
                  <a:moveTo>
                    <a:pt x="19050" y="0"/>
                  </a:moveTo>
                  <a:lnTo>
                    <a:pt x="38100" y="0"/>
                  </a:lnTo>
                  <a:cubicBezTo>
                    <a:pt x="48621" y="0"/>
                    <a:pt x="57150" y="8529"/>
                    <a:pt x="57150" y="19050"/>
                  </a:cubicBezTo>
                  <a:lnTo>
                    <a:pt x="57150" y="400050"/>
                  </a:lnTo>
                  <a:cubicBezTo>
                    <a:pt x="57150" y="410571"/>
                    <a:pt x="48621" y="419100"/>
                    <a:pt x="38100" y="419100"/>
                  </a:cubicBezTo>
                  <a:lnTo>
                    <a:pt x="19050" y="419100"/>
                  </a:lnTo>
                  <a:cubicBezTo>
                    <a:pt x="8529" y="419100"/>
                    <a:pt x="0" y="410571"/>
                    <a:pt x="0" y="400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7710" y="518160"/>
              <a:ext cx="632076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为什么选择 Markdown？</a:t>
              </a:r>
              <a:r>
                <a:rPr lang="zh-CN" sz="27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七大优势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965835"/>
              <a:ext cx="38073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从语法到生态 · 一图看清 Markdown 的全部价值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476375"/>
            <a:ext cx="2667000" cy="2286000"/>
            <a:chOff x="571500" y="1476375"/>
            <a:chExt cx="2667000" cy="2286000"/>
          </a:xfrm>
        </p:grpSpPr>
        <p:sp>
          <p:nvSpPr>
            <p:cNvPr id="7" name="Freeform 7"/>
            <p:cNvSpPr/>
            <p:nvPr/>
          </p:nvSpPr>
          <p:spPr>
            <a:xfrm>
              <a:off x="571500" y="1476375"/>
              <a:ext cx="2667000" cy="2286000"/>
            </a:xfrm>
            <a:custGeom>
              <a:avLst/>
              <a:gdLst/>
              <a:ahLst/>
              <a:cxnLst/>
              <a:rect l="l" t="t" r="r" b="b"/>
              <a:pathLst>
                <a:path w="2667000" h="2286000">
                  <a:moveTo>
                    <a:pt x="114300" y="0"/>
                  </a:moveTo>
                  <a:lnTo>
                    <a:pt x="2552700" y="0"/>
                  </a:lnTo>
                  <a:cubicBezTo>
                    <a:pt x="2615826" y="0"/>
                    <a:pt x="2667000" y="51174"/>
                    <a:pt x="2667000" y="114300"/>
                  </a:cubicBezTo>
                  <a:lnTo>
                    <a:pt x="2667000" y="2171700"/>
                  </a:lnTo>
                  <a:cubicBezTo>
                    <a:pt x="2667000" y="2234826"/>
                    <a:pt x="2615826" y="2286000"/>
                    <a:pt x="2552700" y="2286000"/>
                  </a:cubicBezTo>
                  <a:lnTo>
                    <a:pt x="114300" y="2286000"/>
                  </a:lnTo>
                  <a:cubicBezTo>
                    <a:pt x="51174" y="2286000"/>
                    <a:pt x="0" y="2234826"/>
                    <a:pt x="0" y="2171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476375"/>
              <a:ext cx="2667000" cy="38100"/>
            </a:xfrm>
            <a:custGeom>
              <a:avLst/>
              <a:gdLst/>
              <a:ahLst/>
              <a:cxnLst/>
              <a:rect l="l" t="t" r="r" b="b"/>
              <a:pathLst>
                <a:path w="2667000" h="38100">
                  <a:moveTo>
                    <a:pt x="19050" y="0"/>
                  </a:moveTo>
                  <a:lnTo>
                    <a:pt x="2647950" y="0"/>
                  </a:lnTo>
                  <a:cubicBezTo>
                    <a:pt x="2658471" y="0"/>
                    <a:pt x="2667000" y="8529"/>
                    <a:pt x="2667000" y="19050"/>
                  </a:cubicBezTo>
                  <a:lnTo>
                    <a:pt x="2667000" y="19050"/>
                  </a:lnTo>
                  <a:cubicBezTo>
                    <a:pt x="2667000" y="29571"/>
                    <a:pt x="2658471" y="38100"/>
                    <a:pt x="2647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1045" y="1726882"/>
              <a:ext cx="25698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65C0">
                      <a:alpha val="50000"/>
                    </a:srgbClr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2441575" y="1743075"/>
              <a:ext cx="222250" cy="285750"/>
            </a:xfrm>
            <a:custGeom>
              <a:avLst/>
              <a:gdLst/>
              <a:ahLst/>
              <a:cxnLst/>
              <a:rect l="l" t="t" r="r" b="b"/>
              <a:pathLst>
                <a:path w="222250" h="285750">
                  <a:moveTo>
                    <a:pt x="127000" y="0"/>
                  </a:moveTo>
                  <a:lnTo>
                    <a:pt x="127000" y="111125"/>
                  </a:lnTo>
                  <a:lnTo>
                    <a:pt x="222250" y="111125"/>
                  </a:lnTo>
                  <a:lnTo>
                    <a:pt x="95250" y="285750"/>
                  </a:lnTo>
                  <a:lnTo>
                    <a:pt x="95250" y="174625"/>
                  </a:lnTo>
                  <a:lnTo>
                    <a:pt x="0" y="174625"/>
                  </a:lnTo>
                  <a:lnTo>
                    <a:pt x="127000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1045" y="23936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语法简单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1045" y="266033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学习成本低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62000" y="3028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7712" y="321230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几分钟即可掌握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7712" y="34218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几个符号完成排版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429000" y="1476375"/>
            <a:ext cx="2667000" cy="2286000"/>
            <a:chOff x="3429000" y="1476375"/>
            <a:chExt cx="2667000" cy="2286000"/>
          </a:xfrm>
        </p:grpSpPr>
        <p:sp>
          <p:nvSpPr>
            <p:cNvPr id="17" name="Freeform 17"/>
            <p:cNvSpPr/>
            <p:nvPr/>
          </p:nvSpPr>
          <p:spPr>
            <a:xfrm>
              <a:off x="3429000" y="1476375"/>
              <a:ext cx="2667000" cy="2286000"/>
            </a:xfrm>
            <a:custGeom>
              <a:avLst/>
              <a:gdLst/>
              <a:ahLst/>
              <a:cxnLst/>
              <a:rect l="l" t="t" r="r" b="b"/>
              <a:pathLst>
                <a:path w="2667000" h="2286000">
                  <a:moveTo>
                    <a:pt x="114300" y="0"/>
                  </a:moveTo>
                  <a:lnTo>
                    <a:pt x="2552700" y="0"/>
                  </a:lnTo>
                  <a:cubicBezTo>
                    <a:pt x="2615826" y="0"/>
                    <a:pt x="2667000" y="51174"/>
                    <a:pt x="2667000" y="114300"/>
                  </a:cubicBezTo>
                  <a:lnTo>
                    <a:pt x="2667000" y="2171700"/>
                  </a:lnTo>
                  <a:cubicBezTo>
                    <a:pt x="2667000" y="2234826"/>
                    <a:pt x="2615826" y="2286000"/>
                    <a:pt x="2552700" y="2286000"/>
                  </a:cubicBezTo>
                  <a:lnTo>
                    <a:pt x="114300" y="2286000"/>
                  </a:lnTo>
                  <a:cubicBezTo>
                    <a:pt x="51174" y="2286000"/>
                    <a:pt x="0" y="2234826"/>
                    <a:pt x="0" y="2171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429000" y="1476375"/>
              <a:ext cx="2667000" cy="38100"/>
            </a:xfrm>
            <a:custGeom>
              <a:avLst/>
              <a:gdLst/>
              <a:ahLst/>
              <a:cxnLst/>
              <a:rect l="l" t="t" r="r" b="b"/>
              <a:pathLst>
                <a:path w="2667000" h="38100">
                  <a:moveTo>
                    <a:pt x="19050" y="0"/>
                  </a:moveTo>
                  <a:lnTo>
                    <a:pt x="2647950" y="0"/>
                  </a:lnTo>
                  <a:cubicBezTo>
                    <a:pt x="2658471" y="0"/>
                    <a:pt x="2667000" y="8529"/>
                    <a:pt x="2667000" y="19050"/>
                  </a:cubicBezTo>
                  <a:lnTo>
                    <a:pt x="2667000" y="19050"/>
                  </a:lnTo>
                  <a:cubicBezTo>
                    <a:pt x="2667000" y="29571"/>
                    <a:pt x="2658471" y="38100"/>
                    <a:pt x="2647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98545" y="17268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65C0">
                      <a:alpha val="50000"/>
                    </a:srgbClr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5267325" y="1790700"/>
              <a:ext cx="285750" cy="190500"/>
              <a:chOff x="5267325" y="1790700"/>
              <a:chExt cx="285750" cy="1905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378450" y="18542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267325" y="1790700"/>
                <a:ext cx="2857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90500">
                    <a:moveTo>
                      <a:pt x="285750" y="95250"/>
                    </a:moveTo>
                    <a:cubicBezTo>
                      <a:pt x="247650" y="158750"/>
                      <a:pt x="200025" y="190500"/>
                      <a:pt x="142875" y="190500"/>
                    </a:cubicBezTo>
                    <a:cubicBezTo>
                      <a:pt x="85725" y="190500"/>
                      <a:pt x="38100" y="158750"/>
                      <a:pt x="0" y="95250"/>
                    </a:cubicBezTo>
                    <a:cubicBezTo>
                      <a:pt x="38100" y="31750"/>
                      <a:pt x="85725" y="0"/>
                      <a:pt x="142875" y="0"/>
                    </a:cubicBezTo>
                    <a:cubicBezTo>
                      <a:pt x="200025" y="0"/>
                      <a:pt x="247650" y="31750"/>
                      <a:pt x="285750" y="9525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3598545" y="23936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可读性强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98545" y="266033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不渲染也清晰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3619500" y="3028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05212" y="321230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纯文本结构感天然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05212" y="34218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比 HTML 直观得多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86500" y="1476375"/>
            <a:ext cx="2667000" cy="2286000"/>
            <a:chOff x="6286500" y="1476375"/>
            <a:chExt cx="2667000" cy="2286000"/>
          </a:xfrm>
        </p:grpSpPr>
        <p:sp>
          <p:nvSpPr>
            <p:cNvPr id="29" name="Freeform 29"/>
            <p:cNvSpPr/>
            <p:nvPr/>
          </p:nvSpPr>
          <p:spPr>
            <a:xfrm>
              <a:off x="6286500" y="1476375"/>
              <a:ext cx="2667000" cy="2286000"/>
            </a:xfrm>
            <a:custGeom>
              <a:avLst/>
              <a:gdLst/>
              <a:ahLst/>
              <a:cxnLst/>
              <a:rect l="l" t="t" r="r" b="b"/>
              <a:pathLst>
                <a:path w="2667000" h="2286000">
                  <a:moveTo>
                    <a:pt x="114300" y="0"/>
                  </a:moveTo>
                  <a:lnTo>
                    <a:pt x="2552700" y="0"/>
                  </a:lnTo>
                  <a:cubicBezTo>
                    <a:pt x="2615826" y="0"/>
                    <a:pt x="2667000" y="51174"/>
                    <a:pt x="2667000" y="114300"/>
                  </a:cubicBezTo>
                  <a:lnTo>
                    <a:pt x="2667000" y="2171700"/>
                  </a:lnTo>
                  <a:cubicBezTo>
                    <a:pt x="2667000" y="2234826"/>
                    <a:pt x="2615826" y="2286000"/>
                    <a:pt x="2552700" y="2286000"/>
                  </a:cubicBezTo>
                  <a:lnTo>
                    <a:pt x="114300" y="2286000"/>
                  </a:lnTo>
                  <a:cubicBezTo>
                    <a:pt x="51174" y="2286000"/>
                    <a:pt x="0" y="2234826"/>
                    <a:pt x="0" y="2171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286500" y="1476375"/>
              <a:ext cx="2667000" cy="38100"/>
            </a:xfrm>
            <a:custGeom>
              <a:avLst/>
              <a:gdLst/>
              <a:ahLst/>
              <a:cxnLst/>
              <a:rect l="l" t="t" r="r" b="b"/>
              <a:pathLst>
                <a:path w="2667000" h="38100">
                  <a:moveTo>
                    <a:pt x="19050" y="0"/>
                  </a:moveTo>
                  <a:lnTo>
                    <a:pt x="2647950" y="0"/>
                  </a:lnTo>
                  <a:cubicBezTo>
                    <a:pt x="2658471" y="0"/>
                    <a:pt x="2667000" y="8529"/>
                    <a:pt x="2667000" y="19050"/>
                  </a:cubicBezTo>
                  <a:lnTo>
                    <a:pt x="2667000" y="19050"/>
                  </a:lnTo>
                  <a:cubicBezTo>
                    <a:pt x="2667000" y="29571"/>
                    <a:pt x="2658471" y="38100"/>
                    <a:pt x="2647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56045" y="17268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65C0">
                      <a:alpha val="50000"/>
                    </a:srgbClr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8124825" y="1743075"/>
              <a:ext cx="285750" cy="285750"/>
              <a:chOff x="8124825" y="1743075"/>
              <a:chExt cx="285750" cy="2857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259762" y="1878012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15875">
                    <a:moveTo>
                      <a:pt x="0" y="7938"/>
                    </a:moveTo>
                    <a:cubicBezTo>
                      <a:pt x="0" y="12321"/>
                      <a:pt x="3554" y="15875"/>
                      <a:pt x="7938" y="15875"/>
                    </a:cubicBezTo>
                    <a:cubicBezTo>
                      <a:pt x="12321" y="15875"/>
                      <a:pt x="15875" y="12321"/>
                      <a:pt x="15875" y="7938"/>
                    </a:cubicBezTo>
                    <a:cubicBezTo>
                      <a:pt x="15875" y="3554"/>
                      <a:pt x="12321" y="0"/>
                      <a:pt x="7938" y="0"/>
                    </a:cubicBezTo>
                    <a:cubicBezTo>
                      <a:pt x="3554" y="0"/>
                      <a:pt x="0" y="3554"/>
                      <a:pt x="0" y="7938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24825" y="174307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142875"/>
                    </a:moveTo>
                    <a:cubicBezTo>
                      <a:pt x="0" y="221783"/>
                      <a:pt x="63967" y="285750"/>
                      <a:pt x="142875" y="285750"/>
                    </a:cubicBezTo>
                    <a:cubicBezTo>
                      <a:pt x="221783" y="285750"/>
                      <a:pt x="285750" y="221783"/>
                      <a:pt x="285750" y="142875"/>
                    </a:cubicBezTo>
                    <a:cubicBezTo>
                      <a:pt x="285750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456045" y="23936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聚焦内容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56045" y="266033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而非排版细节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6477000" y="3028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62712" y="321230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从字体段落中解放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2712" y="34218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显著提升写作效率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144000" y="1476375"/>
            <a:ext cx="2476500" cy="2286000"/>
            <a:chOff x="9144000" y="1476375"/>
            <a:chExt cx="2476500" cy="2286000"/>
          </a:xfrm>
        </p:grpSpPr>
        <p:sp>
          <p:nvSpPr>
            <p:cNvPr id="41" name="Freeform 41"/>
            <p:cNvSpPr/>
            <p:nvPr/>
          </p:nvSpPr>
          <p:spPr>
            <a:xfrm>
              <a:off x="9144000" y="1476375"/>
              <a:ext cx="2476500" cy="2286000"/>
            </a:xfrm>
            <a:custGeom>
              <a:avLst/>
              <a:gdLst/>
              <a:ahLst/>
              <a:cxnLst/>
              <a:rect l="l" t="t" r="r" b="b"/>
              <a:pathLst>
                <a:path w="2476500" h="2286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2171700"/>
                  </a:lnTo>
                  <a:cubicBezTo>
                    <a:pt x="2476500" y="2234826"/>
                    <a:pt x="2425326" y="2286000"/>
                    <a:pt x="2362200" y="2286000"/>
                  </a:cubicBezTo>
                  <a:lnTo>
                    <a:pt x="114300" y="2286000"/>
                  </a:lnTo>
                  <a:cubicBezTo>
                    <a:pt x="51174" y="2286000"/>
                    <a:pt x="0" y="2234826"/>
                    <a:pt x="0" y="2171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144000" y="1476375"/>
              <a:ext cx="2476500" cy="38100"/>
            </a:xfrm>
            <a:custGeom>
              <a:avLst/>
              <a:gdLst/>
              <a:ahLst/>
              <a:cxnLst/>
              <a:rect l="l" t="t" r="r" b="b"/>
              <a:pathLst>
                <a:path w="2476500" h="38100">
                  <a:moveTo>
                    <a:pt x="19050" y="0"/>
                  </a:moveTo>
                  <a:lnTo>
                    <a:pt x="2457450" y="0"/>
                  </a:lnTo>
                  <a:cubicBezTo>
                    <a:pt x="2467971" y="0"/>
                    <a:pt x="2476500" y="8529"/>
                    <a:pt x="2476500" y="19050"/>
                  </a:cubicBezTo>
                  <a:lnTo>
                    <a:pt x="2476500" y="19050"/>
                  </a:lnTo>
                  <a:cubicBezTo>
                    <a:pt x="2476500" y="29571"/>
                    <a:pt x="2467971" y="38100"/>
                    <a:pt x="24574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13545" y="17268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65C0">
                      <a:alpha val="50000"/>
                    </a:srgbClr>
                  </a:solidFill>
                  <a:latin typeface="Consolas"/>
                  <a:ea typeface="Microsoft YaHei"/>
                  <a:cs typeface="Consolas"/>
                </a:rPr>
                <a:t>04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10823575" y="1743075"/>
              <a:ext cx="222250" cy="285750"/>
              <a:chOff x="10823575" y="1743075"/>
              <a:chExt cx="222250" cy="28575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966450" y="174307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823575" y="1743075"/>
                <a:ext cx="222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0">
                    <a:moveTo>
                      <a:pt x="190500" y="285750"/>
                    </a:moveTo>
                    <a:lnTo>
                      <a:pt x="31750" y="285750"/>
                    </a:lnTo>
                    <a:cubicBezTo>
                      <a:pt x="14215" y="285750"/>
                      <a:pt x="0" y="271535"/>
                      <a:pt x="0" y="25400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254000"/>
                    </a:lnTo>
                    <a:cubicBezTo>
                      <a:pt x="222250" y="271535"/>
                      <a:pt x="208035" y="285750"/>
                      <a:pt x="190500" y="28575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887075" y="183832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0887075" y="190182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0887075" y="196532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313545" y="239363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纯文本格式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13545" y="266033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兼容性极强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9334500" y="30289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320212" y="3212306"/>
              <a:ext cx="16962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体积小 · 任何系统可读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20212" y="34218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不依赖特定软件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3952875"/>
            <a:ext cx="2667000" cy="2095500"/>
            <a:chOff x="571500" y="3952875"/>
            <a:chExt cx="2667000" cy="2095500"/>
          </a:xfrm>
        </p:grpSpPr>
        <p:sp>
          <p:nvSpPr>
            <p:cNvPr id="56" name="Freeform 56"/>
            <p:cNvSpPr/>
            <p:nvPr/>
          </p:nvSpPr>
          <p:spPr>
            <a:xfrm>
              <a:off x="571500" y="3952875"/>
              <a:ext cx="2667000" cy="2095500"/>
            </a:xfrm>
            <a:custGeom>
              <a:avLst/>
              <a:gdLst/>
              <a:ahLst/>
              <a:cxnLst/>
              <a:rect l="l" t="t" r="r" b="b"/>
              <a:pathLst>
                <a:path w="2667000" h="2095500">
                  <a:moveTo>
                    <a:pt x="114300" y="0"/>
                  </a:moveTo>
                  <a:lnTo>
                    <a:pt x="2552700" y="0"/>
                  </a:lnTo>
                  <a:cubicBezTo>
                    <a:pt x="2615826" y="0"/>
                    <a:pt x="2667000" y="51174"/>
                    <a:pt x="2667000" y="114300"/>
                  </a:cubicBezTo>
                  <a:lnTo>
                    <a:pt x="2667000" y="1981200"/>
                  </a:lnTo>
                  <a:cubicBezTo>
                    <a:pt x="2667000" y="2044326"/>
                    <a:pt x="2615826" y="2095500"/>
                    <a:pt x="2552700" y="2095500"/>
                  </a:cubicBezTo>
                  <a:lnTo>
                    <a:pt x="114300" y="2095500"/>
                  </a:lnTo>
                  <a:cubicBezTo>
                    <a:pt x="51174" y="2095500"/>
                    <a:pt x="0" y="2044326"/>
                    <a:pt x="0" y="1981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571500" y="3952875"/>
              <a:ext cx="2667000" cy="38100"/>
            </a:xfrm>
            <a:custGeom>
              <a:avLst/>
              <a:gdLst/>
              <a:ahLst/>
              <a:cxnLst/>
              <a:rect l="l" t="t" r="r" b="b"/>
              <a:pathLst>
                <a:path w="2667000" h="38100">
                  <a:moveTo>
                    <a:pt x="19050" y="0"/>
                  </a:moveTo>
                  <a:lnTo>
                    <a:pt x="2647950" y="0"/>
                  </a:lnTo>
                  <a:cubicBezTo>
                    <a:pt x="2658471" y="0"/>
                    <a:pt x="2667000" y="8529"/>
                    <a:pt x="2667000" y="19050"/>
                  </a:cubicBezTo>
                  <a:lnTo>
                    <a:pt x="2667000" y="19050"/>
                  </a:lnTo>
                  <a:cubicBezTo>
                    <a:pt x="2667000" y="29571"/>
                    <a:pt x="2658471" y="38100"/>
                    <a:pt x="2647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1045" y="42033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6B6D4">
                      <a:alpha val="55000"/>
                    </a:srgbClr>
                  </a:solidFill>
                  <a:latin typeface="Consolas"/>
                  <a:ea typeface="Microsoft YaHei"/>
                  <a:cs typeface="Consolas"/>
                </a:rPr>
                <a:t>05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2441575" y="4235450"/>
              <a:ext cx="238125" cy="254000"/>
              <a:chOff x="2441575" y="4235450"/>
              <a:chExt cx="238125" cy="2540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2441575" y="44259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2441575" y="42354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2600325" y="42354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2473325" y="4298950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2505075" y="4346575"/>
                <a:ext cx="1270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11125">
                    <a:moveTo>
                      <a:pt x="0" y="111125"/>
                    </a:moveTo>
                    <a:lnTo>
                      <a:pt x="95250" y="111125"/>
                    </a:lnTo>
                    <a:cubicBezTo>
                      <a:pt x="112785" y="111125"/>
                      <a:pt x="127000" y="96910"/>
                      <a:pt x="127000" y="7937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2584450" y="4346575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47625" y="0"/>
                    </a:lnTo>
                    <a:lnTo>
                      <a:pt x="95250" y="4762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741045" y="482250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版本控制友好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762000" y="51911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47712" y="5384006"/>
              <a:ext cx="9651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完美适配 Git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7712" y="5593556"/>
              <a:ext cx="13841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diff 比较简单清晰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3429000" y="3952875"/>
            <a:ext cx="2667000" cy="2095500"/>
            <a:chOff x="3429000" y="3952875"/>
            <a:chExt cx="2667000" cy="2095500"/>
          </a:xfrm>
        </p:grpSpPr>
        <p:sp>
          <p:nvSpPr>
            <p:cNvPr id="71" name="Freeform 71"/>
            <p:cNvSpPr/>
            <p:nvPr/>
          </p:nvSpPr>
          <p:spPr>
            <a:xfrm>
              <a:off x="3429000" y="3952875"/>
              <a:ext cx="2667000" cy="2095500"/>
            </a:xfrm>
            <a:custGeom>
              <a:avLst/>
              <a:gdLst/>
              <a:ahLst/>
              <a:cxnLst/>
              <a:rect l="l" t="t" r="r" b="b"/>
              <a:pathLst>
                <a:path w="2667000" h="2095500">
                  <a:moveTo>
                    <a:pt x="114300" y="0"/>
                  </a:moveTo>
                  <a:lnTo>
                    <a:pt x="2552700" y="0"/>
                  </a:lnTo>
                  <a:cubicBezTo>
                    <a:pt x="2615826" y="0"/>
                    <a:pt x="2667000" y="51174"/>
                    <a:pt x="2667000" y="114300"/>
                  </a:cubicBezTo>
                  <a:lnTo>
                    <a:pt x="2667000" y="1981200"/>
                  </a:lnTo>
                  <a:cubicBezTo>
                    <a:pt x="2667000" y="2044326"/>
                    <a:pt x="2615826" y="2095500"/>
                    <a:pt x="2552700" y="2095500"/>
                  </a:cubicBezTo>
                  <a:lnTo>
                    <a:pt x="114300" y="2095500"/>
                  </a:lnTo>
                  <a:cubicBezTo>
                    <a:pt x="51174" y="2095500"/>
                    <a:pt x="0" y="2044326"/>
                    <a:pt x="0" y="1981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3429000" y="3952875"/>
              <a:ext cx="2667000" cy="38100"/>
            </a:xfrm>
            <a:custGeom>
              <a:avLst/>
              <a:gdLst/>
              <a:ahLst/>
              <a:cxnLst/>
              <a:rect l="l" t="t" r="r" b="b"/>
              <a:pathLst>
                <a:path w="2667000" h="38100">
                  <a:moveTo>
                    <a:pt x="19050" y="0"/>
                  </a:moveTo>
                  <a:lnTo>
                    <a:pt x="2647950" y="0"/>
                  </a:lnTo>
                  <a:cubicBezTo>
                    <a:pt x="2658471" y="0"/>
                    <a:pt x="2667000" y="8529"/>
                    <a:pt x="2667000" y="19050"/>
                  </a:cubicBezTo>
                  <a:lnTo>
                    <a:pt x="2667000" y="19050"/>
                  </a:lnTo>
                  <a:cubicBezTo>
                    <a:pt x="2667000" y="29571"/>
                    <a:pt x="2658471" y="38100"/>
                    <a:pt x="2647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3598545" y="42033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6B6D4">
                      <a:alpha val="55000"/>
                    </a:srgbClr>
                  </a:solidFill>
                  <a:latin typeface="Consolas"/>
                  <a:ea typeface="Microsoft YaHei"/>
                  <a:cs typeface="Consolas"/>
                </a:rPr>
                <a:t>06</a:t>
              </a:r>
            </a:p>
          </p:txBody>
        </p:sp>
        <p:grpSp>
          <p:nvGrpSpPr>
            <p:cNvPr id="76" name="Group 76"/>
            <p:cNvGrpSpPr/>
            <p:nvPr/>
          </p:nvGrpSpPr>
          <p:grpSpPr>
            <a:xfrm>
              <a:off x="5267325" y="4235450"/>
              <a:ext cx="285750" cy="254000"/>
              <a:chOff x="5267325" y="4235450"/>
              <a:chExt cx="285750" cy="2540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5267325" y="4235450"/>
                <a:ext cx="635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0">
                    <a:moveTo>
                      <a:pt x="63500" y="0"/>
                    </a:moveTo>
                    <a:cubicBezTo>
                      <a:pt x="45965" y="0"/>
                      <a:pt x="31750" y="14215"/>
                      <a:pt x="31750" y="31750"/>
                    </a:cubicBezTo>
                    <a:lnTo>
                      <a:pt x="31750" y="79375"/>
                    </a:lnTo>
                    <a:cubicBezTo>
                      <a:pt x="31750" y="105678"/>
                      <a:pt x="17535" y="127000"/>
                      <a:pt x="0" y="127000"/>
                    </a:cubicBezTo>
                    <a:cubicBezTo>
                      <a:pt x="17535" y="127000"/>
                      <a:pt x="31750" y="148322"/>
                      <a:pt x="31750" y="174625"/>
                    </a:cubicBezTo>
                    <a:lnTo>
                      <a:pt x="31750" y="222250"/>
                    </a:lnTo>
                    <a:cubicBezTo>
                      <a:pt x="31750" y="239785"/>
                      <a:pt x="45965" y="254000"/>
                      <a:pt x="63500" y="25400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5489575" y="4235450"/>
                <a:ext cx="635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0">
                    <a:moveTo>
                      <a:pt x="0" y="0"/>
                    </a:moveTo>
                    <a:cubicBezTo>
                      <a:pt x="17535" y="0"/>
                      <a:pt x="31750" y="14215"/>
                      <a:pt x="31750" y="31750"/>
                    </a:cubicBezTo>
                    <a:lnTo>
                      <a:pt x="31750" y="79375"/>
                    </a:lnTo>
                    <a:cubicBezTo>
                      <a:pt x="31750" y="105678"/>
                      <a:pt x="45965" y="127000"/>
                      <a:pt x="63500" y="127000"/>
                    </a:cubicBezTo>
                    <a:cubicBezTo>
                      <a:pt x="45965" y="127000"/>
                      <a:pt x="31750" y="148322"/>
                      <a:pt x="31750" y="174625"/>
                    </a:cubicBezTo>
                    <a:lnTo>
                      <a:pt x="31750" y="222250"/>
                    </a:lnTo>
                    <a:cubicBezTo>
                      <a:pt x="31750" y="239785"/>
                      <a:pt x="17535" y="254000"/>
                      <a:pt x="0" y="25400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3598545" y="4822508"/>
              <a:ext cx="19649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代码 与 数学公式</a:t>
              </a:r>
            </a:p>
          </p:txBody>
        </p:sp>
        <p:sp>
          <p:nvSpPr>
            <p:cNvPr id="78" name="Line 78"/>
            <p:cNvSpPr/>
            <p:nvPr/>
          </p:nvSpPr>
          <p:spPr>
            <a:xfrm>
              <a:off x="3619500" y="51911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3605212" y="538400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原生支持代码块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605212" y="5593556"/>
              <a:ext cx="13512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LaTeX 公式可渲染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286500" y="3952875"/>
            <a:ext cx="2667000" cy="2095500"/>
            <a:chOff x="6286500" y="3952875"/>
            <a:chExt cx="2667000" cy="2095500"/>
          </a:xfrm>
        </p:grpSpPr>
        <p:sp>
          <p:nvSpPr>
            <p:cNvPr id="82" name="Freeform 82"/>
            <p:cNvSpPr/>
            <p:nvPr/>
          </p:nvSpPr>
          <p:spPr>
            <a:xfrm>
              <a:off x="6286500" y="3952875"/>
              <a:ext cx="2667000" cy="2095500"/>
            </a:xfrm>
            <a:custGeom>
              <a:avLst/>
              <a:gdLst/>
              <a:ahLst/>
              <a:cxnLst/>
              <a:rect l="l" t="t" r="r" b="b"/>
              <a:pathLst>
                <a:path w="2667000" h="2095500">
                  <a:moveTo>
                    <a:pt x="114300" y="0"/>
                  </a:moveTo>
                  <a:lnTo>
                    <a:pt x="2552700" y="0"/>
                  </a:lnTo>
                  <a:cubicBezTo>
                    <a:pt x="2615826" y="0"/>
                    <a:pt x="2667000" y="51174"/>
                    <a:pt x="2667000" y="114300"/>
                  </a:cubicBezTo>
                  <a:lnTo>
                    <a:pt x="2667000" y="1981200"/>
                  </a:lnTo>
                  <a:cubicBezTo>
                    <a:pt x="2667000" y="2044326"/>
                    <a:pt x="2615826" y="2095500"/>
                    <a:pt x="2552700" y="2095500"/>
                  </a:cubicBezTo>
                  <a:lnTo>
                    <a:pt x="114300" y="2095500"/>
                  </a:lnTo>
                  <a:cubicBezTo>
                    <a:pt x="51174" y="2095500"/>
                    <a:pt x="0" y="2044326"/>
                    <a:pt x="0" y="1981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6286500" y="3952875"/>
              <a:ext cx="2667000" cy="38100"/>
            </a:xfrm>
            <a:custGeom>
              <a:avLst/>
              <a:gdLst/>
              <a:ahLst/>
              <a:cxnLst/>
              <a:rect l="l" t="t" r="r" b="b"/>
              <a:pathLst>
                <a:path w="2667000" h="38100">
                  <a:moveTo>
                    <a:pt x="19050" y="0"/>
                  </a:moveTo>
                  <a:lnTo>
                    <a:pt x="2647950" y="0"/>
                  </a:lnTo>
                  <a:cubicBezTo>
                    <a:pt x="2658471" y="0"/>
                    <a:pt x="2667000" y="8529"/>
                    <a:pt x="2667000" y="19050"/>
                  </a:cubicBezTo>
                  <a:lnTo>
                    <a:pt x="2667000" y="19050"/>
                  </a:lnTo>
                  <a:cubicBezTo>
                    <a:pt x="2667000" y="29571"/>
                    <a:pt x="2658471" y="38100"/>
                    <a:pt x="26479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456045" y="4203382"/>
              <a:ext cx="3202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6B6D4">
                      <a:alpha val="55000"/>
                    </a:srgbClr>
                  </a:solidFill>
                  <a:latin typeface="Consolas"/>
                  <a:ea typeface="Microsoft YaHei"/>
                  <a:cs typeface="Consolas"/>
                </a:rPr>
                <a:t>07</a:t>
              </a:r>
            </a:p>
          </p:txBody>
        </p:sp>
        <p:grpSp>
          <p:nvGrpSpPr>
            <p:cNvPr id="90" name="Group 90"/>
            <p:cNvGrpSpPr/>
            <p:nvPr/>
          </p:nvGrpSpPr>
          <p:grpSpPr>
            <a:xfrm>
              <a:off x="8124825" y="4219575"/>
              <a:ext cx="285750" cy="285750"/>
              <a:chOff x="8124825" y="4219575"/>
              <a:chExt cx="285750" cy="28575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8124825" y="421957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142875"/>
                    </a:moveTo>
                    <a:cubicBezTo>
                      <a:pt x="0" y="221783"/>
                      <a:pt x="63967" y="285750"/>
                      <a:pt x="142875" y="285750"/>
                    </a:cubicBezTo>
                    <a:cubicBezTo>
                      <a:pt x="221783" y="285750"/>
                      <a:pt x="285750" y="221783"/>
                      <a:pt x="285750" y="142875"/>
                    </a:cubicBezTo>
                    <a:cubicBezTo>
                      <a:pt x="285750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134350" y="4314825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134350" y="4410075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205199" y="4219575"/>
                <a:ext cx="54563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54563" h="285750">
                    <a:moveTo>
                      <a:pt x="54563" y="0"/>
                    </a:moveTo>
                    <a:cubicBezTo>
                      <a:pt x="0" y="87436"/>
                      <a:pt x="0" y="198314"/>
                      <a:pt x="54563" y="28575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275638" y="4219575"/>
                <a:ext cx="54563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54563" h="285750">
                    <a:moveTo>
                      <a:pt x="0" y="0"/>
                    </a:moveTo>
                    <a:cubicBezTo>
                      <a:pt x="54563" y="87436"/>
                      <a:pt x="54563" y="198314"/>
                      <a:pt x="0" y="28575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6456045" y="4822508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应用范围广泛</a:t>
              </a:r>
            </a:p>
          </p:txBody>
        </p:sp>
        <p:sp>
          <p:nvSpPr>
            <p:cNvPr id="92" name="Line 92"/>
            <p:cNvSpPr/>
            <p:nvPr/>
          </p:nvSpPr>
          <p:spPr>
            <a:xfrm>
              <a:off x="6477000" y="51911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462712" y="5384006"/>
              <a:ext cx="17209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技术博客 · 文档 · 笔记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462712" y="5593556"/>
              <a:ext cx="20824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Notion · Obsidian · GitHub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9144000" y="3952875"/>
            <a:ext cx="2476500" cy="2095500"/>
            <a:chOff x="9144000" y="3952875"/>
            <a:chExt cx="2476500" cy="2095500"/>
          </a:xfrm>
        </p:grpSpPr>
        <p:sp>
          <p:nvSpPr>
            <p:cNvPr id="96" name="Freeform 96"/>
            <p:cNvSpPr/>
            <p:nvPr/>
          </p:nvSpPr>
          <p:spPr>
            <a:xfrm>
              <a:off x="9144000" y="3952875"/>
              <a:ext cx="2476500" cy="2095500"/>
            </a:xfrm>
            <a:custGeom>
              <a:avLst/>
              <a:gdLst/>
              <a:ahLst/>
              <a:cxnLst/>
              <a:rect l="l" t="t" r="r" b="b"/>
              <a:pathLst>
                <a:path w="2476500" h="2095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981200"/>
                  </a:lnTo>
                  <a:cubicBezTo>
                    <a:pt x="2476500" y="2044326"/>
                    <a:pt x="2425326" y="2095500"/>
                    <a:pt x="2362200" y="2095500"/>
                  </a:cubicBezTo>
                  <a:lnTo>
                    <a:pt x="114300" y="2095500"/>
                  </a:lnTo>
                  <a:cubicBezTo>
                    <a:pt x="51174" y="2095500"/>
                    <a:pt x="0" y="2044326"/>
                    <a:pt x="0" y="1981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9372600" y="4181475"/>
              <a:ext cx="228600" cy="228600"/>
              <a:chOff x="9372600" y="4181475"/>
              <a:chExt cx="228600" cy="228600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9372600" y="4181475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9448800" y="4270375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9321165" y="4601528"/>
              <a:ext cx="6784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SUMMARY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304020" y="4836795"/>
              <a:ext cx="147793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7 个理由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320212" y="5288756"/>
              <a:ext cx="14087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让 Markdown 成为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320212" y="5517356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技术写作的首选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560070" y="6286500"/>
            <a:ext cx="11071860" cy="371475"/>
            <a:chOff x="560070" y="6286500"/>
            <a:chExt cx="11071860" cy="371475"/>
          </a:xfrm>
        </p:grpSpPr>
        <p:sp>
          <p:nvSpPr>
            <p:cNvPr id="105" name="Line 105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560070" y="647509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第 01 章 · 简介与优点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201590" y="64750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05 / 15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76250"/>
            <a:ext cx="4613529" cy="733425"/>
            <a:chOff x="571500" y="476250"/>
            <a:chExt cx="4613529" cy="733425"/>
          </a:xfrm>
        </p:grpSpPr>
        <p:sp>
          <p:nvSpPr>
            <p:cNvPr id="3" name="Freeform 3"/>
            <p:cNvSpPr/>
            <p:nvPr/>
          </p:nvSpPr>
          <p:spPr>
            <a:xfrm>
              <a:off x="571500" y="476250"/>
              <a:ext cx="57150" cy="419100"/>
            </a:xfrm>
            <a:custGeom>
              <a:avLst/>
              <a:gdLst/>
              <a:ahLst/>
              <a:cxnLst/>
              <a:rect l="l" t="t" r="r" b="b"/>
              <a:pathLst>
                <a:path w="57150" h="419100">
                  <a:moveTo>
                    <a:pt x="19050" y="0"/>
                  </a:moveTo>
                  <a:lnTo>
                    <a:pt x="38100" y="0"/>
                  </a:lnTo>
                  <a:cubicBezTo>
                    <a:pt x="48621" y="0"/>
                    <a:pt x="57150" y="8529"/>
                    <a:pt x="57150" y="19050"/>
                  </a:cubicBezTo>
                  <a:lnTo>
                    <a:pt x="57150" y="400050"/>
                  </a:lnTo>
                  <a:cubicBezTo>
                    <a:pt x="57150" y="410571"/>
                    <a:pt x="48621" y="419100"/>
                    <a:pt x="38100" y="419100"/>
                  </a:cubicBezTo>
                  <a:lnTo>
                    <a:pt x="19050" y="419100"/>
                  </a:lnTo>
                  <a:cubicBezTo>
                    <a:pt x="8529" y="419100"/>
                    <a:pt x="0" y="410571"/>
                    <a:pt x="0" y="400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7710" y="518160"/>
              <a:ext cx="414699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优势详解 ·</a:t>
              </a:r>
              <a:r>
                <a:rPr lang="zh-CN" sz="27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易学</a:t>
              </a:r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与</a:t>
              </a:r>
              <a:r>
                <a:rPr lang="zh-CN" sz="27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可读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965835"/>
              <a:ext cx="44382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第 1-2 项优势 · 几个符号即可上手，文本本身就有结构感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1476375"/>
            <a:ext cx="11049000" cy="2190750"/>
            <a:chOff x="571500" y="1476375"/>
            <a:chExt cx="11049000" cy="2190750"/>
          </a:xfrm>
        </p:grpSpPr>
        <p:sp>
          <p:nvSpPr>
            <p:cNvPr id="7" name="Freeform 7"/>
            <p:cNvSpPr/>
            <p:nvPr/>
          </p:nvSpPr>
          <p:spPr>
            <a:xfrm>
              <a:off x="571500" y="1476375"/>
              <a:ext cx="4762500" cy="2190750"/>
            </a:xfrm>
            <a:custGeom>
              <a:avLst/>
              <a:gdLst/>
              <a:ahLst/>
              <a:cxnLst/>
              <a:rect l="l" t="t" r="r" b="b"/>
              <a:pathLst>
                <a:path w="4762500" h="2190750">
                  <a:moveTo>
                    <a:pt x="114300" y="0"/>
                  </a:moveTo>
                  <a:lnTo>
                    <a:pt x="4648200" y="0"/>
                  </a:lnTo>
                  <a:cubicBezTo>
                    <a:pt x="4711326" y="0"/>
                    <a:pt x="4762500" y="51174"/>
                    <a:pt x="4762500" y="114300"/>
                  </a:cubicBezTo>
                  <a:lnTo>
                    <a:pt x="4762500" y="2076450"/>
                  </a:lnTo>
                  <a:cubicBezTo>
                    <a:pt x="4762500" y="2139576"/>
                    <a:pt x="4711326" y="2190750"/>
                    <a:pt x="4648200" y="2190750"/>
                  </a:cubicBezTo>
                  <a:lnTo>
                    <a:pt x="114300" y="2190750"/>
                  </a:lnTo>
                  <a:cubicBezTo>
                    <a:pt x="51174" y="2190750"/>
                    <a:pt x="0" y="2139576"/>
                    <a:pt x="0" y="2076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476375"/>
              <a:ext cx="57150" cy="2190750"/>
            </a:xfrm>
            <a:custGeom>
              <a:avLst/>
              <a:gdLst/>
              <a:ahLst/>
              <a:cxnLst/>
              <a:rect l="l" t="t" r="r" b="b"/>
              <a:pathLst>
                <a:path w="57150" h="219075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162175"/>
                  </a:lnTo>
                  <a:cubicBezTo>
                    <a:pt x="57150" y="2177957"/>
                    <a:pt x="44357" y="2190750"/>
                    <a:pt x="28575" y="2190750"/>
                  </a:cubicBezTo>
                  <a:lnTo>
                    <a:pt x="28575" y="2190750"/>
                  </a:lnTo>
                  <a:cubicBezTo>
                    <a:pt x="12793" y="2190750"/>
                    <a:pt x="0" y="2177957"/>
                    <a:pt x="0" y="21621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28688" y="1757362"/>
              <a:ext cx="200025" cy="257175"/>
            </a:xfrm>
            <a:custGeom>
              <a:avLst/>
              <a:gdLst/>
              <a:ahLst/>
              <a:cxnLst/>
              <a:rect l="l" t="t" r="r" b="b"/>
              <a:pathLst>
                <a:path w="200025" h="257175">
                  <a:moveTo>
                    <a:pt x="114300" y="0"/>
                  </a:moveTo>
                  <a:lnTo>
                    <a:pt x="114300" y="100012"/>
                  </a:lnTo>
                  <a:lnTo>
                    <a:pt x="200025" y="100012"/>
                  </a:lnTo>
                  <a:lnTo>
                    <a:pt x="85725" y="257175"/>
                  </a:lnTo>
                  <a:lnTo>
                    <a:pt x="85725" y="157162"/>
                  </a:lnTo>
                  <a:lnTo>
                    <a:pt x="0" y="157162"/>
                  </a:lnTo>
                  <a:lnTo>
                    <a:pt x="114300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01115" y="1791652"/>
              <a:ext cx="10088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ADVANTAGE 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89685" y="1980248"/>
              <a:ext cx="303990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语法简单，学习成本低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57250" y="242887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010" y="2585085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使用</a:t>
              </a:r>
              <a:r>
                <a:rPr lang="zh-CN" sz="12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非常少的符号</a:t>
              </a:r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就能完成基本排版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010" y="2842260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相比 Word 的工具栏操作，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2010" y="3099435"/>
              <a:ext cx="32026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Markdown 通常</a:t>
              </a:r>
              <a:r>
                <a:rPr lang="zh-CN" sz="12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几分钟</a:t>
              </a:r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就能掌握常用语法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715000" y="1476375"/>
              <a:ext cx="5905500" cy="2190750"/>
            </a:xfrm>
            <a:custGeom>
              <a:avLst/>
              <a:gdLst/>
              <a:ahLst/>
              <a:cxnLst/>
              <a:rect l="l" t="t" r="r" b="b"/>
              <a:pathLst>
                <a:path w="5905500" h="2190750">
                  <a:moveTo>
                    <a:pt x="114300" y="0"/>
                  </a:moveTo>
                  <a:lnTo>
                    <a:pt x="5791200" y="0"/>
                  </a:lnTo>
                  <a:cubicBezTo>
                    <a:pt x="5854326" y="0"/>
                    <a:pt x="5905500" y="51174"/>
                    <a:pt x="5905500" y="114300"/>
                  </a:cubicBezTo>
                  <a:lnTo>
                    <a:pt x="5905500" y="2076450"/>
                  </a:lnTo>
                  <a:cubicBezTo>
                    <a:pt x="5905500" y="2139576"/>
                    <a:pt x="5854326" y="2190750"/>
                    <a:pt x="5791200" y="2190750"/>
                  </a:cubicBezTo>
                  <a:lnTo>
                    <a:pt x="114300" y="2190750"/>
                  </a:lnTo>
                  <a:cubicBezTo>
                    <a:pt x="51174" y="2190750"/>
                    <a:pt x="0" y="2139576"/>
                    <a:pt x="0" y="2076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3118" y="1656874"/>
              <a:ext cx="7082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markdown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905500" y="185737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889308" y="2053114"/>
              <a:ext cx="8796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#</a:t>
              </a:r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一级标题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889308" y="2319814"/>
              <a:ext cx="9820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##</a:t>
              </a:r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二级标题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89308" y="2586514"/>
              <a:ext cx="8144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**</a:t>
              </a:r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加粗</a:t>
              </a:r>
              <a:r>
                <a:rPr lang="zh-CN" sz="127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**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89308" y="2853214"/>
              <a:ext cx="6096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*</a:t>
              </a:r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斜体</a:t>
              </a:r>
              <a:r>
                <a:rPr lang="zh-CN" sz="127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*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89308" y="3119914"/>
              <a:ext cx="5072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-</a:t>
              </a:r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列表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72591" y="3418999"/>
              <a:ext cx="15697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5 行示例覆盖了大半语法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3905250"/>
            <a:ext cx="11049000" cy="2095500"/>
            <a:chOff x="571500" y="3905250"/>
            <a:chExt cx="11049000" cy="2095500"/>
          </a:xfrm>
        </p:grpSpPr>
        <p:sp>
          <p:nvSpPr>
            <p:cNvPr id="26" name="Freeform 26"/>
            <p:cNvSpPr/>
            <p:nvPr/>
          </p:nvSpPr>
          <p:spPr>
            <a:xfrm>
              <a:off x="571500" y="3905250"/>
              <a:ext cx="4762500" cy="2095500"/>
            </a:xfrm>
            <a:custGeom>
              <a:avLst/>
              <a:gdLst/>
              <a:ahLst/>
              <a:cxnLst/>
              <a:rect l="l" t="t" r="r" b="b"/>
              <a:pathLst>
                <a:path w="4762500" h="2095500">
                  <a:moveTo>
                    <a:pt x="114300" y="0"/>
                  </a:moveTo>
                  <a:lnTo>
                    <a:pt x="4648200" y="0"/>
                  </a:lnTo>
                  <a:cubicBezTo>
                    <a:pt x="4711326" y="0"/>
                    <a:pt x="4762500" y="51174"/>
                    <a:pt x="4762500" y="114300"/>
                  </a:cubicBezTo>
                  <a:lnTo>
                    <a:pt x="4762500" y="1981200"/>
                  </a:lnTo>
                  <a:cubicBezTo>
                    <a:pt x="4762500" y="2044326"/>
                    <a:pt x="4711326" y="2095500"/>
                    <a:pt x="4648200" y="2095500"/>
                  </a:cubicBezTo>
                  <a:lnTo>
                    <a:pt x="114300" y="2095500"/>
                  </a:lnTo>
                  <a:cubicBezTo>
                    <a:pt x="51174" y="2095500"/>
                    <a:pt x="0" y="2044326"/>
                    <a:pt x="0" y="1981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571500" y="3905250"/>
              <a:ext cx="57150" cy="2095500"/>
            </a:xfrm>
            <a:custGeom>
              <a:avLst/>
              <a:gdLst/>
              <a:ahLst/>
              <a:cxnLst/>
              <a:rect l="l" t="t" r="r" b="b"/>
              <a:pathLst>
                <a:path w="57150" h="20955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066925"/>
                  </a:lnTo>
                  <a:cubicBezTo>
                    <a:pt x="57150" y="2082707"/>
                    <a:pt x="44357" y="2095500"/>
                    <a:pt x="28575" y="2095500"/>
                  </a:cubicBezTo>
                  <a:lnTo>
                    <a:pt x="28575" y="2095500"/>
                  </a:lnTo>
                  <a:cubicBezTo>
                    <a:pt x="12793" y="2095500"/>
                    <a:pt x="0" y="2082707"/>
                    <a:pt x="0" y="2066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900112" y="4229100"/>
              <a:ext cx="257175" cy="171450"/>
              <a:chOff x="900112" y="4229100"/>
              <a:chExt cx="257175" cy="1714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00125" y="42862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900112" y="4229100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57175" y="85725"/>
                    </a:moveTo>
                    <a:cubicBezTo>
                      <a:pt x="222885" y="142875"/>
                      <a:pt x="180023" y="171450"/>
                      <a:pt x="128588" y="171450"/>
                    </a:cubicBezTo>
                    <a:cubicBezTo>
                      <a:pt x="77152" y="171450"/>
                      <a:pt x="34290" y="142875"/>
                      <a:pt x="0" y="85725"/>
                    </a:cubicBezTo>
                    <a:cubicBezTo>
                      <a:pt x="34290" y="28575"/>
                      <a:pt x="77152" y="0"/>
                      <a:pt x="128588" y="0"/>
                    </a:cubicBezTo>
                    <a:cubicBezTo>
                      <a:pt x="180023" y="0"/>
                      <a:pt x="222885" y="28575"/>
                      <a:pt x="257175" y="85725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301115" y="4220528"/>
              <a:ext cx="10491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ADVANTAGE 02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89685" y="4409122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可读性强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857250" y="48577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2010" y="5013960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即使</a:t>
              </a:r>
              <a:r>
                <a:rPr lang="zh-CN" sz="12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不经过渲染</a:t>
              </a:r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2010" y="5261610"/>
              <a:ext cx="2308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文本本身也具有</a:t>
              </a:r>
              <a:r>
                <a:rPr lang="zh-CN" sz="12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良好的可读性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2010" y="5537835"/>
              <a:ext cx="3561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普通编辑器也能看清文档结构 — 比 HTML 直观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5715000" y="3905250"/>
              <a:ext cx="5905500" cy="2095500"/>
            </a:xfrm>
            <a:custGeom>
              <a:avLst/>
              <a:gdLst/>
              <a:ahLst/>
              <a:cxnLst/>
              <a:rect l="l" t="t" r="r" b="b"/>
              <a:pathLst>
                <a:path w="5905500" h="2095500">
                  <a:moveTo>
                    <a:pt x="114300" y="0"/>
                  </a:moveTo>
                  <a:lnTo>
                    <a:pt x="5791200" y="0"/>
                  </a:lnTo>
                  <a:cubicBezTo>
                    <a:pt x="5854326" y="0"/>
                    <a:pt x="5905500" y="51174"/>
                    <a:pt x="5905500" y="114300"/>
                  </a:cubicBezTo>
                  <a:lnTo>
                    <a:pt x="5905500" y="1981200"/>
                  </a:lnTo>
                  <a:cubicBezTo>
                    <a:pt x="5905500" y="2044326"/>
                    <a:pt x="5854326" y="2095500"/>
                    <a:pt x="5791200" y="2095500"/>
                  </a:cubicBezTo>
                  <a:lnTo>
                    <a:pt x="114300" y="2095500"/>
                  </a:lnTo>
                  <a:cubicBezTo>
                    <a:pt x="51174" y="2095500"/>
                    <a:pt x="0" y="2044326"/>
                    <a:pt x="0" y="1981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93118" y="4085749"/>
              <a:ext cx="12351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paper-outline.md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905500" y="4286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889308" y="4481989"/>
              <a:ext cx="87965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#</a:t>
              </a:r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研究背景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89308" y="4748689"/>
              <a:ext cx="6096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##</a:t>
              </a:r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方法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889308" y="5015389"/>
              <a:ext cx="6096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##</a:t>
              </a:r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实验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89308" y="5282089"/>
              <a:ext cx="6096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##</a:t>
              </a:r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结论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51231" y="5752624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不渲染也能看出层级关系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60070" y="6286500"/>
            <a:ext cx="11071860" cy="371475"/>
            <a:chOff x="560070" y="6286500"/>
            <a:chExt cx="11071860" cy="371475"/>
          </a:xfrm>
        </p:grpSpPr>
        <p:sp>
          <p:nvSpPr>
            <p:cNvPr id="46" name="Line 46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0070" y="647509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第 01 章 · 简介与优点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01590" y="64750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06 / 15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76250"/>
            <a:ext cx="6373458" cy="733425"/>
            <a:chOff x="571500" y="476250"/>
            <a:chExt cx="6373458" cy="733425"/>
          </a:xfrm>
        </p:grpSpPr>
        <p:sp>
          <p:nvSpPr>
            <p:cNvPr id="3" name="Freeform 3"/>
            <p:cNvSpPr/>
            <p:nvPr/>
          </p:nvSpPr>
          <p:spPr>
            <a:xfrm>
              <a:off x="571500" y="476250"/>
              <a:ext cx="57150" cy="419100"/>
            </a:xfrm>
            <a:custGeom>
              <a:avLst/>
              <a:gdLst/>
              <a:ahLst/>
              <a:cxnLst/>
              <a:rect l="l" t="t" r="r" b="b"/>
              <a:pathLst>
                <a:path w="57150" h="419100">
                  <a:moveTo>
                    <a:pt x="19050" y="0"/>
                  </a:moveTo>
                  <a:lnTo>
                    <a:pt x="38100" y="0"/>
                  </a:lnTo>
                  <a:cubicBezTo>
                    <a:pt x="48621" y="0"/>
                    <a:pt x="57150" y="8529"/>
                    <a:pt x="57150" y="19050"/>
                  </a:cubicBezTo>
                  <a:lnTo>
                    <a:pt x="57150" y="400050"/>
                  </a:lnTo>
                  <a:cubicBezTo>
                    <a:pt x="57150" y="410571"/>
                    <a:pt x="48621" y="419100"/>
                    <a:pt x="38100" y="419100"/>
                  </a:cubicBezTo>
                  <a:lnTo>
                    <a:pt x="19050" y="419100"/>
                  </a:lnTo>
                  <a:cubicBezTo>
                    <a:pt x="8529" y="419100"/>
                    <a:pt x="0" y="410571"/>
                    <a:pt x="0" y="400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7710" y="518160"/>
              <a:ext cx="621724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优势详解 ·</a:t>
              </a:r>
              <a:r>
                <a:rPr lang="zh-CN" sz="27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聚焦内容</a:t>
              </a:r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与</a:t>
              </a:r>
              <a:r>
                <a:rPr lang="zh-CN" sz="27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跨平台兼容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965835"/>
              <a:ext cx="4131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第 3-4 项优势 · 解放排版精力，纯文本通吃所有平台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1476375"/>
            <a:ext cx="5524500" cy="4524375"/>
            <a:chOff x="571500" y="1476375"/>
            <a:chExt cx="5524500" cy="4524375"/>
          </a:xfrm>
        </p:grpSpPr>
        <p:sp>
          <p:nvSpPr>
            <p:cNvPr id="7" name="Freeform 7"/>
            <p:cNvSpPr/>
            <p:nvPr/>
          </p:nvSpPr>
          <p:spPr>
            <a:xfrm>
              <a:off x="571500" y="1476375"/>
              <a:ext cx="5524500" cy="4524375"/>
            </a:xfrm>
            <a:custGeom>
              <a:avLst/>
              <a:gdLst/>
              <a:ahLst/>
              <a:cxnLst/>
              <a:rect l="l" t="t" r="r" b="b"/>
              <a:pathLst>
                <a:path w="5524500" h="4524375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4410075"/>
                  </a:lnTo>
                  <a:cubicBezTo>
                    <a:pt x="5524500" y="4473201"/>
                    <a:pt x="5473326" y="4524375"/>
                    <a:pt x="5410200" y="4524375"/>
                  </a:cubicBezTo>
                  <a:lnTo>
                    <a:pt x="114300" y="4524375"/>
                  </a:lnTo>
                  <a:cubicBezTo>
                    <a:pt x="51174" y="4524375"/>
                    <a:pt x="0" y="4473201"/>
                    <a:pt x="0" y="441007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476375"/>
              <a:ext cx="5524500" cy="57150"/>
            </a:xfrm>
            <a:custGeom>
              <a:avLst/>
              <a:gdLst/>
              <a:ahLst/>
              <a:cxnLst/>
              <a:rect l="l" t="t" r="r" b="b"/>
              <a:pathLst>
                <a:path w="5524500" h="57150">
                  <a:moveTo>
                    <a:pt x="28575" y="0"/>
                  </a:moveTo>
                  <a:lnTo>
                    <a:pt x="5495925" y="0"/>
                  </a:lnTo>
                  <a:cubicBezTo>
                    <a:pt x="5511707" y="0"/>
                    <a:pt x="5524500" y="12793"/>
                    <a:pt x="5524500" y="28575"/>
                  </a:cubicBezTo>
                  <a:lnTo>
                    <a:pt x="5524500" y="28575"/>
                  </a:lnTo>
                  <a:cubicBezTo>
                    <a:pt x="5524500" y="44357"/>
                    <a:pt x="5511707" y="57150"/>
                    <a:pt x="5495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14400" y="1866900"/>
              <a:ext cx="342900" cy="342900"/>
              <a:chOff x="914400" y="1866900"/>
              <a:chExt cx="342900" cy="3429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76325" y="20288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14400" y="186690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0" y="171450"/>
                    </a:moveTo>
                    <a:cubicBezTo>
                      <a:pt x="0" y="266139"/>
                      <a:pt x="76761" y="342900"/>
                      <a:pt x="171450" y="342900"/>
                    </a:cubicBezTo>
                    <a:cubicBezTo>
                      <a:pt x="266139" y="342900"/>
                      <a:pt x="342900" y="266139"/>
                      <a:pt x="342900" y="171450"/>
                    </a:cubicBezTo>
                    <a:cubicBezTo>
                      <a:pt x="342900" y="76761"/>
                      <a:pt x="266139" y="0"/>
                      <a:pt x="171450" y="0"/>
                    </a:cubicBezTo>
                    <a:cubicBezTo>
                      <a:pt x="76761" y="0"/>
                      <a:pt x="0" y="76761"/>
                      <a:pt x="0" y="17145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843915" y="2601278"/>
              <a:ext cx="10491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ADVANTAGE 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8675" y="2805112"/>
              <a:ext cx="14373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专注内容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8675" y="3128962"/>
              <a:ext cx="14373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而非排版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57250" y="360045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06B6D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1058" y="386286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作者只需关心</a:t>
              </a:r>
              <a:r>
                <a:rPr lang="zh-CN" sz="127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内容结构</a:t>
              </a:r>
              <a:r>
                <a:rPr lang="zh-CN" sz="127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1058" y="412956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不必调整复杂的排版细节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43915" y="4649152"/>
              <a:ext cx="4454842" cy="813436"/>
              <a:chOff x="843915" y="4649152"/>
              <a:chExt cx="4454842" cy="813436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43915" y="4649152"/>
                <a:ext cx="9927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写作精力分配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43915" y="4915852"/>
                <a:ext cx="3947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Word</a:t>
                </a:r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619250" y="4905375"/>
                <a:ext cx="3619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171450">
                    <a:moveTo>
                      <a:pt x="28575" y="0"/>
                    </a:moveTo>
                    <a:lnTo>
                      <a:pt x="3590925" y="0"/>
                    </a:lnTo>
                    <a:cubicBezTo>
                      <a:pt x="3606707" y="0"/>
                      <a:pt x="3619500" y="12793"/>
                      <a:pt x="3619500" y="28575"/>
                    </a:cubicBezTo>
                    <a:lnTo>
                      <a:pt x="3619500" y="142875"/>
                    </a:lnTo>
                    <a:cubicBezTo>
                      <a:pt x="3619500" y="158657"/>
                      <a:pt x="3606707" y="171450"/>
                      <a:pt x="359092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619250" y="4905375"/>
                <a:ext cx="2171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71700" h="171450">
                    <a:moveTo>
                      <a:pt x="28575" y="0"/>
                    </a:moveTo>
                    <a:lnTo>
                      <a:pt x="2143125" y="0"/>
                    </a:lnTo>
                    <a:cubicBezTo>
                      <a:pt x="2158907" y="0"/>
                      <a:pt x="2171700" y="12793"/>
                      <a:pt x="2171700" y="28575"/>
                    </a:cubicBezTo>
                    <a:lnTo>
                      <a:pt x="2171700" y="142875"/>
                    </a:lnTo>
                    <a:cubicBezTo>
                      <a:pt x="2171700" y="158657"/>
                      <a:pt x="2158907" y="171450"/>
                      <a:pt x="214312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EF4444">
                  <a:alpha val="70000"/>
                </a:srgbClr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711517" y="4923949"/>
                <a:ext cx="5872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排版 60%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43915" y="5249228"/>
                <a:ext cx="7627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Markdown</a:t>
                </a:r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1619250" y="5238750"/>
                <a:ext cx="3619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171450">
                    <a:moveTo>
                      <a:pt x="28575" y="0"/>
                    </a:moveTo>
                    <a:lnTo>
                      <a:pt x="3590925" y="0"/>
                    </a:lnTo>
                    <a:cubicBezTo>
                      <a:pt x="3606707" y="0"/>
                      <a:pt x="3619500" y="12793"/>
                      <a:pt x="3619500" y="28575"/>
                    </a:cubicBezTo>
                    <a:lnTo>
                      <a:pt x="3619500" y="142875"/>
                    </a:lnTo>
                    <a:cubicBezTo>
                      <a:pt x="3619500" y="158657"/>
                      <a:pt x="3606707" y="171450"/>
                      <a:pt x="359092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E2E8F0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619250" y="5238750"/>
                <a:ext cx="723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723900" h="171450">
                    <a:moveTo>
                      <a:pt x="28575" y="0"/>
                    </a:moveTo>
                    <a:lnTo>
                      <a:pt x="695325" y="0"/>
                    </a:lnTo>
                    <a:cubicBezTo>
                      <a:pt x="711107" y="0"/>
                      <a:pt x="723900" y="12793"/>
                      <a:pt x="723900" y="28575"/>
                    </a:cubicBezTo>
                    <a:lnTo>
                      <a:pt x="723900" y="142875"/>
                    </a:lnTo>
                    <a:cubicBezTo>
                      <a:pt x="723900" y="158657"/>
                      <a:pt x="711107" y="171450"/>
                      <a:pt x="695325" y="171450"/>
                    </a:cubicBezTo>
                    <a:lnTo>
                      <a:pt x="28575" y="171450"/>
                    </a:lnTo>
                    <a:cubicBezTo>
                      <a:pt x="12793" y="171450"/>
                      <a:pt x="0" y="158657"/>
                      <a:pt x="0" y="14287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close/>
                  </a:path>
                </a:pathLst>
              </a:custGeom>
              <a:solidFill>
                <a:srgbClr val="10B981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711517" y="5257324"/>
                <a:ext cx="5872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排版 20%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842962" y="5688806"/>
              <a:ext cx="15553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→ 显著提升写作效率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286500" y="1476375"/>
            <a:ext cx="5334000" cy="4524375"/>
            <a:chOff x="6286500" y="1476375"/>
            <a:chExt cx="5334000" cy="4524375"/>
          </a:xfrm>
        </p:grpSpPr>
        <p:sp>
          <p:nvSpPr>
            <p:cNvPr id="30" name="Freeform 30"/>
            <p:cNvSpPr/>
            <p:nvPr/>
          </p:nvSpPr>
          <p:spPr>
            <a:xfrm>
              <a:off x="6286500" y="1476375"/>
              <a:ext cx="5334000" cy="4524375"/>
            </a:xfrm>
            <a:custGeom>
              <a:avLst/>
              <a:gdLst/>
              <a:ahLst/>
              <a:cxnLst/>
              <a:rect l="l" t="t" r="r" b="b"/>
              <a:pathLst>
                <a:path w="5334000" h="4524375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4410075"/>
                  </a:lnTo>
                  <a:cubicBezTo>
                    <a:pt x="5334000" y="4473201"/>
                    <a:pt x="5282826" y="4524375"/>
                    <a:pt x="5219700" y="4524375"/>
                  </a:cubicBezTo>
                  <a:lnTo>
                    <a:pt x="114300" y="4524375"/>
                  </a:lnTo>
                  <a:cubicBezTo>
                    <a:pt x="51174" y="4524375"/>
                    <a:pt x="0" y="4473201"/>
                    <a:pt x="0" y="441007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286500" y="1476375"/>
              <a:ext cx="5334000" cy="57150"/>
            </a:xfrm>
            <a:custGeom>
              <a:avLst/>
              <a:gdLst/>
              <a:ahLst/>
              <a:cxnLst/>
              <a:rect l="l" t="t" r="r" b="b"/>
              <a:pathLst>
                <a:path w="5334000" h="57150">
                  <a:moveTo>
                    <a:pt x="28575" y="0"/>
                  </a:moveTo>
                  <a:lnTo>
                    <a:pt x="5305425" y="0"/>
                  </a:lnTo>
                  <a:cubicBezTo>
                    <a:pt x="5321207" y="0"/>
                    <a:pt x="5334000" y="12793"/>
                    <a:pt x="5334000" y="28575"/>
                  </a:cubicBezTo>
                  <a:lnTo>
                    <a:pt x="5334000" y="28575"/>
                  </a:lnTo>
                  <a:cubicBezTo>
                    <a:pt x="5334000" y="44357"/>
                    <a:pt x="5321207" y="57150"/>
                    <a:pt x="5305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629400" y="1866900"/>
              <a:ext cx="342900" cy="342900"/>
              <a:chOff x="6629400" y="1866900"/>
              <a:chExt cx="342900" cy="3429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629400" y="186690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0" y="171450"/>
                    </a:moveTo>
                    <a:cubicBezTo>
                      <a:pt x="0" y="266139"/>
                      <a:pt x="76761" y="342900"/>
                      <a:pt x="171450" y="342900"/>
                    </a:cubicBezTo>
                    <a:cubicBezTo>
                      <a:pt x="266139" y="342900"/>
                      <a:pt x="342900" y="266139"/>
                      <a:pt x="342900" y="171450"/>
                    </a:cubicBezTo>
                    <a:cubicBezTo>
                      <a:pt x="342900" y="76761"/>
                      <a:pt x="266139" y="0"/>
                      <a:pt x="171450" y="0"/>
                    </a:cubicBezTo>
                    <a:cubicBezTo>
                      <a:pt x="76761" y="0"/>
                      <a:pt x="0" y="76761"/>
                      <a:pt x="0" y="17145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640830" y="1981200"/>
                <a:ext cx="32004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0040" h="9525">
                    <a:moveTo>
                      <a:pt x="0" y="0"/>
                    </a:moveTo>
                    <a:lnTo>
                      <a:pt x="32004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640830" y="2095500"/>
                <a:ext cx="32004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0040" h="9525">
                    <a:moveTo>
                      <a:pt x="0" y="0"/>
                    </a:moveTo>
                    <a:lnTo>
                      <a:pt x="32004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725849" y="1866900"/>
                <a:ext cx="65476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65476" h="342900">
                    <a:moveTo>
                      <a:pt x="65476" y="0"/>
                    </a:moveTo>
                    <a:cubicBezTo>
                      <a:pt x="0" y="104923"/>
                      <a:pt x="0" y="237977"/>
                      <a:pt x="65476" y="34290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810375" y="1866900"/>
                <a:ext cx="65476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65476" h="342900">
                    <a:moveTo>
                      <a:pt x="0" y="0"/>
                    </a:moveTo>
                    <a:cubicBezTo>
                      <a:pt x="65476" y="104923"/>
                      <a:pt x="65476" y="237977"/>
                      <a:pt x="0" y="34290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558915" y="2601278"/>
              <a:ext cx="10491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ADVANTAGE 04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43675" y="2805112"/>
              <a:ext cx="178236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纯文本格式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43675" y="3128962"/>
              <a:ext cx="143732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兼容性强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572250" y="360045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558915" y="3887152"/>
              <a:ext cx="4385310" cy="1258729"/>
              <a:chOff x="6558915" y="3887152"/>
              <a:chExt cx="4385310" cy="1258729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6558915" y="3887152"/>
                <a:ext cx="6707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原生优势</a:t>
                </a:r>
              </a:p>
            </p:txBody>
          </p:sp>
          <p:grpSp>
            <p:nvGrpSpPr>
              <p:cNvPr id="45" name="Group 45"/>
              <p:cNvGrpSpPr/>
              <p:nvPr/>
            </p:nvGrpSpPr>
            <p:grpSpPr>
              <a:xfrm>
                <a:off x="6593681" y="4117181"/>
                <a:ext cx="128588" cy="128588"/>
                <a:chOff x="6593681" y="4117181"/>
                <a:chExt cx="128588" cy="128588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6593681" y="4117181"/>
                  <a:ext cx="128588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28588">
                      <a:moveTo>
                        <a:pt x="0" y="64294"/>
                      </a:moveTo>
                      <a:cubicBezTo>
                        <a:pt x="0" y="99802"/>
                        <a:pt x="28785" y="128588"/>
                        <a:pt x="64294" y="128588"/>
                      </a:cubicBezTo>
                      <a:cubicBezTo>
                        <a:pt x="99802" y="128588"/>
                        <a:pt x="128588" y="99802"/>
                        <a:pt x="128588" y="64294"/>
                      </a:cubicBezTo>
                      <a:cubicBezTo>
                        <a:pt x="128588" y="28785"/>
                        <a:pt x="99802" y="0"/>
                        <a:pt x="64294" y="0"/>
                      </a:cubicBezTo>
                      <a:cubicBezTo>
                        <a:pt x="28785" y="0"/>
                        <a:pt x="0" y="28785"/>
                        <a:pt x="0" y="64294"/>
                      </a:cubicBez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6636544" y="4167188"/>
                  <a:ext cx="42862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28575">
                      <a:moveTo>
                        <a:pt x="0" y="14288"/>
                      </a:moveTo>
                      <a:lnTo>
                        <a:pt x="14288" y="28575"/>
                      </a:lnTo>
                      <a:lnTo>
                        <a:pt x="42862" y="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6796088" y="4117181"/>
                <a:ext cx="850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文件体积小</a:t>
                </a:r>
              </a:p>
            </p:txBody>
          </p:sp>
          <p:grpSp>
            <p:nvGrpSpPr>
              <p:cNvPr id="49" name="Group 49"/>
              <p:cNvGrpSpPr/>
              <p:nvPr/>
            </p:nvGrpSpPr>
            <p:grpSpPr>
              <a:xfrm>
                <a:off x="6593681" y="4383881"/>
                <a:ext cx="128588" cy="128588"/>
                <a:chOff x="6593681" y="4383881"/>
                <a:chExt cx="128588" cy="128588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6593681" y="4383881"/>
                  <a:ext cx="128588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28588">
                      <a:moveTo>
                        <a:pt x="0" y="64294"/>
                      </a:moveTo>
                      <a:cubicBezTo>
                        <a:pt x="0" y="99802"/>
                        <a:pt x="28785" y="128588"/>
                        <a:pt x="64294" y="128588"/>
                      </a:cubicBezTo>
                      <a:cubicBezTo>
                        <a:pt x="99802" y="128588"/>
                        <a:pt x="128588" y="99802"/>
                        <a:pt x="128588" y="64294"/>
                      </a:cubicBezTo>
                      <a:cubicBezTo>
                        <a:pt x="128588" y="28785"/>
                        <a:pt x="99802" y="0"/>
                        <a:pt x="64294" y="0"/>
                      </a:cubicBezTo>
                      <a:cubicBezTo>
                        <a:pt x="28785" y="0"/>
                        <a:pt x="0" y="28785"/>
                        <a:pt x="0" y="64294"/>
                      </a:cubicBez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6636544" y="4433888"/>
                  <a:ext cx="42862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28575">
                      <a:moveTo>
                        <a:pt x="0" y="14288"/>
                      </a:moveTo>
                      <a:lnTo>
                        <a:pt x="14288" y="28575"/>
                      </a:lnTo>
                      <a:lnTo>
                        <a:pt x="42862" y="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6796088" y="4383881"/>
                <a:ext cx="11787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不依赖特定软件</a:t>
                </a:r>
              </a:p>
            </p:txBody>
          </p:sp>
          <p:grpSp>
            <p:nvGrpSpPr>
              <p:cNvPr id="53" name="Group 53"/>
              <p:cNvGrpSpPr/>
              <p:nvPr/>
            </p:nvGrpSpPr>
            <p:grpSpPr>
              <a:xfrm>
                <a:off x="6593681" y="4650581"/>
                <a:ext cx="128588" cy="128588"/>
                <a:chOff x="6593681" y="4650581"/>
                <a:chExt cx="128588" cy="128588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6593681" y="4650581"/>
                  <a:ext cx="128588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28588">
                      <a:moveTo>
                        <a:pt x="0" y="64294"/>
                      </a:moveTo>
                      <a:cubicBezTo>
                        <a:pt x="0" y="99802"/>
                        <a:pt x="28785" y="128588"/>
                        <a:pt x="64294" y="128588"/>
                      </a:cubicBezTo>
                      <a:cubicBezTo>
                        <a:pt x="99802" y="128588"/>
                        <a:pt x="128588" y="99802"/>
                        <a:pt x="128588" y="64294"/>
                      </a:cubicBezTo>
                      <a:cubicBezTo>
                        <a:pt x="128588" y="28785"/>
                        <a:pt x="99802" y="0"/>
                        <a:pt x="64294" y="0"/>
                      </a:cubicBezTo>
                      <a:cubicBezTo>
                        <a:pt x="28785" y="0"/>
                        <a:pt x="0" y="28785"/>
                        <a:pt x="0" y="64294"/>
                      </a:cubicBez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636544" y="4700588"/>
                  <a:ext cx="42862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28575">
                      <a:moveTo>
                        <a:pt x="0" y="14288"/>
                      </a:moveTo>
                      <a:lnTo>
                        <a:pt x="14288" y="28575"/>
                      </a:lnTo>
                      <a:lnTo>
                        <a:pt x="42862" y="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6796088" y="4650581"/>
                <a:ext cx="13430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任何系统都可打开</a:t>
                </a:r>
              </a:p>
            </p:txBody>
          </p:sp>
          <p:grpSp>
            <p:nvGrpSpPr>
              <p:cNvPr id="57" name="Group 57"/>
              <p:cNvGrpSpPr/>
              <p:nvPr/>
            </p:nvGrpSpPr>
            <p:grpSpPr>
              <a:xfrm>
                <a:off x="6593681" y="4917281"/>
                <a:ext cx="128588" cy="128588"/>
                <a:chOff x="6593681" y="4917281"/>
                <a:chExt cx="128588" cy="128588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6593681" y="4917281"/>
                  <a:ext cx="128588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8" h="128588">
                      <a:moveTo>
                        <a:pt x="0" y="64294"/>
                      </a:moveTo>
                      <a:cubicBezTo>
                        <a:pt x="0" y="99802"/>
                        <a:pt x="28785" y="128588"/>
                        <a:pt x="64294" y="128588"/>
                      </a:cubicBezTo>
                      <a:cubicBezTo>
                        <a:pt x="99802" y="128588"/>
                        <a:pt x="128588" y="99802"/>
                        <a:pt x="128588" y="64294"/>
                      </a:cubicBezTo>
                      <a:cubicBezTo>
                        <a:pt x="128588" y="28785"/>
                        <a:pt x="99802" y="0"/>
                        <a:pt x="64294" y="0"/>
                      </a:cubicBezTo>
                      <a:cubicBezTo>
                        <a:pt x="28785" y="0"/>
                        <a:pt x="0" y="28785"/>
                        <a:pt x="0" y="64294"/>
                      </a:cubicBez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6636544" y="4967288"/>
                  <a:ext cx="42862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28575">
                      <a:moveTo>
                        <a:pt x="0" y="14288"/>
                      </a:moveTo>
                      <a:lnTo>
                        <a:pt x="14288" y="28575"/>
                      </a:lnTo>
                      <a:lnTo>
                        <a:pt x="42862" y="0"/>
                      </a:lnTo>
                    </a:path>
                  </a:pathLst>
                </a:custGeom>
                <a:noFill/>
                <a:ln w="19050">
                  <a:solidFill>
                    <a:srgbClr val="10B981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6796088" y="4917281"/>
                <a:ext cx="685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不易损坏</a:t>
                </a:r>
              </a:p>
            </p:txBody>
          </p:sp>
          <p:sp>
            <p:nvSpPr>
              <p:cNvPr id="59" name="Line 59"/>
              <p:cNvSpPr/>
              <p:nvPr/>
            </p:nvSpPr>
            <p:spPr>
              <a:xfrm>
                <a:off x="8905875" y="4000500"/>
                <a:ext cx="9525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0">
                    <a:moveTo>
                      <a:pt x="0" y="0"/>
                    </a:moveTo>
                    <a:lnTo>
                      <a:pt x="0" y="114300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9083040" y="3887152"/>
                <a:ext cx="8317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可导出格式</a:t>
                </a:r>
              </a:p>
            </p:txBody>
          </p:sp>
          <p:sp>
            <p:nvSpPr>
              <p:cNvPr id="61" name="Freeform 61"/>
              <p:cNvSpPr/>
              <p:nvPr/>
            </p:nvSpPr>
            <p:spPr>
              <a:xfrm>
                <a:off x="9096375" y="4095750"/>
                <a:ext cx="5715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209550">
                    <a:moveTo>
                      <a:pt x="104775" y="0"/>
                    </a:moveTo>
                    <a:lnTo>
                      <a:pt x="466725" y="0"/>
                    </a:lnTo>
                    <a:cubicBezTo>
                      <a:pt x="524591" y="0"/>
                      <a:pt x="571500" y="46909"/>
                      <a:pt x="571500" y="104775"/>
                    </a:cubicBezTo>
                    <a:lnTo>
                      <a:pt x="571500" y="104775"/>
                    </a:lnTo>
                    <a:cubicBezTo>
                      <a:pt x="571500" y="162641"/>
                      <a:pt x="524591" y="209550"/>
                      <a:pt x="466725" y="209550"/>
                    </a:cubicBezTo>
                    <a:lnTo>
                      <a:pt x="104775" y="209550"/>
                    </a:lnTo>
                    <a:cubicBezTo>
                      <a:pt x="46909" y="209550"/>
                      <a:pt x="0" y="162641"/>
                      <a:pt x="0" y="104775"/>
                    </a:cubicBezTo>
                    <a:lnTo>
                      <a:pt x="0" y="104775"/>
                    </a:lnTo>
                    <a:cubicBezTo>
                      <a:pt x="0" y="46909"/>
                      <a:pt x="46909" y="0"/>
                      <a:pt x="104775" y="0"/>
                    </a:cubicBezTo>
                    <a:close/>
                  </a:path>
                </a:pathLst>
              </a:custGeom>
              <a:solidFill>
                <a:srgbClr val="1565C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9190320" y="4142899"/>
                <a:ext cx="3836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565C0"/>
                    </a:solidFill>
                    <a:latin typeface="Consolas"/>
                    <a:ea typeface="Microsoft YaHei"/>
                    <a:cs typeface="Consolas"/>
                  </a:rPr>
                  <a:t>HTML</a:t>
                </a:r>
              </a:p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9744075" y="4095750"/>
                <a:ext cx="4762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209550">
                    <a:moveTo>
                      <a:pt x="104775" y="0"/>
                    </a:moveTo>
                    <a:lnTo>
                      <a:pt x="371475" y="0"/>
                    </a:lnTo>
                    <a:cubicBezTo>
                      <a:pt x="429341" y="0"/>
                      <a:pt x="476250" y="46909"/>
                      <a:pt x="476250" y="104775"/>
                    </a:cubicBezTo>
                    <a:lnTo>
                      <a:pt x="476250" y="104775"/>
                    </a:lnTo>
                    <a:cubicBezTo>
                      <a:pt x="476250" y="162641"/>
                      <a:pt x="429341" y="209550"/>
                      <a:pt x="371475" y="209550"/>
                    </a:cubicBezTo>
                    <a:lnTo>
                      <a:pt x="104775" y="209550"/>
                    </a:lnTo>
                    <a:cubicBezTo>
                      <a:pt x="46909" y="209550"/>
                      <a:pt x="0" y="162641"/>
                      <a:pt x="0" y="104775"/>
                    </a:cubicBezTo>
                    <a:lnTo>
                      <a:pt x="0" y="104775"/>
                    </a:lnTo>
                    <a:cubicBezTo>
                      <a:pt x="0" y="46909"/>
                      <a:pt x="46909" y="0"/>
                      <a:pt x="104775" y="0"/>
                    </a:cubicBezTo>
                    <a:close/>
                  </a:path>
                </a:pathLst>
              </a:custGeom>
              <a:solidFill>
                <a:srgbClr val="1565C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9846465" y="4142899"/>
                <a:ext cx="2714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565C0"/>
                    </a:solidFill>
                    <a:latin typeface="Consolas"/>
                    <a:ea typeface="Microsoft YaHei"/>
                    <a:cs typeface="Consolas"/>
                  </a:rPr>
                  <a:t>PDF</a:t>
                </a:r>
              </a:p>
            </p:txBody>
          </p:sp>
          <p:sp>
            <p:nvSpPr>
              <p:cNvPr id="65" name="Freeform 65"/>
              <p:cNvSpPr/>
              <p:nvPr/>
            </p:nvSpPr>
            <p:spPr>
              <a:xfrm>
                <a:off x="10296525" y="4095750"/>
                <a:ext cx="5715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209550">
                    <a:moveTo>
                      <a:pt x="104775" y="0"/>
                    </a:moveTo>
                    <a:lnTo>
                      <a:pt x="466725" y="0"/>
                    </a:lnTo>
                    <a:cubicBezTo>
                      <a:pt x="524591" y="0"/>
                      <a:pt x="571500" y="46909"/>
                      <a:pt x="571500" y="104775"/>
                    </a:cubicBezTo>
                    <a:lnTo>
                      <a:pt x="571500" y="104775"/>
                    </a:lnTo>
                    <a:cubicBezTo>
                      <a:pt x="571500" y="162641"/>
                      <a:pt x="524591" y="209550"/>
                      <a:pt x="466725" y="209550"/>
                    </a:cubicBezTo>
                    <a:lnTo>
                      <a:pt x="104775" y="209550"/>
                    </a:lnTo>
                    <a:cubicBezTo>
                      <a:pt x="46909" y="209550"/>
                      <a:pt x="0" y="162641"/>
                      <a:pt x="0" y="104775"/>
                    </a:cubicBezTo>
                    <a:lnTo>
                      <a:pt x="0" y="104775"/>
                    </a:lnTo>
                    <a:cubicBezTo>
                      <a:pt x="0" y="46909"/>
                      <a:pt x="46909" y="0"/>
                      <a:pt x="104775" y="0"/>
                    </a:cubicBezTo>
                    <a:close/>
                  </a:path>
                </a:pathLst>
              </a:custGeom>
              <a:solidFill>
                <a:srgbClr val="1565C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10390470" y="4142899"/>
                <a:ext cx="3836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565C0"/>
                    </a:solidFill>
                    <a:latin typeface="Consolas"/>
                    <a:ea typeface="Microsoft YaHei"/>
                    <a:cs typeface="Consolas"/>
                  </a:rPr>
                  <a:t>Word</a:t>
                </a:r>
              </a:p>
            </p:txBody>
          </p:sp>
          <p:sp>
            <p:nvSpPr>
              <p:cNvPr id="67" name="Freeform 67"/>
              <p:cNvSpPr/>
              <p:nvPr/>
            </p:nvSpPr>
            <p:spPr>
              <a:xfrm>
                <a:off x="9096375" y="4381500"/>
                <a:ext cx="5715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209550">
                    <a:moveTo>
                      <a:pt x="104775" y="0"/>
                    </a:moveTo>
                    <a:lnTo>
                      <a:pt x="466725" y="0"/>
                    </a:lnTo>
                    <a:cubicBezTo>
                      <a:pt x="524591" y="0"/>
                      <a:pt x="571500" y="46909"/>
                      <a:pt x="571500" y="104775"/>
                    </a:cubicBezTo>
                    <a:lnTo>
                      <a:pt x="571500" y="104775"/>
                    </a:lnTo>
                    <a:cubicBezTo>
                      <a:pt x="571500" y="162641"/>
                      <a:pt x="524591" y="209550"/>
                      <a:pt x="466725" y="209550"/>
                    </a:cubicBezTo>
                    <a:lnTo>
                      <a:pt x="104775" y="209550"/>
                    </a:lnTo>
                    <a:cubicBezTo>
                      <a:pt x="46909" y="209550"/>
                      <a:pt x="0" y="162641"/>
                      <a:pt x="0" y="104775"/>
                    </a:cubicBezTo>
                    <a:lnTo>
                      <a:pt x="0" y="104775"/>
                    </a:lnTo>
                    <a:cubicBezTo>
                      <a:pt x="0" y="46909"/>
                      <a:pt x="46909" y="0"/>
                      <a:pt x="104775" y="0"/>
                    </a:cubicBezTo>
                    <a:close/>
                  </a:path>
                </a:pathLst>
              </a:custGeom>
              <a:solidFill>
                <a:srgbClr val="06B6D4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9246390" y="4428649"/>
                <a:ext cx="2714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6B6D4"/>
                    </a:solidFill>
                    <a:latin typeface="Consolas"/>
                    <a:ea typeface="Microsoft YaHei"/>
                    <a:cs typeface="Consolas"/>
                  </a:rPr>
                  <a:t>PPT</a:t>
                </a:r>
              </a:p>
            </p:txBody>
          </p:sp>
          <p:sp>
            <p:nvSpPr>
              <p:cNvPr id="69" name="Freeform 69"/>
              <p:cNvSpPr/>
              <p:nvPr/>
            </p:nvSpPr>
            <p:spPr>
              <a:xfrm>
                <a:off x="9744075" y="4381500"/>
                <a:ext cx="6477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47700" h="209550">
                    <a:moveTo>
                      <a:pt x="104775" y="0"/>
                    </a:moveTo>
                    <a:lnTo>
                      <a:pt x="542925" y="0"/>
                    </a:lnTo>
                    <a:cubicBezTo>
                      <a:pt x="600791" y="0"/>
                      <a:pt x="647700" y="46909"/>
                      <a:pt x="647700" y="104775"/>
                    </a:cubicBezTo>
                    <a:lnTo>
                      <a:pt x="647700" y="104775"/>
                    </a:lnTo>
                    <a:cubicBezTo>
                      <a:pt x="647700" y="162641"/>
                      <a:pt x="600791" y="209550"/>
                      <a:pt x="542925" y="209550"/>
                    </a:cubicBezTo>
                    <a:lnTo>
                      <a:pt x="104775" y="209550"/>
                    </a:lnTo>
                    <a:cubicBezTo>
                      <a:pt x="46909" y="209550"/>
                      <a:pt x="0" y="162641"/>
                      <a:pt x="0" y="104775"/>
                    </a:cubicBezTo>
                    <a:lnTo>
                      <a:pt x="0" y="104775"/>
                    </a:lnTo>
                    <a:cubicBezTo>
                      <a:pt x="0" y="46909"/>
                      <a:pt x="46909" y="0"/>
                      <a:pt x="104775" y="0"/>
                    </a:cubicBezTo>
                    <a:close/>
                  </a:path>
                </a:pathLst>
              </a:custGeom>
              <a:solidFill>
                <a:srgbClr val="06B6D4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9849954" y="4428649"/>
                <a:ext cx="4359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6B6D4"/>
                    </a:solidFill>
                    <a:latin typeface="Consolas"/>
                    <a:ea typeface="Microsoft YaHei"/>
                    <a:cs typeface="Consolas"/>
                  </a:rPr>
                  <a:t>LaTeX</a:t>
                </a:r>
              </a:p>
            </p:txBody>
          </p:sp>
          <p:sp>
            <p:nvSpPr>
              <p:cNvPr id="71" name="Freeform 71"/>
              <p:cNvSpPr/>
              <p:nvPr/>
            </p:nvSpPr>
            <p:spPr>
              <a:xfrm>
                <a:off x="10467975" y="4381500"/>
                <a:ext cx="4762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209550">
                    <a:moveTo>
                      <a:pt x="104775" y="0"/>
                    </a:moveTo>
                    <a:lnTo>
                      <a:pt x="371475" y="0"/>
                    </a:lnTo>
                    <a:cubicBezTo>
                      <a:pt x="429341" y="0"/>
                      <a:pt x="476250" y="46909"/>
                      <a:pt x="476250" y="104775"/>
                    </a:cubicBezTo>
                    <a:lnTo>
                      <a:pt x="476250" y="104775"/>
                    </a:lnTo>
                    <a:cubicBezTo>
                      <a:pt x="476250" y="162641"/>
                      <a:pt x="429341" y="209550"/>
                      <a:pt x="371475" y="209550"/>
                    </a:cubicBezTo>
                    <a:lnTo>
                      <a:pt x="104775" y="209550"/>
                    </a:lnTo>
                    <a:cubicBezTo>
                      <a:pt x="46909" y="209550"/>
                      <a:pt x="0" y="162641"/>
                      <a:pt x="0" y="104775"/>
                    </a:cubicBezTo>
                    <a:lnTo>
                      <a:pt x="0" y="104775"/>
                    </a:lnTo>
                    <a:cubicBezTo>
                      <a:pt x="0" y="46909"/>
                      <a:pt x="46909" y="0"/>
                      <a:pt x="104775" y="0"/>
                    </a:cubicBezTo>
                    <a:close/>
                  </a:path>
                </a:pathLst>
              </a:custGeom>
              <a:solidFill>
                <a:srgbClr val="06B6D4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10555413" y="4428649"/>
                <a:ext cx="3013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6B6D4"/>
                    </a:solidFill>
                    <a:latin typeface="Consolas"/>
                    <a:ea typeface="Microsoft YaHei"/>
                    <a:cs typeface="Consolas"/>
                  </a:rPr>
                  <a:t>.md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083992" y="475249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写一份原稿，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9083992" y="4942999"/>
                <a:ext cx="8791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输出多种格式</a:t>
                </a:r>
              </a:p>
            </p:txBody>
          </p:sp>
        </p:grpSp>
        <p:sp>
          <p:nvSpPr>
            <p:cNvPr id="76" name="TextBox 76"/>
            <p:cNvSpPr txBox="1"/>
            <p:nvPr/>
          </p:nvSpPr>
          <p:spPr>
            <a:xfrm>
              <a:off x="6557962" y="5688806"/>
              <a:ext cx="19004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→ 一份源文件，处处可读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60070" y="6286500"/>
            <a:ext cx="11071860" cy="371475"/>
            <a:chOff x="560070" y="6286500"/>
            <a:chExt cx="11071860" cy="371475"/>
          </a:xfrm>
        </p:grpSpPr>
        <p:sp>
          <p:nvSpPr>
            <p:cNvPr id="78" name="Line 78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60070" y="647509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第 01 章 · 简介与优点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01590" y="64750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07 / 15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76250"/>
            <a:ext cx="5305806" cy="733425"/>
            <a:chOff x="571500" y="476250"/>
            <a:chExt cx="5305806" cy="733425"/>
          </a:xfrm>
        </p:grpSpPr>
        <p:sp>
          <p:nvSpPr>
            <p:cNvPr id="3" name="Freeform 3"/>
            <p:cNvSpPr/>
            <p:nvPr/>
          </p:nvSpPr>
          <p:spPr>
            <a:xfrm>
              <a:off x="571500" y="476250"/>
              <a:ext cx="57150" cy="419100"/>
            </a:xfrm>
            <a:custGeom>
              <a:avLst/>
              <a:gdLst/>
              <a:ahLst/>
              <a:cxnLst/>
              <a:rect l="l" t="t" r="r" b="b"/>
              <a:pathLst>
                <a:path w="57150" h="419100">
                  <a:moveTo>
                    <a:pt x="19050" y="0"/>
                  </a:moveTo>
                  <a:lnTo>
                    <a:pt x="38100" y="0"/>
                  </a:lnTo>
                  <a:cubicBezTo>
                    <a:pt x="48621" y="0"/>
                    <a:pt x="57150" y="8529"/>
                    <a:pt x="57150" y="19050"/>
                  </a:cubicBezTo>
                  <a:lnTo>
                    <a:pt x="57150" y="400050"/>
                  </a:lnTo>
                  <a:cubicBezTo>
                    <a:pt x="57150" y="410571"/>
                    <a:pt x="48621" y="419100"/>
                    <a:pt x="38100" y="419100"/>
                  </a:cubicBezTo>
                  <a:lnTo>
                    <a:pt x="19050" y="419100"/>
                  </a:lnTo>
                  <a:cubicBezTo>
                    <a:pt x="8529" y="419100"/>
                    <a:pt x="0" y="410571"/>
                    <a:pt x="0" y="400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7710" y="518160"/>
              <a:ext cx="501649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优势详解 ·</a:t>
              </a:r>
              <a:r>
                <a:rPr lang="zh-CN" sz="27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协作</a:t>
              </a:r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·</a:t>
              </a:r>
              <a:r>
                <a:rPr lang="zh-CN" sz="27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技术</a:t>
              </a:r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·</a:t>
              </a:r>
              <a:r>
                <a:rPr lang="zh-CN" sz="27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生态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965835"/>
              <a:ext cx="51305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第 5-7 项优势 · Git 友好、代码与公式原生支持、应用范围全覆盖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1476375"/>
            <a:ext cx="3619500" cy="4524375"/>
            <a:chOff x="571500" y="1476375"/>
            <a:chExt cx="3619500" cy="4524375"/>
          </a:xfrm>
        </p:grpSpPr>
        <p:sp>
          <p:nvSpPr>
            <p:cNvPr id="7" name="Freeform 7"/>
            <p:cNvSpPr/>
            <p:nvPr/>
          </p:nvSpPr>
          <p:spPr>
            <a:xfrm>
              <a:off x="571500" y="1476375"/>
              <a:ext cx="3619500" cy="4524375"/>
            </a:xfrm>
            <a:custGeom>
              <a:avLst/>
              <a:gdLst/>
              <a:ahLst/>
              <a:cxnLst/>
              <a:rect l="l" t="t" r="r" b="b"/>
              <a:pathLst>
                <a:path w="3619500" h="4524375">
                  <a:moveTo>
                    <a:pt x="114300" y="0"/>
                  </a:moveTo>
                  <a:lnTo>
                    <a:pt x="3505200" y="0"/>
                  </a:lnTo>
                  <a:cubicBezTo>
                    <a:pt x="3568326" y="0"/>
                    <a:pt x="3619500" y="51174"/>
                    <a:pt x="3619500" y="114300"/>
                  </a:cubicBezTo>
                  <a:lnTo>
                    <a:pt x="3619500" y="4410075"/>
                  </a:lnTo>
                  <a:cubicBezTo>
                    <a:pt x="3619500" y="4473201"/>
                    <a:pt x="3568326" y="4524375"/>
                    <a:pt x="3505200" y="4524375"/>
                  </a:cubicBezTo>
                  <a:lnTo>
                    <a:pt x="114300" y="4524375"/>
                  </a:lnTo>
                  <a:cubicBezTo>
                    <a:pt x="51174" y="4524375"/>
                    <a:pt x="0" y="4473201"/>
                    <a:pt x="0" y="441007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476375"/>
              <a:ext cx="3619500" cy="57150"/>
            </a:xfrm>
            <a:custGeom>
              <a:avLst/>
              <a:gdLst/>
              <a:ahLst/>
              <a:cxnLst/>
              <a:rect l="l" t="t" r="r" b="b"/>
              <a:pathLst>
                <a:path w="3619500" h="57150">
                  <a:moveTo>
                    <a:pt x="28575" y="0"/>
                  </a:moveTo>
                  <a:lnTo>
                    <a:pt x="3590925" y="0"/>
                  </a:lnTo>
                  <a:cubicBezTo>
                    <a:pt x="3606707" y="0"/>
                    <a:pt x="3619500" y="12793"/>
                    <a:pt x="3619500" y="28575"/>
                  </a:cubicBezTo>
                  <a:lnTo>
                    <a:pt x="3619500" y="28575"/>
                  </a:lnTo>
                  <a:cubicBezTo>
                    <a:pt x="3619500" y="44357"/>
                    <a:pt x="3606707" y="57150"/>
                    <a:pt x="3590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44562" y="1879600"/>
              <a:ext cx="261938" cy="279400"/>
              <a:chOff x="944562" y="1879600"/>
              <a:chExt cx="261938" cy="279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44562" y="2089150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44562" y="1879600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19188" y="1879600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79488" y="1949450"/>
                <a:ext cx="952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9700">
                    <a:moveTo>
                      <a:pt x="0" y="0"/>
                    </a:moveTo>
                    <a:lnTo>
                      <a:pt x="0" y="1397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14412" y="2001838"/>
                <a:ext cx="139700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22238">
                    <a:moveTo>
                      <a:pt x="0" y="122238"/>
                    </a:moveTo>
                    <a:lnTo>
                      <a:pt x="104775" y="122238"/>
                    </a:lnTo>
                    <a:cubicBezTo>
                      <a:pt x="124064" y="122238"/>
                      <a:pt x="139700" y="106601"/>
                      <a:pt x="139700" y="87313"/>
                    </a:cubicBezTo>
                    <a:lnTo>
                      <a:pt x="1397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01725" y="2001838"/>
                <a:ext cx="104775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52388">
                    <a:moveTo>
                      <a:pt x="0" y="52388"/>
                    </a:moveTo>
                    <a:lnTo>
                      <a:pt x="52388" y="0"/>
                    </a:lnTo>
                    <a:lnTo>
                      <a:pt x="104775" y="52388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44868" y="2561749"/>
              <a:ext cx="9742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ADVANTAGE 05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2485" y="2742248"/>
              <a:ext cx="163442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版本控制 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2485" y="302799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团队协作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57250" y="3429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rgbClr val="06B6D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2962" y="3688556"/>
              <a:ext cx="1737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纯文本与</a:t>
              </a:r>
              <a:r>
                <a:rPr lang="zh-CN" sz="112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Git</a:t>
              </a:r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完美配合，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2962" y="3926681"/>
              <a:ext cx="16634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不同版本</a:t>
              </a:r>
              <a:r>
                <a:rPr lang="zh-CN" sz="112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diff</a:t>
              </a:r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一目了然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4868" y="4352449"/>
              <a:ext cx="11237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GITHUB 中常用于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876300" y="4572000"/>
              <a:ext cx="114300" cy="114300"/>
              <a:chOff x="876300" y="4572000"/>
              <a:chExt cx="114300" cy="1143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76300" y="45720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14400" y="4616450"/>
                <a:ext cx="381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5400">
                    <a:moveTo>
                      <a:pt x="0" y="12700"/>
                    </a:moveTo>
                    <a:lnTo>
                      <a:pt x="12700" y="25400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53465" y="4563428"/>
              <a:ext cx="916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README 文档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876300" y="4810125"/>
              <a:ext cx="114300" cy="114300"/>
              <a:chOff x="876300" y="4810125"/>
              <a:chExt cx="114300" cy="1143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76300" y="4810125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14400" y="4854575"/>
                <a:ext cx="381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5400">
                    <a:moveTo>
                      <a:pt x="0" y="12700"/>
                    </a:moveTo>
                    <a:lnTo>
                      <a:pt x="12700" y="25400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53465" y="48015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项目说明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876300" y="5048250"/>
              <a:ext cx="114300" cy="114300"/>
              <a:chOff x="876300" y="5048250"/>
              <a:chExt cx="114300" cy="1143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76300" y="50482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14400" y="5092700"/>
                <a:ext cx="381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5400">
                    <a:moveTo>
                      <a:pt x="0" y="12700"/>
                    </a:moveTo>
                    <a:lnTo>
                      <a:pt x="12700" y="25400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53465" y="5039678"/>
              <a:ext cx="5940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API 文档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876300" y="5286375"/>
              <a:ext cx="114300" cy="114300"/>
              <a:chOff x="876300" y="5286375"/>
              <a:chExt cx="114300" cy="1143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76300" y="5286375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14400" y="5330825"/>
                <a:ext cx="381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5400">
                    <a:moveTo>
                      <a:pt x="0" y="12700"/>
                    </a:moveTo>
                    <a:lnTo>
                      <a:pt x="12700" y="25400"/>
                    </a:ln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53465" y="52778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开发指南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881062" y="5689600"/>
              <a:ext cx="134938" cy="144462"/>
            </a:xfrm>
            <a:custGeom>
              <a:avLst/>
              <a:gdLst/>
              <a:ahLst/>
              <a:cxnLst/>
              <a:rect l="l" t="t" r="r" b="b"/>
              <a:pathLst>
                <a:path w="134938" h="144462">
                  <a:moveTo>
                    <a:pt x="47625" y="128588"/>
                  </a:moveTo>
                  <a:cubicBezTo>
                    <a:pt x="13494" y="139700"/>
                    <a:pt x="13494" y="108744"/>
                    <a:pt x="0" y="104775"/>
                  </a:cubicBezTo>
                  <a:moveTo>
                    <a:pt x="95250" y="144462"/>
                  </a:moveTo>
                  <a:lnTo>
                    <a:pt x="95250" y="116681"/>
                  </a:lnTo>
                  <a:cubicBezTo>
                    <a:pt x="95250" y="108744"/>
                    <a:pt x="96044" y="105569"/>
                    <a:pt x="91281" y="100806"/>
                  </a:cubicBezTo>
                  <a:cubicBezTo>
                    <a:pt x="113506" y="98425"/>
                    <a:pt x="134938" y="89694"/>
                    <a:pt x="134938" y="53181"/>
                  </a:cubicBezTo>
                  <a:cubicBezTo>
                    <a:pt x="134928" y="43696"/>
                    <a:pt x="131227" y="34586"/>
                    <a:pt x="124619" y="27781"/>
                  </a:cubicBezTo>
                  <a:cubicBezTo>
                    <a:pt x="127718" y="19542"/>
                    <a:pt x="127433" y="10411"/>
                    <a:pt x="123825" y="2381"/>
                  </a:cubicBezTo>
                  <a:cubicBezTo>
                    <a:pt x="123825" y="2381"/>
                    <a:pt x="115094" y="0"/>
                    <a:pt x="96044" y="12700"/>
                  </a:cubicBezTo>
                  <a:cubicBezTo>
                    <a:pt x="79909" y="8498"/>
                    <a:pt x="62966" y="8498"/>
                    <a:pt x="46831" y="12700"/>
                  </a:cubicBezTo>
                  <a:cubicBezTo>
                    <a:pt x="27781" y="0"/>
                    <a:pt x="19050" y="2381"/>
                    <a:pt x="19050" y="2381"/>
                  </a:cubicBezTo>
                  <a:cubicBezTo>
                    <a:pt x="15442" y="10411"/>
                    <a:pt x="15157" y="19542"/>
                    <a:pt x="18256" y="27781"/>
                  </a:cubicBezTo>
                  <a:cubicBezTo>
                    <a:pt x="11648" y="34586"/>
                    <a:pt x="7947" y="43696"/>
                    <a:pt x="7937" y="53181"/>
                  </a:cubicBezTo>
                  <a:cubicBezTo>
                    <a:pt x="7937" y="89694"/>
                    <a:pt x="29369" y="98425"/>
                    <a:pt x="51594" y="100806"/>
                  </a:cubicBezTo>
                  <a:cubicBezTo>
                    <a:pt x="46831" y="105569"/>
                    <a:pt x="46831" y="110331"/>
                    <a:pt x="47625" y="116681"/>
                  </a:cubicBezTo>
                  <a:lnTo>
                    <a:pt x="47625" y="144462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92518" y="5704999"/>
              <a:ext cx="16409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GitHub 项目主流文档格式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286250" y="1476375"/>
            <a:ext cx="3619500" cy="4524375"/>
            <a:chOff x="4286250" y="1476375"/>
            <a:chExt cx="3619500" cy="4524375"/>
          </a:xfrm>
        </p:grpSpPr>
        <p:sp>
          <p:nvSpPr>
            <p:cNvPr id="42" name="Freeform 42"/>
            <p:cNvSpPr/>
            <p:nvPr/>
          </p:nvSpPr>
          <p:spPr>
            <a:xfrm>
              <a:off x="4286250" y="1476375"/>
              <a:ext cx="3619500" cy="4524375"/>
            </a:xfrm>
            <a:custGeom>
              <a:avLst/>
              <a:gdLst/>
              <a:ahLst/>
              <a:cxnLst/>
              <a:rect l="l" t="t" r="r" b="b"/>
              <a:pathLst>
                <a:path w="3619500" h="4524375">
                  <a:moveTo>
                    <a:pt x="114300" y="0"/>
                  </a:moveTo>
                  <a:lnTo>
                    <a:pt x="3505200" y="0"/>
                  </a:lnTo>
                  <a:cubicBezTo>
                    <a:pt x="3568326" y="0"/>
                    <a:pt x="3619500" y="51174"/>
                    <a:pt x="3619500" y="114300"/>
                  </a:cubicBezTo>
                  <a:lnTo>
                    <a:pt x="3619500" y="4410075"/>
                  </a:lnTo>
                  <a:cubicBezTo>
                    <a:pt x="3619500" y="4473201"/>
                    <a:pt x="3568326" y="4524375"/>
                    <a:pt x="3505200" y="4524375"/>
                  </a:cubicBezTo>
                  <a:lnTo>
                    <a:pt x="114300" y="4524375"/>
                  </a:lnTo>
                  <a:cubicBezTo>
                    <a:pt x="51174" y="4524375"/>
                    <a:pt x="0" y="4473201"/>
                    <a:pt x="0" y="441007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4286250" y="1476375"/>
              <a:ext cx="3619500" cy="57150"/>
            </a:xfrm>
            <a:custGeom>
              <a:avLst/>
              <a:gdLst/>
              <a:ahLst/>
              <a:cxnLst/>
              <a:rect l="l" t="t" r="r" b="b"/>
              <a:pathLst>
                <a:path w="3619500" h="57150">
                  <a:moveTo>
                    <a:pt x="28575" y="0"/>
                  </a:moveTo>
                  <a:lnTo>
                    <a:pt x="3590925" y="0"/>
                  </a:lnTo>
                  <a:cubicBezTo>
                    <a:pt x="3606707" y="0"/>
                    <a:pt x="3619500" y="12793"/>
                    <a:pt x="3619500" y="28575"/>
                  </a:cubicBezTo>
                  <a:lnTo>
                    <a:pt x="3619500" y="28575"/>
                  </a:lnTo>
                  <a:cubicBezTo>
                    <a:pt x="3619500" y="44357"/>
                    <a:pt x="3606707" y="57150"/>
                    <a:pt x="3590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4624388" y="1879600"/>
              <a:ext cx="314324" cy="279400"/>
              <a:chOff x="4624388" y="1879600"/>
              <a:chExt cx="314324" cy="2794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624388" y="1879600"/>
                <a:ext cx="6985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279400">
                    <a:moveTo>
                      <a:pt x="69850" y="0"/>
                    </a:moveTo>
                    <a:cubicBezTo>
                      <a:pt x="50561" y="0"/>
                      <a:pt x="34925" y="15636"/>
                      <a:pt x="34925" y="34925"/>
                    </a:cubicBezTo>
                    <a:lnTo>
                      <a:pt x="34925" y="87312"/>
                    </a:lnTo>
                    <a:cubicBezTo>
                      <a:pt x="34925" y="116245"/>
                      <a:pt x="19289" y="139700"/>
                      <a:pt x="0" y="139700"/>
                    </a:cubicBezTo>
                    <a:cubicBezTo>
                      <a:pt x="19289" y="139700"/>
                      <a:pt x="34925" y="163155"/>
                      <a:pt x="34925" y="192087"/>
                    </a:cubicBezTo>
                    <a:lnTo>
                      <a:pt x="34925" y="244475"/>
                    </a:lnTo>
                    <a:cubicBezTo>
                      <a:pt x="34925" y="263764"/>
                      <a:pt x="50561" y="279400"/>
                      <a:pt x="69850" y="27940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868862" y="1879600"/>
                <a:ext cx="6985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279400">
                    <a:moveTo>
                      <a:pt x="0" y="0"/>
                    </a:moveTo>
                    <a:cubicBezTo>
                      <a:pt x="19289" y="0"/>
                      <a:pt x="34925" y="15636"/>
                      <a:pt x="34925" y="34925"/>
                    </a:cubicBezTo>
                    <a:lnTo>
                      <a:pt x="34925" y="87312"/>
                    </a:lnTo>
                    <a:cubicBezTo>
                      <a:pt x="34925" y="116245"/>
                      <a:pt x="50561" y="139700"/>
                      <a:pt x="69850" y="139700"/>
                    </a:cubicBezTo>
                    <a:cubicBezTo>
                      <a:pt x="50561" y="139700"/>
                      <a:pt x="34925" y="163155"/>
                      <a:pt x="34925" y="192087"/>
                    </a:cubicBezTo>
                    <a:lnTo>
                      <a:pt x="34925" y="244475"/>
                    </a:lnTo>
                    <a:cubicBezTo>
                      <a:pt x="34925" y="263764"/>
                      <a:pt x="19289" y="279400"/>
                      <a:pt x="0" y="27940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4559618" y="2561749"/>
              <a:ext cx="9742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ADVANTAGE 06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547235" y="2742248"/>
              <a:ext cx="103635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代码 与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47235" y="302799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数学公式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4572000" y="3429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557712" y="36885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原生支持</a:t>
              </a:r>
              <a:r>
                <a:rPr lang="zh-CN" sz="112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代码块</a:t>
              </a:r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557712" y="3926681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对技术文档与科研写作友好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4572000" y="4238625"/>
              <a:ext cx="3048000" cy="762000"/>
            </a:xfrm>
            <a:custGeom>
              <a:avLst/>
              <a:gdLst/>
              <a:ahLst/>
              <a:cxnLst/>
              <a:rect l="l" t="t" r="r" b="b"/>
              <a:pathLst>
                <a:path w="3048000" h="762000">
                  <a:moveTo>
                    <a:pt x="76200" y="0"/>
                  </a:moveTo>
                  <a:lnTo>
                    <a:pt x="2971800" y="0"/>
                  </a:lnTo>
                  <a:cubicBezTo>
                    <a:pt x="3013884" y="0"/>
                    <a:pt x="3048000" y="34116"/>
                    <a:pt x="3048000" y="76200"/>
                  </a:cubicBezTo>
                  <a:lnTo>
                    <a:pt x="3048000" y="685800"/>
                  </a:lnTo>
                  <a:cubicBezTo>
                    <a:pt x="3048000" y="727884"/>
                    <a:pt x="3013884" y="762000"/>
                    <a:pt x="2971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702492" y="4352449"/>
              <a:ext cx="4946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python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01540" y="4572952"/>
              <a:ext cx="8777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def</a:t>
              </a:r>
              <a:r>
                <a:rPr lang="zh-CN" sz="105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hello():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701540" y="4782502"/>
              <a:ext cx="10924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print(</a:t>
              </a:r>
              <a:r>
                <a:rPr lang="zh-CN" sz="1050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"Hello"</a:t>
              </a:r>
              <a:r>
                <a:rPr lang="zh-CN" sz="105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)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4572000" y="5143500"/>
              <a:ext cx="3048000" cy="533400"/>
            </a:xfrm>
            <a:custGeom>
              <a:avLst/>
              <a:gdLst/>
              <a:ahLst/>
              <a:cxnLst/>
              <a:rect l="l" t="t" r="r" b="b"/>
              <a:pathLst>
                <a:path w="3048000" h="533400">
                  <a:moveTo>
                    <a:pt x="76200" y="0"/>
                  </a:moveTo>
                  <a:lnTo>
                    <a:pt x="2971800" y="0"/>
                  </a:lnTo>
                  <a:cubicBezTo>
                    <a:pt x="3013884" y="0"/>
                    <a:pt x="3048000" y="34116"/>
                    <a:pt x="3048000" y="76200"/>
                  </a:cubicBezTo>
                  <a:lnTo>
                    <a:pt x="3048000" y="457200"/>
                  </a:lnTo>
                  <a:cubicBezTo>
                    <a:pt x="3048000" y="499284"/>
                    <a:pt x="3013884" y="533400"/>
                    <a:pt x="2971800" y="533400"/>
                  </a:cubicBezTo>
                  <a:lnTo>
                    <a:pt x="76200" y="533400"/>
                  </a:lnTo>
                  <a:cubicBezTo>
                    <a:pt x="34116" y="533400"/>
                    <a:pt x="0" y="499284"/>
                    <a:pt x="0" y="4572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565C0">
                <a:alpha val="8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702492" y="5219224"/>
              <a:ext cx="3807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latex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697730" y="5426392"/>
              <a:ext cx="11108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$E = mc^2$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559618" y="580024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多数编辑器可直接渲染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001000" y="1476375"/>
            <a:ext cx="3619500" cy="4524375"/>
            <a:chOff x="8001000" y="1476375"/>
            <a:chExt cx="3619500" cy="4524375"/>
          </a:xfrm>
        </p:grpSpPr>
        <p:sp>
          <p:nvSpPr>
            <p:cNvPr id="62" name="Freeform 62"/>
            <p:cNvSpPr/>
            <p:nvPr/>
          </p:nvSpPr>
          <p:spPr>
            <a:xfrm>
              <a:off x="8001000" y="1476375"/>
              <a:ext cx="3619500" cy="4524375"/>
            </a:xfrm>
            <a:custGeom>
              <a:avLst/>
              <a:gdLst/>
              <a:ahLst/>
              <a:cxnLst/>
              <a:rect l="l" t="t" r="r" b="b"/>
              <a:pathLst>
                <a:path w="3619500" h="4524375">
                  <a:moveTo>
                    <a:pt x="114300" y="0"/>
                  </a:moveTo>
                  <a:lnTo>
                    <a:pt x="3505200" y="0"/>
                  </a:lnTo>
                  <a:cubicBezTo>
                    <a:pt x="3568326" y="0"/>
                    <a:pt x="3619500" y="51174"/>
                    <a:pt x="3619500" y="114300"/>
                  </a:cubicBezTo>
                  <a:lnTo>
                    <a:pt x="3619500" y="4410075"/>
                  </a:lnTo>
                  <a:cubicBezTo>
                    <a:pt x="3619500" y="4473201"/>
                    <a:pt x="3568326" y="4524375"/>
                    <a:pt x="3505200" y="4524375"/>
                  </a:cubicBezTo>
                  <a:lnTo>
                    <a:pt x="114300" y="4524375"/>
                  </a:lnTo>
                  <a:cubicBezTo>
                    <a:pt x="51174" y="4524375"/>
                    <a:pt x="0" y="4473201"/>
                    <a:pt x="0" y="441007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8001000" y="1476375"/>
              <a:ext cx="3619500" cy="57150"/>
            </a:xfrm>
            <a:custGeom>
              <a:avLst/>
              <a:gdLst/>
              <a:ahLst/>
              <a:cxnLst/>
              <a:rect l="l" t="t" r="r" b="b"/>
              <a:pathLst>
                <a:path w="3619500" h="57150">
                  <a:moveTo>
                    <a:pt x="28575" y="0"/>
                  </a:moveTo>
                  <a:lnTo>
                    <a:pt x="3590925" y="0"/>
                  </a:lnTo>
                  <a:cubicBezTo>
                    <a:pt x="3606707" y="0"/>
                    <a:pt x="3619500" y="12793"/>
                    <a:pt x="3619500" y="28575"/>
                  </a:cubicBezTo>
                  <a:lnTo>
                    <a:pt x="3619500" y="28575"/>
                  </a:lnTo>
                  <a:cubicBezTo>
                    <a:pt x="3619500" y="44357"/>
                    <a:pt x="3606707" y="57150"/>
                    <a:pt x="3590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8339138" y="1862138"/>
              <a:ext cx="314325" cy="314325"/>
              <a:chOff x="8339138" y="1862138"/>
              <a:chExt cx="314325" cy="3143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339138" y="1862138"/>
                <a:ext cx="3143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14325">
                    <a:moveTo>
                      <a:pt x="0" y="157162"/>
                    </a:moveTo>
                    <a:cubicBezTo>
                      <a:pt x="0" y="243961"/>
                      <a:pt x="70364" y="314325"/>
                      <a:pt x="157162" y="314325"/>
                    </a:cubicBezTo>
                    <a:cubicBezTo>
                      <a:pt x="243961" y="314325"/>
                      <a:pt x="314325" y="243961"/>
                      <a:pt x="314325" y="157162"/>
                    </a:cubicBezTo>
                    <a:cubicBezTo>
                      <a:pt x="314325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19050">
                <a:solidFill>
                  <a:srgbClr val="0F172A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49615" y="1966912"/>
                <a:ext cx="29337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3370" h="9525">
                    <a:moveTo>
                      <a:pt x="0" y="0"/>
                    </a:moveTo>
                    <a:lnTo>
                      <a:pt x="293370" y="0"/>
                    </a:lnTo>
                  </a:path>
                </a:pathLst>
              </a:custGeom>
              <a:noFill/>
              <a:ln w="19050">
                <a:solidFill>
                  <a:srgbClr val="0F172A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49615" y="2071688"/>
                <a:ext cx="29337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3370" h="9525">
                    <a:moveTo>
                      <a:pt x="0" y="0"/>
                    </a:moveTo>
                    <a:lnTo>
                      <a:pt x="293370" y="0"/>
                    </a:lnTo>
                  </a:path>
                </a:pathLst>
              </a:custGeom>
              <a:noFill/>
              <a:ln w="19050">
                <a:solidFill>
                  <a:srgbClr val="0F172A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427549" y="1862138"/>
                <a:ext cx="6002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60020" h="314325">
                    <a:moveTo>
                      <a:pt x="60020" y="0"/>
                    </a:moveTo>
                    <a:cubicBezTo>
                      <a:pt x="0" y="96180"/>
                      <a:pt x="0" y="218145"/>
                      <a:pt x="60020" y="314325"/>
                    </a:cubicBezTo>
                  </a:path>
                </a:pathLst>
              </a:custGeom>
              <a:noFill/>
              <a:ln w="19050">
                <a:solidFill>
                  <a:srgbClr val="0F172A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505031" y="1862138"/>
                <a:ext cx="6002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60020" h="314325">
                    <a:moveTo>
                      <a:pt x="0" y="0"/>
                    </a:moveTo>
                    <a:cubicBezTo>
                      <a:pt x="60020" y="96180"/>
                      <a:pt x="60020" y="218145"/>
                      <a:pt x="0" y="314325"/>
                    </a:cubicBezTo>
                  </a:path>
                </a:pathLst>
              </a:custGeom>
              <a:noFill/>
              <a:ln w="19050">
                <a:solidFill>
                  <a:srgbClr val="0F172A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8274368" y="2561749"/>
              <a:ext cx="9742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ADVANTAGE 07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61985" y="27422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应用范围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61985" y="302799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广泛覆盖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8286750" y="34290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rgbClr val="06B6D4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272462" y="36885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已成为</a:t>
              </a:r>
              <a:r>
                <a:rPr lang="zh-CN" sz="112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技术领域最常见</a:t>
              </a:r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的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272462" y="3926681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文档格式之一</a:t>
              </a:r>
            </a:p>
          </p:txBody>
        </p:sp>
        <p:grpSp>
          <p:nvGrpSpPr>
            <p:cNvPr id="88" name="Group 88"/>
            <p:cNvGrpSpPr/>
            <p:nvPr/>
          </p:nvGrpSpPr>
          <p:grpSpPr>
            <a:xfrm>
              <a:off x="8286750" y="4286250"/>
              <a:ext cx="3048000" cy="635794"/>
              <a:chOff x="8286750" y="4286250"/>
              <a:chExt cx="3048000" cy="635794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8286750" y="4286250"/>
                <a:ext cx="8572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266700">
                    <a:moveTo>
                      <a:pt x="133350" y="0"/>
                    </a:moveTo>
                    <a:lnTo>
                      <a:pt x="723900" y="0"/>
                    </a:lnTo>
                    <a:cubicBezTo>
                      <a:pt x="797547" y="0"/>
                      <a:pt x="857250" y="59703"/>
                      <a:pt x="857250" y="133350"/>
                    </a:cubicBezTo>
                    <a:lnTo>
                      <a:pt x="857250" y="133350"/>
                    </a:lnTo>
                    <a:cubicBezTo>
                      <a:pt x="857250" y="206997"/>
                      <a:pt x="797547" y="266700"/>
                      <a:pt x="723900" y="266700"/>
                    </a:cubicBezTo>
                    <a:lnTo>
                      <a:pt x="133350" y="266700"/>
                    </a:lnTo>
                    <a:cubicBezTo>
                      <a:pt x="59703" y="266700"/>
                      <a:pt x="0" y="206997"/>
                      <a:pt x="0" y="1333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1565C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03955" y="4361974"/>
                <a:ext cx="622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565C0"/>
                    </a:solidFill>
                    <a:latin typeface="Segoe UI"/>
                    <a:ea typeface="Microsoft YaHei"/>
                    <a:cs typeface="Segoe UI"/>
                  </a:rPr>
                  <a:t>技术博客</a:t>
                </a:r>
              </a:p>
            </p:txBody>
          </p:sp>
          <p:sp>
            <p:nvSpPr>
              <p:cNvPr id="78" name="Freeform 78"/>
              <p:cNvSpPr/>
              <p:nvPr/>
            </p:nvSpPr>
            <p:spPr>
              <a:xfrm>
                <a:off x="9239250" y="4286250"/>
                <a:ext cx="8572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266700">
                    <a:moveTo>
                      <a:pt x="133350" y="0"/>
                    </a:moveTo>
                    <a:lnTo>
                      <a:pt x="723900" y="0"/>
                    </a:lnTo>
                    <a:cubicBezTo>
                      <a:pt x="797547" y="0"/>
                      <a:pt x="857250" y="59703"/>
                      <a:pt x="857250" y="133350"/>
                    </a:cubicBezTo>
                    <a:lnTo>
                      <a:pt x="857250" y="133350"/>
                    </a:lnTo>
                    <a:cubicBezTo>
                      <a:pt x="857250" y="206997"/>
                      <a:pt x="797547" y="266700"/>
                      <a:pt x="723900" y="266700"/>
                    </a:cubicBezTo>
                    <a:lnTo>
                      <a:pt x="133350" y="266700"/>
                    </a:lnTo>
                    <a:cubicBezTo>
                      <a:pt x="59703" y="266700"/>
                      <a:pt x="0" y="206997"/>
                      <a:pt x="0" y="1333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1565C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9356455" y="4361974"/>
                <a:ext cx="622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565C0"/>
                    </a:solidFill>
                    <a:latin typeface="Segoe UI"/>
                    <a:ea typeface="Microsoft YaHei"/>
                    <a:cs typeface="Segoe UI"/>
                  </a:rPr>
                  <a:t>科研笔记</a:t>
                </a:r>
              </a:p>
            </p:txBody>
          </p:sp>
          <p:sp>
            <p:nvSpPr>
              <p:cNvPr id="80" name="Freeform 80"/>
              <p:cNvSpPr/>
              <p:nvPr/>
            </p:nvSpPr>
            <p:spPr>
              <a:xfrm>
                <a:off x="10191750" y="4286250"/>
                <a:ext cx="11430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66700">
                    <a:moveTo>
                      <a:pt x="133350" y="0"/>
                    </a:moveTo>
                    <a:lnTo>
                      <a:pt x="1009650" y="0"/>
                    </a:lnTo>
                    <a:cubicBezTo>
                      <a:pt x="1083297" y="0"/>
                      <a:pt x="1143000" y="59703"/>
                      <a:pt x="1143000" y="133350"/>
                    </a:cubicBezTo>
                    <a:lnTo>
                      <a:pt x="1143000" y="133350"/>
                    </a:lnTo>
                    <a:cubicBezTo>
                      <a:pt x="1143000" y="206997"/>
                      <a:pt x="1083297" y="266700"/>
                      <a:pt x="1009650" y="266700"/>
                    </a:cubicBezTo>
                    <a:lnTo>
                      <a:pt x="133350" y="266700"/>
                    </a:lnTo>
                    <a:cubicBezTo>
                      <a:pt x="59703" y="266700"/>
                      <a:pt x="0" y="206997"/>
                      <a:pt x="0" y="1333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06B6D4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10302311" y="4361974"/>
                <a:ext cx="92187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6B6D4"/>
                    </a:solidFill>
                    <a:latin typeface="Segoe UI"/>
                    <a:ea typeface="Microsoft YaHei"/>
                    <a:cs typeface="Segoe UI"/>
                  </a:rPr>
                  <a:t>软件说明文档</a:t>
                </a:r>
              </a:p>
            </p:txBody>
          </p:sp>
          <p:sp>
            <p:nvSpPr>
              <p:cNvPr id="82" name="Freeform 82"/>
              <p:cNvSpPr/>
              <p:nvPr/>
            </p:nvSpPr>
            <p:spPr>
              <a:xfrm>
                <a:off x="8286750" y="4648200"/>
                <a:ext cx="11430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66700">
                    <a:moveTo>
                      <a:pt x="133350" y="0"/>
                    </a:moveTo>
                    <a:lnTo>
                      <a:pt x="1009650" y="0"/>
                    </a:lnTo>
                    <a:cubicBezTo>
                      <a:pt x="1083297" y="0"/>
                      <a:pt x="1143000" y="59703"/>
                      <a:pt x="1143000" y="133350"/>
                    </a:cubicBezTo>
                    <a:lnTo>
                      <a:pt x="1143000" y="133350"/>
                    </a:lnTo>
                    <a:cubicBezTo>
                      <a:pt x="1143000" y="206997"/>
                      <a:pt x="1083297" y="266700"/>
                      <a:pt x="1009650" y="266700"/>
                    </a:cubicBezTo>
                    <a:lnTo>
                      <a:pt x="133350" y="266700"/>
                    </a:lnTo>
                    <a:cubicBezTo>
                      <a:pt x="59703" y="266700"/>
                      <a:pt x="0" y="206997"/>
                      <a:pt x="0" y="1333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06B6D4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8460857" y="4723924"/>
                <a:ext cx="79478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6B6D4"/>
                    </a:solidFill>
                    <a:latin typeface="Segoe UI"/>
                    <a:ea typeface="Microsoft YaHei"/>
                    <a:cs typeface="Segoe UI"/>
                  </a:rPr>
                  <a:t>AI 项目文档</a:t>
                </a:r>
              </a:p>
            </p:txBody>
          </p:sp>
          <p:sp>
            <p:nvSpPr>
              <p:cNvPr id="84" name="Freeform 84"/>
              <p:cNvSpPr/>
              <p:nvPr/>
            </p:nvSpPr>
            <p:spPr>
              <a:xfrm>
                <a:off x="9525000" y="4648200"/>
                <a:ext cx="7620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266700">
                    <a:moveTo>
                      <a:pt x="133350" y="0"/>
                    </a:moveTo>
                    <a:lnTo>
                      <a:pt x="628650" y="0"/>
                    </a:lnTo>
                    <a:cubicBezTo>
                      <a:pt x="702297" y="0"/>
                      <a:pt x="762000" y="59703"/>
                      <a:pt x="762000" y="133350"/>
                    </a:cubicBezTo>
                    <a:lnTo>
                      <a:pt x="762000" y="133350"/>
                    </a:lnTo>
                    <a:cubicBezTo>
                      <a:pt x="762000" y="206997"/>
                      <a:pt x="702297" y="266700"/>
                      <a:pt x="628650" y="266700"/>
                    </a:cubicBezTo>
                    <a:lnTo>
                      <a:pt x="133350" y="266700"/>
                    </a:lnTo>
                    <a:cubicBezTo>
                      <a:pt x="59703" y="266700"/>
                      <a:pt x="0" y="206997"/>
                      <a:pt x="0" y="1333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0F172A">
                  <a:alpha val="8000"/>
                </a:srgbClr>
              </a:solidFill>
              <a:ln>
                <a:noFill/>
              </a:ln>
            </p:spPr>
          </p:sp>
          <p:sp>
            <p:nvSpPr>
              <p:cNvPr id="85" name="TextBox 85"/>
              <p:cNvSpPr txBox="1"/>
              <p:nvPr/>
            </p:nvSpPr>
            <p:spPr>
              <a:xfrm>
                <a:off x="9665602" y="4723924"/>
                <a:ext cx="4807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Notion</a:t>
                </a:r>
              </a:p>
            </p:txBody>
          </p:sp>
          <p:sp>
            <p:nvSpPr>
              <p:cNvPr id="86" name="Freeform 86"/>
              <p:cNvSpPr/>
              <p:nvPr/>
            </p:nvSpPr>
            <p:spPr>
              <a:xfrm>
                <a:off x="10382250" y="4648200"/>
                <a:ext cx="9525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266700">
                    <a:moveTo>
                      <a:pt x="133350" y="0"/>
                    </a:moveTo>
                    <a:lnTo>
                      <a:pt x="819150" y="0"/>
                    </a:lnTo>
                    <a:cubicBezTo>
                      <a:pt x="892797" y="0"/>
                      <a:pt x="952500" y="59703"/>
                      <a:pt x="952500" y="133350"/>
                    </a:cubicBezTo>
                    <a:lnTo>
                      <a:pt x="952500" y="133350"/>
                    </a:lnTo>
                    <a:cubicBezTo>
                      <a:pt x="952500" y="206997"/>
                      <a:pt x="892797" y="266700"/>
                      <a:pt x="819150" y="266700"/>
                    </a:cubicBezTo>
                    <a:lnTo>
                      <a:pt x="133350" y="266700"/>
                    </a:lnTo>
                    <a:cubicBezTo>
                      <a:pt x="59703" y="266700"/>
                      <a:pt x="0" y="206997"/>
                      <a:pt x="0" y="1333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0F172A">
                  <a:alpha val="8000"/>
                </a:srgbClr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10539604" y="4723924"/>
                <a:ext cx="6377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Obsidian</a:t>
                </a:r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>
              <a:off x="8330406" y="5321300"/>
              <a:ext cx="122237" cy="157162"/>
              <a:chOff x="8330406" y="5321300"/>
              <a:chExt cx="122237" cy="157162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8330406" y="5321300"/>
                <a:ext cx="122237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57162">
                    <a:moveTo>
                      <a:pt x="8731" y="0"/>
                    </a:moveTo>
                    <a:lnTo>
                      <a:pt x="104775" y="0"/>
                    </a:lnTo>
                    <a:cubicBezTo>
                      <a:pt x="114419" y="0"/>
                      <a:pt x="122237" y="7818"/>
                      <a:pt x="122237" y="17463"/>
                    </a:cubicBezTo>
                    <a:lnTo>
                      <a:pt x="122237" y="122238"/>
                    </a:lnTo>
                    <a:cubicBezTo>
                      <a:pt x="122237" y="131882"/>
                      <a:pt x="114419" y="139700"/>
                      <a:pt x="104775" y="139700"/>
                    </a:cubicBezTo>
                    <a:lnTo>
                      <a:pt x="8731" y="139700"/>
                    </a:lnTo>
                    <a:cubicBezTo>
                      <a:pt x="3909" y="139700"/>
                      <a:pt x="0" y="135791"/>
                      <a:pt x="0" y="130969"/>
                    </a:cubicBezTo>
                    <a:lnTo>
                      <a:pt x="0" y="8731"/>
                    </a:lnTo>
                    <a:cubicBezTo>
                      <a:pt x="0" y="3909"/>
                      <a:pt x="3909" y="0"/>
                      <a:pt x="8731" y="0"/>
                    </a:cubicBezTo>
                    <a:moveTo>
                      <a:pt x="34925" y="0"/>
                    </a:moveTo>
                    <a:lnTo>
                      <a:pt x="34925" y="157162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400256" y="5356225"/>
                <a:ext cx="174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9525">
                    <a:moveTo>
                      <a:pt x="0" y="0"/>
                    </a:moveTo>
                    <a:lnTo>
                      <a:pt x="17463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400256" y="5391150"/>
                <a:ext cx="174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9525">
                    <a:moveTo>
                      <a:pt x="0" y="0"/>
                    </a:moveTo>
                    <a:lnTo>
                      <a:pt x="17463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8559165" y="53254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在线知识管理工具均内置支持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274368" y="5771674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→ 学了一次，处处可用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560070" y="6286500"/>
            <a:ext cx="11071860" cy="371475"/>
            <a:chOff x="560070" y="6286500"/>
            <a:chExt cx="11071860" cy="371475"/>
          </a:xfrm>
        </p:grpSpPr>
        <p:sp>
          <p:nvSpPr>
            <p:cNvPr id="96" name="Line 96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560070" y="647509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第 01 章 · 简介与优点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201590" y="647509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08 / 15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933450" y="933450"/>
            <a:ext cx="10706100" cy="5181600"/>
            <a:chOff x="933450" y="933450"/>
            <a:chExt cx="10706100" cy="5181600"/>
          </a:xfrm>
        </p:grpSpPr>
        <p:sp>
          <p:nvSpPr>
            <p:cNvPr id="3" name="Ellipse 3"/>
            <p:cNvSpPr/>
            <p:nvPr/>
          </p:nvSpPr>
          <p:spPr>
            <a:xfrm>
              <a:off x="933450" y="933450"/>
              <a:ext cx="38100" cy="38100"/>
            </a:xfrm>
            <a:prstGeom prst="ellipse">
              <a:avLst/>
            </a:prstGeom>
            <a:solidFill>
              <a:srgbClr val="06B6D4">
                <a:alpha val="3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504950" y="933450"/>
              <a:ext cx="38100" cy="38100"/>
            </a:xfrm>
            <a:prstGeom prst="ellipse">
              <a:avLst/>
            </a:prstGeom>
            <a:solidFill>
              <a:srgbClr val="06B6D4">
                <a:alpha val="20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076450" y="933450"/>
              <a:ext cx="38100" cy="38100"/>
            </a:xfrm>
            <a:prstGeom prst="ellipse">
              <a:avLst/>
            </a:prstGeom>
            <a:solidFill>
              <a:srgbClr val="06B6D4">
                <a:alpha val="15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933450" y="1504950"/>
              <a:ext cx="38100" cy="38100"/>
            </a:xfrm>
            <a:prstGeom prst="ellipse">
              <a:avLst/>
            </a:prstGeom>
            <a:solidFill>
              <a:srgbClr val="06B6D4">
                <a:alpha val="20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504950" y="1504950"/>
              <a:ext cx="38100" cy="38100"/>
            </a:xfrm>
            <a:prstGeom prst="ellipse">
              <a:avLst/>
            </a:prstGeom>
            <a:solidFill>
              <a:srgbClr val="06B6D4">
                <a:alpha val="15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458450" y="5695950"/>
              <a:ext cx="38100" cy="38100"/>
            </a:xfrm>
            <a:prstGeom prst="ellipse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029950" y="5695950"/>
              <a:ext cx="38100" cy="3810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458450" y="6076950"/>
              <a:ext cx="38100" cy="3810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1029950" y="6076950"/>
              <a:ext cx="38100" cy="38100"/>
            </a:xfrm>
            <a:prstGeom prst="ellipse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1601450" y="6076950"/>
              <a:ext cx="38100" cy="38100"/>
            </a:xfrm>
            <a:prstGeom prst="ellipse">
              <a:avLst/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52500" y="952500"/>
            <a:ext cx="1275481" cy="347662"/>
            <a:chOff x="952500" y="952500"/>
            <a:chExt cx="1275481" cy="347662"/>
          </a:xfrm>
        </p:grpSpPr>
        <p:sp>
          <p:nvSpPr>
            <p:cNvPr id="14" name="Freeform 14"/>
            <p:cNvSpPr/>
            <p:nvPr/>
          </p:nvSpPr>
          <p:spPr>
            <a:xfrm>
              <a:off x="952500" y="952500"/>
              <a:ext cx="57150" cy="266700"/>
            </a:xfrm>
            <a:custGeom>
              <a:avLst/>
              <a:gdLst/>
              <a:ahLst/>
              <a:cxnLst/>
              <a:rect l="l" t="t" r="r" b="b"/>
              <a:pathLst>
                <a:path w="57150" h="266700">
                  <a:moveTo>
                    <a:pt x="19050" y="0"/>
                  </a:moveTo>
                  <a:lnTo>
                    <a:pt x="38100" y="0"/>
                  </a:lnTo>
                  <a:cubicBezTo>
                    <a:pt x="48621" y="0"/>
                    <a:pt x="57150" y="8529"/>
                    <a:pt x="57150" y="19050"/>
                  </a:cubicBezTo>
                  <a:lnTo>
                    <a:pt x="57150" y="247650"/>
                  </a:lnTo>
                  <a:cubicBezTo>
                    <a:pt x="57150" y="258171"/>
                    <a:pt x="48621" y="266700"/>
                    <a:pt x="38100" y="266700"/>
                  </a:cubicBezTo>
                  <a:lnTo>
                    <a:pt x="19050" y="266700"/>
                  </a:lnTo>
                  <a:cubicBezTo>
                    <a:pt x="8529" y="266700"/>
                    <a:pt x="0" y="258171"/>
                    <a:pt x="0" y="2476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06805" y="1025842"/>
              <a:ext cx="11211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CHAPTER 02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2152650"/>
            <a:ext cx="8018145" cy="3657600"/>
            <a:chOff x="723900" y="2152650"/>
            <a:chExt cx="8018145" cy="3657600"/>
          </a:xfrm>
        </p:grpSpPr>
        <p:sp>
          <p:nvSpPr>
            <p:cNvPr id="17" name="TextBox 17"/>
            <p:cNvSpPr txBox="1"/>
            <p:nvPr/>
          </p:nvSpPr>
          <p:spPr>
            <a:xfrm>
              <a:off x="723900" y="2152650"/>
              <a:ext cx="3493579" cy="3657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0" b="1" dirty="0">
                  <a:gradFill>
                    <a:gsLst>
                      <a:gs pos="0">
                        <a:srgbClr val="06B6D4"/>
                      </a:gs>
                      <a:gs pos="100000">
                        <a:srgbClr val="1565C0"/>
                      </a:gs>
                    </a:gsLst>
                    <a:lin ang="2700000" scaled="1"/>
                  </a:gra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143500" y="2667000"/>
              <a:ext cx="38100" cy="1714500"/>
            </a:xfrm>
            <a:prstGeom prst="rect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71160" y="2689860"/>
              <a:ext cx="2683002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基本语法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01640" y="3472815"/>
              <a:ext cx="164934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Basic Syntax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05450" y="4076700"/>
              <a:ext cx="32365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2E8F0"/>
                  </a:solidFill>
                  <a:latin typeface="Segoe UI"/>
                  <a:ea typeface="Microsoft YaHei"/>
                  <a:cs typeface="Segoe UI"/>
                </a:rPr>
                <a:t>标题 · 段落 · 强调 · 列表 · 代码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52500" y="5524500"/>
            <a:ext cx="5524500" cy="342900"/>
            <a:chOff x="952500" y="5524500"/>
            <a:chExt cx="5524500" cy="342900"/>
          </a:xfrm>
        </p:grpSpPr>
        <p:sp>
          <p:nvSpPr>
            <p:cNvPr id="23" name="Freeform 23"/>
            <p:cNvSpPr/>
            <p:nvPr/>
          </p:nvSpPr>
          <p:spPr>
            <a:xfrm>
              <a:off x="952500" y="5524500"/>
              <a:ext cx="952500" cy="342900"/>
            </a:xfrm>
            <a:custGeom>
              <a:avLst/>
              <a:gdLst/>
              <a:ahLst/>
              <a:cxnLst/>
              <a:rect l="l" t="t" r="r" b="b"/>
              <a:pathLst>
                <a:path w="952500" h="342900">
                  <a:moveTo>
                    <a:pt x="171450" y="0"/>
                  </a:moveTo>
                  <a:lnTo>
                    <a:pt x="781050" y="0"/>
                  </a:lnTo>
                  <a:cubicBezTo>
                    <a:pt x="875739" y="0"/>
                    <a:pt x="952500" y="76761"/>
                    <a:pt x="952500" y="171450"/>
                  </a:cubicBezTo>
                  <a:lnTo>
                    <a:pt x="952500" y="171450"/>
                  </a:lnTo>
                  <a:cubicBezTo>
                    <a:pt x="952500" y="266139"/>
                    <a:pt x="875739" y="342900"/>
                    <a:pt x="7810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06B6D4">
                <a:alpha val="18000"/>
              </a:srgbClr>
            </a:solidFill>
            <a:ln w="9525">
              <a:solidFill>
                <a:srgbClr val="06B6D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51277" y="5623560"/>
              <a:ext cx="5549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# 标题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95500" y="5524500"/>
              <a:ext cx="952500" cy="342900"/>
            </a:xfrm>
            <a:custGeom>
              <a:avLst/>
              <a:gdLst/>
              <a:ahLst/>
              <a:cxnLst/>
              <a:rect l="l" t="t" r="r" b="b"/>
              <a:pathLst>
                <a:path w="952500" h="342900">
                  <a:moveTo>
                    <a:pt x="171450" y="0"/>
                  </a:moveTo>
                  <a:lnTo>
                    <a:pt x="781050" y="0"/>
                  </a:lnTo>
                  <a:cubicBezTo>
                    <a:pt x="875739" y="0"/>
                    <a:pt x="952500" y="76761"/>
                    <a:pt x="952500" y="171450"/>
                  </a:cubicBezTo>
                  <a:lnTo>
                    <a:pt x="952500" y="171450"/>
                  </a:lnTo>
                  <a:cubicBezTo>
                    <a:pt x="952500" y="266139"/>
                    <a:pt x="875739" y="342900"/>
                    <a:pt x="7810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06B6D4">
                <a:alpha val="18000"/>
              </a:srgbClr>
            </a:solidFill>
            <a:ln w="9525">
              <a:solidFill>
                <a:srgbClr val="06B6D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72487" y="562356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段落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3238500" y="5524500"/>
              <a:ext cx="952500" cy="342900"/>
            </a:xfrm>
            <a:custGeom>
              <a:avLst/>
              <a:gdLst/>
              <a:ahLst/>
              <a:cxnLst/>
              <a:rect l="l" t="t" r="r" b="b"/>
              <a:pathLst>
                <a:path w="952500" h="342900">
                  <a:moveTo>
                    <a:pt x="171450" y="0"/>
                  </a:moveTo>
                  <a:lnTo>
                    <a:pt x="781050" y="0"/>
                  </a:lnTo>
                  <a:cubicBezTo>
                    <a:pt x="875739" y="0"/>
                    <a:pt x="952500" y="76761"/>
                    <a:pt x="952500" y="171450"/>
                  </a:cubicBezTo>
                  <a:lnTo>
                    <a:pt x="952500" y="171450"/>
                  </a:lnTo>
                  <a:cubicBezTo>
                    <a:pt x="952500" y="266139"/>
                    <a:pt x="875739" y="342900"/>
                    <a:pt x="7810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06B6D4">
                <a:alpha val="18000"/>
              </a:srgbClr>
            </a:solidFill>
            <a:ln w="9525">
              <a:solidFill>
                <a:srgbClr val="06B6D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313062" y="5623560"/>
              <a:ext cx="8033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**强调**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4381500" y="5524500"/>
              <a:ext cx="952500" cy="342900"/>
            </a:xfrm>
            <a:custGeom>
              <a:avLst/>
              <a:gdLst/>
              <a:ahLst/>
              <a:cxnLst/>
              <a:rect l="l" t="t" r="r" b="b"/>
              <a:pathLst>
                <a:path w="952500" h="342900">
                  <a:moveTo>
                    <a:pt x="171450" y="0"/>
                  </a:moveTo>
                  <a:lnTo>
                    <a:pt x="781050" y="0"/>
                  </a:lnTo>
                  <a:cubicBezTo>
                    <a:pt x="875739" y="0"/>
                    <a:pt x="952500" y="76761"/>
                    <a:pt x="952500" y="171450"/>
                  </a:cubicBezTo>
                  <a:lnTo>
                    <a:pt x="952500" y="171450"/>
                  </a:lnTo>
                  <a:cubicBezTo>
                    <a:pt x="952500" y="266139"/>
                    <a:pt x="875739" y="342900"/>
                    <a:pt x="7810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06B6D4">
                <a:alpha val="18000"/>
              </a:srgbClr>
            </a:solidFill>
            <a:ln w="9525">
              <a:solidFill>
                <a:srgbClr val="06B6D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580277" y="5623560"/>
              <a:ext cx="5549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- 列表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5524500" y="5524500"/>
              <a:ext cx="952500" cy="342900"/>
            </a:xfrm>
            <a:custGeom>
              <a:avLst/>
              <a:gdLst/>
              <a:ahLst/>
              <a:cxnLst/>
              <a:rect l="l" t="t" r="r" b="b"/>
              <a:pathLst>
                <a:path w="952500" h="342900">
                  <a:moveTo>
                    <a:pt x="171450" y="0"/>
                  </a:moveTo>
                  <a:lnTo>
                    <a:pt x="781050" y="0"/>
                  </a:lnTo>
                  <a:cubicBezTo>
                    <a:pt x="875739" y="0"/>
                    <a:pt x="952500" y="76761"/>
                    <a:pt x="952500" y="171450"/>
                  </a:cubicBezTo>
                  <a:lnTo>
                    <a:pt x="952500" y="171450"/>
                  </a:lnTo>
                  <a:cubicBezTo>
                    <a:pt x="952500" y="266139"/>
                    <a:pt x="875739" y="342900"/>
                    <a:pt x="7810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06B6D4">
                <a:alpha val="18000"/>
              </a:srgbClr>
            </a:solidFill>
            <a:ln w="9525">
              <a:solidFill>
                <a:srgbClr val="06B6D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81872" y="5623560"/>
              <a:ext cx="6377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`code`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76312" y="6107906"/>
            <a:ext cx="2822972" cy="228600"/>
            <a:chOff x="976312" y="6107906"/>
            <a:chExt cx="2822972" cy="228600"/>
          </a:xfrm>
        </p:grpSpPr>
        <p:grpSp>
          <p:nvGrpSpPr>
            <p:cNvPr id="37" name="Group 37"/>
            <p:cNvGrpSpPr/>
            <p:nvPr/>
          </p:nvGrpSpPr>
          <p:grpSpPr>
            <a:xfrm>
              <a:off x="976312" y="6108700"/>
              <a:ext cx="142876" cy="127000"/>
              <a:chOff x="976312" y="6108700"/>
              <a:chExt cx="142876" cy="127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76312" y="6140450"/>
                <a:ext cx="317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63500">
                    <a:moveTo>
                      <a:pt x="31750" y="0"/>
                    </a:moveTo>
                    <a:lnTo>
                      <a:pt x="0" y="31750"/>
                    </a:lnTo>
                    <a:lnTo>
                      <a:pt x="31750" y="6350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87438" y="6140450"/>
                <a:ext cx="317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63500">
                    <a:moveTo>
                      <a:pt x="0" y="0"/>
                    </a:moveTo>
                    <a:lnTo>
                      <a:pt x="31750" y="31750"/>
                    </a:lnTo>
                    <a:lnTo>
                      <a:pt x="0" y="6350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31875" y="6108700"/>
                <a:ext cx="317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127000">
                    <a:moveTo>
                      <a:pt x="3175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223962" y="6107906"/>
              <a:ext cx="25753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P09 — P14 · 共 6 页 · 5 类核心标记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201590" y="6427470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09 / 15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76250"/>
            <a:ext cx="5069195" cy="733425"/>
            <a:chOff x="571500" y="476250"/>
            <a:chExt cx="5069195" cy="733425"/>
          </a:xfrm>
        </p:grpSpPr>
        <p:sp>
          <p:nvSpPr>
            <p:cNvPr id="3" name="Freeform 3"/>
            <p:cNvSpPr/>
            <p:nvPr/>
          </p:nvSpPr>
          <p:spPr>
            <a:xfrm>
              <a:off x="571500" y="476250"/>
              <a:ext cx="57150" cy="419100"/>
            </a:xfrm>
            <a:custGeom>
              <a:avLst/>
              <a:gdLst/>
              <a:ahLst/>
              <a:cxnLst/>
              <a:rect l="l" t="t" r="r" b="b"/>
              <a:pathLst>
                <a:path w="57150" h="419100">
                  <a:moveTo>
                    <a:pt x="19050" y="0"/>
                  </a:moveTo>
                  <a:lnTo>
                    <a:pt x="38100" y="0"/>
                  </a:lnTo>
                  <a:cubicBezTo>
                    <a:pt x="48621" y="0"/>
                    <a:pt x="57150" y="8529"/>
                    <a:pt x="57150" y="19050"/>
                  </a:cubicBezTo>
                  <a:lnTo>
                    <a:pt x="57150" y="400050"/>
                  </a:lnTo>
                  <a:cubicBezTo>
                    <a:pt x="57150" y="410571"/>
                    <a:pt x="48621" y="419100"/>
                    <a:pt x="38100" y="419100"/>
                  </a:cubicBezTo>
                  <a:lnTo>
                    <a:pt x="19050" y="419100"/>
                  </a:lnTo>
                  <a:cubicBezTo>
                    <a:pt x="8529" y="419100"/>
                    <a:pt x="0" y="410571"/>
                    <a:pt x="0" y="400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7710" y="518160"/>
              <a:ext cx="491298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标题语法 ·</a:t>
              </a:r>
              <a:r>
                <a:rPr lang="zh-CN" sz="27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# 越多级别越深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965835"/>
              <a:ext cx="43243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Heading Syntax · 1 到 6 级标题，对应 HTML 的 h1 — h6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1476375"/>
            <a:ext cx="3619500" cy="4524375"/>
            <a:chOff x="571500" y="1476375"/>
            <a:chExt cx="3619500" cy="4524375"/>
          </a:xfrm>
        </p:grpSpPr>
        <p:sp>
          <p:nvSpPr>
            <p:cNvPr id="7" name="Freeform 7"/>
            <p:cNvSpPr/>
            <p:nvPr/>
          </p:nvSpPr>
          <p:spPr>
            <a:xfrm>
              <a:off x="571500" y="1476375"/>
              <a:ext cx="3619500" cy="4524375"/>
            </a:xfrm>
            <a:custGeom>
              <a:avLst/>
              <a:gdLst/>
              <a:ahLst/>
              <a:cxnLst/>
              <a:rect l="l" t="t" r="r" b="b"/>
              <a:pathLst>
                <a:path w="3619500" h="4524375">
                  <a:moveTo>
                    <a:pt x="114300" y="0"/>
                  </a:moveTo>
                  <a:lnTo>
                    <a:pt x="3505200" y="0"/>
                  </a:lnTo>
                  <a:cubicBezTo>
                    <a:pt x="3568326" y="0"/>
                    <a:pt x="3619500" y="51174"/>
                    <a:pt x="3619500" y="114300"/>
                  </a:cubicBezTo>
                  <a:lnTo>
                    <a:pt x="3619500" y="4410075"/>
                  </a:lnTo>
                  <a:cubicBezTo>
                    <a:pt x="3619500" y="4473201"/>
                    <a:pt x="3568326" y="4524375"/>
                    <a:pt x="3505200" y="4524375"/>
                  </a:cubicBezTo>
                  <a:lnTo>
                    <a:pt x="114300" y="4524375"/>
                  </a:lnTo>
                  <a:cubicBezTo>
                    <a:pt x="51174" y="4524375"/>
                    <a:pt x="0" y="4473201"/>
                    <a:pt x="0" y="441007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476375"/>
              <a:ext cx="57150" cy="4524375"/>
            </a:xfrm>
            <a:custGeom>
              <a:avLst/>
              <a:gdLst/>
              <a:ahLst/>
              <a:cxnLst/>
              <a:rect l="l" t="t" r="r" b="b"/>
              <a:pathLst>
                <a:path w="57150" h="4524375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4495800"/>
                  </a:lnTo>
                  <a:cubicBezTo>
                    <a:pt x="57150" y="4511582"/>
                    <a:pt x="44357" y="4524375"/>
                    <a:pt x="28575" y="4524375"/>
                  </a:cubicBezTo>
                  <a:lnTo>
                    <a:pt x="28575" y="4524375"/>
                  </a:lnTo>
                  <a:cubicBezTo>
                    <a:pt x="12793" y="4524375"/>
                    <a:pt x="0" y="4511582"/>
                    <a:pt x="0" y="449580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52500" y="1905000"/>
              <a:ext cx="266700" cy="276225"/>
              <a:chOff x="952500" y="1905000"/>
              <a:chExt cx="266700" cy="2762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90600" y="20383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90600" y="1905000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81100" y="1905000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43000" y="21717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43000" y="19050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52500" y="21717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52500" y="19050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44868" y="2561749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RULE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2806065"/>
              <a:ext cx="19779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在单词或短语前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4390" y="3091815"/>
              <a:ext cx="130167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添加井号</a:t>
              </a:r>
              <a:r>
                <a:rPr lang="zh-CN" sz="18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#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57250" y="347662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06B6D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962" y="3736181"/>
              <a:ext cx="1597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#</a:t>
              </a:r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的</a:t>
              </a:r>
              <a:r>
                <a:rPr lang="zh-CN" sz="112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数量</a:t>
              </a:r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代表标题级别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2962" y="3974306"/>
              <a:ext cx="18277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3 个 # → 三级标题（h3）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857250" y="4381500"/>
              <a:ext cx="3048000" cy="762000"/>
            </a:xfrm>
            <a:custGeom>
              <a:avLst/>
              <a:gdLst/>
              <a:ahLst/>
              <a:cxnLst/>
              <a:rect l="l" t="t" r="r" b="b"/>
              <a:pathLst>
                <a:path w="3048000" h="762000">
                  <a:moveTo>
                    <a:pt x="76200" y="0"/>
                  </a:moveTo>
                  <a:lnTo>
                    <a:pt x="2971800" y="0"/>
                  </a:lnTo>
                  <a:cubicBezTo>
                    <a:pt x="3013884" y="0"/>
                    <a:pt x="3048000" y="34116"/>
                    <a:pt x="3048000" y="76200"/>
                  </a:cubicBezTo>
                  <a:lnTo>
                    <a:pt x="3048000" y="685800"/>
                  </a:lnTo>
                  <a:cubicBezTo>
                    <a:pt x="3048000" y="727884"/>
                    <a:pt x="3013884" y="762000"/>
                    <a:pt x="2971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5838" y="4507706"/>
              <a:ext cx="12103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### My Header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7742" y="4733449"/>
              <a:ext cx="573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↓ 渲染为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7742" y="494299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&lt;h3&gt;My Header&lt;/h3&gt;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57250" y="5314950"/>
              <a:ext cx="3048000" cy="476250"/>
            </a:xfrm>
            <a:custGeom>
              <a:avLst/>
              <a:gdLst/>
              <a:ahLst/>
              <a:cxnLst/>
              <a:rect l="l" t="t" r="r" b="b"/>
              <a:pathLst>
                <a:path w="3048000" h="476250">
                  <a:moveTo>
                    <a:pt x="57150" y="0"/>
                  </a:moveTo>
                  <a:lnTo>
                    <a:pt x="2990850" y="0"/>
                  </a:lnTo>
                  <a:cubicBezTo>
                    <a:pt x="3022413" y="0"/>
                    <a:pt x="3048000" y="25587"/>
                    <a:pt x="3048000" y="57150"/>
                  </a:cubicBezTo>
                  <a:lnTo>
                    <a:pt x="3048000" y="419100"/>
                  </a:lnTo>
                  <a:cubicBezTo>
                    <a:pt x="3048000" y="450663"/>
                    <a:pt x="3022413" y="476250"/>
                    <a:pt x="2990850" y="476250"/>
                  </a:cubicBezTo>
                  <a:lnTo>
                    <a:pt x="57150" y="476250"/>
                  </a:lnTo>
                  <a:cubicBezTo>
                    <a:pt x="25587" y="476250"/>
                    <a:pt x="0" y="450663"/>
                    <a:pt x="0" y="419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6B6D4">
                <a:alpha val="10000"/>
              </a:srgb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978694" y="5436394"/>
              <a:ext cx="157162" cy="157163"/>
              <a:chOff x="978694" y="5436394"/>
              <a:chExt cx="157162" cy="15716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978694" y="5436394"/>
                <a:ext cx="157162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78581">
                    <a:moveTo>
                      <a:pt x="0" y="78581"/>
                    </a:moveTo>
                    <a:lnTo>
                      <a:pt x="8731" y="78581"/>
                    </a:lnTo>
                    <a:moveTo>
                      <a:pt x="78581" y="0"/>
                    </a:moveTo>
                    <a:lnTo>
                      <a:pt x="78581" y="8731"/>
                    </a:lnTo>
                    <a:moveTo>
                      <a:pt x="148431" y="78581"/>
                    </a:moveTo>
                    <a:lnTo>
                      <a:pt x="157162" y="78581"/>
                    </a:lnTo>
                    <a:moveTo>
                      <a:pt x="22701" y="22701"/>
                    </a:moveTo>
                    <a:lnTo>
                      <a:pt x="28813" y="28813"/>
                    </a:lnTo>
                    <a:moveTo>
                      <a:pt x="134461" y="22701"/>
                    </a:moveTo>
                    <a:lnTo>
                      <a:pt x="128349" y="28813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09917" y="5471319"/>
                <a:ext cx="94716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4716" h="122238">
                    <a:moveTo>
                      <a:pt x="21164" y="78581"/>
                    </a:moveTo>
                    <a:cubicBezTo>
                      <a:pt x="6132" y="67307"/>
                      <a:pt x="0" y="47678"/>
                      <a:pt x="5942" y="29851"/>
                    </a:cubicBezTo>
                    <a:cubicBezTo>
                      <a:pt x="11884" y="12024"/>
                      <a:pt x="28567" y="0"/>
                      <a:pt x="47358" y="0"/>
                    </a:cubicBezTo>
                    <a:cubicBezTo>
                      <a:pt x="66149" y="0"/>
                      <a:pt x="82832" y="12024"/>
                      <a:pt x="88774" y="29851"/>
                    </a:cubicBezTo>
                    <a:cubicBezTo>
                      <a:pt x="94716" y="47678"/>
                      <a:pt x="88585" y="67307"/>
                      <a:pt x="73552" y="78581"/>
                    </a:cubicBezTo>
                    <a:cubicBezTo>
                      <a:pt x="66638" y="85425"/>
                      <a:pt x="63396" y="95152"/>
                      <a:pt x="64821" y="104775"/>
                    </a:cubicBezTo>
                    <a:cubicBezTo>
                      <a:pt x="64821" y="114419"/>
                      <a:pt x="57002" y="122238"/>
                      <a:pt x="47358" y="122238"/>
                    </a:cubicBezTo>
                    <a:cubicBezTo>
                      <a:pt x="37714" y="122238"/>
                      <a:pt x="29896" y="114419"/>
                      <a:pt x="29896" y="104775"/>
                    </a:cubicBezTo>
                    <a:cubicBezTo>
                      <a:pt x="31320" y="95152"/>
                      <a:pt x="28078" y="85425"/>
                      <a:pt x="21164" y="78581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37193" y="5558631"/>
                <a:ext cx="4016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164" h="9525">
                    <a:moveTo>
                      <a:pt x="0" y="0"/>
                    </a:moveTo>
                    <a:lnTo>
                      <a:pt x="40164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225868" y="541924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提示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25868" y="5609749"/>
              <a:ext cx="29439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最多支持 6 级（h1—h6），# 与文本之间需空格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4286250" y="1476375"/>
            <a:ext cx="7334250" cy="4524375"/>
            <a:chOff x="4286250" y="1476375"/>
            <a:chExt cx="7334250" cy="4524375"/>
          </a:xfrm>
        </p:grpSpPr>
        <p:sp>
          <p:nvSpPr>
            <p:cNvPr id="35" name="Freeform 35"/>
            <p:cNvSpPr/>
            <p:nvPr/>
          </p:nvSpPr>
          <p:spPr>
            <a:xfrm>
              <a:off x="4286250" y="1476375"/>
              <a:ext cx="7334250" cy="4524375"/>
            </a:xfrm>
            <a:custGeom>
              <a:avLst/>
              <a:gdLst/>
              <a:ahLst/>
              <a:cxnLst/>
              <a:rect l="l" t="t" r="r" b="b"/>
              <a:pathLst>
                <a:path w="7334250" h="4524375">
                  <a:moveTo>
                    <a:pt x="114300" y="0"/>
                  </a:moveTo>
                  <a:lnTo>
                    <a:pt x="7219950" y="0"/>
                  </a:lnTo>
                  <a:cubicBezTo>
                    <a:pt x="7283076" y="0"/>
                    <a:pt x="7334250" y="51174"/>
                    <a:pt x="7334250" y="114300"/>
                  </a:cubicBezTo>
                  <a:lnTo>
                    <a:pt x="7334250" y="4410075"/>
                  </a:lnTo>
                  <a:cubicBezTo>
                    <a:pt x="7334250" y="4473201"/>
                    <a:pt x="7283076" y="4524375"/>
                    <a:pt x="7219950" y="4524375"/>
                  </a:cubicBezTo>
                  <a:lnTo>
                    <a:pt x="114300" y="4524375"/>
                  </a:lnTo>
                  <a:cubicBezTo>
                    <a:pt x="51174" y="4524375"/>
                    <a:pt x="0" y="4473201"/>
                    <a:pt x="0" y="441007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4286250" y="1476375"/>
              <a:ext cx="7334250" cy="419100"/>
            </a:xfrm>
            <a:custGeom>
              <a:avLst/>
              <a:gdLst/>
              <a:ahLst/>
              <a:cxnLst/>
              <a:rect l="l" t="t" r="r" b="b"/>
              <a:pathLst>
                <a:path w="7334250" h="419100">
                  <a:moveTo>
                    <a:pt x="114300" y="0"/>
                  </a:moveTo>
                  <a:lnTo>
                    <a:pt x="7219950" y="0"/>
                  </a:lnTo>
                  <a:cubicBezTo>
                    <a:pt x="7283076" y="0"/>
                    <a:pt x="7334250" y="51174"/>
                    <a:pt x="7334250" y="114300"/>
                  </a:cubicBezTo>
                  <a:lnTo>
                    <a:pt x="7334250" y="304800"/>
                  </a:lnTo>
                  <a:cubicBezTo>
                    <a:pt x="7334250" y="367926"/>
                    <a:pt x="7283076" y="419100"/>
                    <a:pt x="7219950" y="419100"/>
                  </a:cubicBezTo>
                  <a:lnTo>
                    <a:pt x="114300" y="419100"/>
                  </a:lnTo>
                  <a:cubicBezTo>
                    <a:pt x="51174" y="419100"/>
                    <a:pt x="0" y="367926"/>
                    <a:pt x="0" y="3048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286250" y="1743075"/>
              <a:ext cx="7334250" cy="1524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11040" y="1629728"/>
              <a:ext cx="12021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MARKDOWN 语法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59165" y="1629728"/>
              <a:ext cx="7834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HTML 输出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4505325" y="2124075"/>
              <a:ext cx="6045327" cy="304800"/>
              <a:chOff x="4505325" y="2124075"/>
              <a:chExt cx="6045327" cy="304800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4505325" y="2124075"/>
                <a:ext cx="178631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565C0"/>
                    </a:solidFill>
                    <a:latin typeface="Consolas"/>
                    <a:ea typeface="Microsoft YaHei"/>
                    <a:cs typeface="Consolas"/>
                  </a:rPr>
                  <a:t># Heading level 1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557260" y="2156460"/>
                <a:ext cx="19933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&lt;h1&gt;Heading level 1&lt;/h1&gt;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4476750" y="2428875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4506278" y="2589371"/>
              <a:ext cx="6043969" cy="289560"/>
              <a:chOff x="4506278" y="2589371"/>
              <a:chExt cx="6043969" cy="289560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4506278" y="2589371"/>
                <a:ext cx="1871824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565C0"/>
                    </a:solidFill>
                    <a:latin typeface="Consolas"/>
                    <a:ea typeface="Microsoft YaHei"/>
                    <a:cs typeface="Consolas"/>
                  </a:rPr>
                  <a:t>## Heading level 2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558212" y="2621756"/>
                <a:ext cx="199203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&lt;h2&gt;Heading level 2&lt;/h2&gt;</a:t>
                </a:r>
              </a:p>
            </p:txBody>
          </p:sp>
        </p:grpSp>
        <p:sp>
          <p:nvSpPr>
            <p:cNvPr id="47" name="Line 47"/>
            <p:cNvSpPr/>
            <p:nvPr/>
          </p:nvSpPr>
          <p:spPr>
            <a:xfrm>
              <a:off x="4476750" y="2905125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4333875" y="2981325"/>
              <a:ext cx="7239000" cy="419100"/>
              <a:chOff x="4333875" y="2981325"/>
              <a:chExt cx="7239000" cy="4191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4333875" y="2981325"/>
                <a:ext cx="72390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419100">
                    <a:moveTo>
                      <a:pt x="57150" y="0"/>
                    </a:moveTo>
                    <a:lnTo>
                      <a:pt x="7181850" y="0"/>
                    </a:lnTo>
                    <a:cubicBezTo>
                      <a:pt x="7213413" y="0"/>
                      <a:pt x="7239000" y="25587"/>
                      <a:pt x="7239000" y="57150"/>
                    </a:cubicBezTo>
                    <a:lnTo>
                      <a:pt x="7239000" y="361950"/>
                    </a:lnTo>
                    <a:cubicBezTo>
                      <a:pt x="7239000" y="393513"/>
                      <a:pt x="7213413" y="419100"/>
                      <a:pt x="7181850" y="419100"/>
                    </a:cubicBezTo>
                    <a:lnTo>
                      <a:pt x="57150" y="419100"/>
                    </a:lnTo>
                    <a:cubicBezTo>
                      <a:pt x="25587" y="419100"/>
                      <a:pt x="0" y="393513"/>
                      <a:pt x="0" y="3619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06B6D4">
                  <a:alpha val="6000"/>
                </a:srgbClr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4507230" y="3073718"/>
                <a:ext cx="188717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565C0"/>
                    </a:solidFill>
                    <a:latin typeface="Consolas"/>
                    <a:ea typeface="Microsoft YaHei"/>
                    <a:cs typeface="Consolas"/>
                  </a:rPr>
                  <a:t>### Heading level 3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559165" y="3106102"/>
                <a:ext cx="18592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&lt;h3&gt;Heading level 3&lt;/h3&gt;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0849475" y="3130391"/>
                <a:ext cx="40050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5" b="1" dirty="0">
                    <a:solidFill>
                      <a:srgbClr val="06B6D4"/>
                    </a:solidFill>
                    <a:latin typeface="Segoe UI"/>
                    <a:ea typeface="Microsoft YaHei"/>
                    <a:cs typeface="Segoe UI"/>
                  </a:rPr>
                  <a:t>最常用</a:t>
                </a:r>
              </a:p>
            </p:txBody>
          </p:sp>
        </p:grpSp>
        <p:sp>
          <p:nvSpPr>
            <p:cNvPr id="53" name="Line 53"/>
            <p:cNvSpPr/>
            <p:nvPr/>
          </p:nvSpPr>
          <p:spPr>
            <a:xfrm>
              <a:off x="4476750" y="344805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4508182" y="3624739"/>
              <a:ext cx="5910215" cy="259080"/>
              <a:chOff x="4508182" y="3624739"/>
              <a:chExt cx="5910215" cy="259080"/>
            </a:xfrm>
          </p:grpSpPr>
          <p:sp>
            <p:nvSpPr>
              <p:cNvPr id="54" name="TextBox 54"/>
              <p:cNvSpPr txBox="1"/>
              <p:nvPr/>
            </p:nvSpPr>
            <p:spPr>
              <a:xfrm>
                <a:off x="4508182" y="3624739"/>
                <a:ext cx="188986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565C0"/>
                    </a:solidFill>
                    <a:latin typeface="Consolas"/>
                    <a:ea typeface="Microsoft YaHei"/>
                    <a:cs typeface="Consolas"/>
                  </a:rPr>
                  <a:t>#### Heading level 4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559165" y="3649028"/>
                <a:ext cx="18592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&lt;h4&gt;Heading level 4&lt;/h4&gt;</a:t>
                </a:r>
              </a:p>
            </p:txBody>
          </p:sp>
        </p:grpSp>
        <p:sp>
          <p:nvSpPr>
            <p:cNvPr id="57" name="Line 57"/>
            <p:cNvSpPr/>
            <p:nvPr/>
          </p:nvSpPr>
          <p:spPr>
            <a:xfrm>
              <a:off x="4476750" y="392430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4509135" y="4109085"/>
              <a:ext cx="5777413" cy="243840"/>
              <a:chOff x="4509135" y="4109085"/>
              <a:chExt cx="5777413" cy="243840"/>
            </a:xfrm>
          </p:grpSpPr>
          <p:sp>
            <p:nvSpPr>
              <p:cNvPr id="58" name="TextBox 58"/>
              <p:cNvSpPr txBox="1"/>
              <p:nvPr/>
            </p:nvSpPr>
            <p:spPr>
              <a:xfrm>
                <a:off x="4509135" y="4109085"/>
                <a:ext cx="18799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565C0"/>
                    </a:solidFill>
                    <a:latin typeface="Consolas"/>
                    <a:ea typeface="Microsoft YaHei"/>
                    <a:cs typeface="Consolas"/>
                  </a:rPr>
                  <a:t>##### Heading level 5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560118" y="4133374"/>
                <a:ext cx="17264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&lt;h5&gt;Heading level 5&lt;/h5&gt;</a:t>
                </a:r>
              </a:p>
            </p:txBody>
          </p:sp>
        </p:grpSp>
        <p:sp>
          <p:nvSpPr>
            <p:cNvPr id="61" name="Line 61"/>
            <p:cNvSpPr/>
            <p:nvPr/>
          </p:nvSpPr>
          <p:spPr>
            <a:xfrm>
              <a:off x="4476750" y="440055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4510088" y="4593431"/>
              <a:ext cx="5644610" cy="228600"/>
              <a:chOff x="4510088" y="4593431"/>
              <a:chExt cx="5644610" cy="228600"/>
            </a:xfrm>
          </p:grpSpPr>
          <p:sp>
            <p:nvSpPr>
              <p:cNvPr id="62" name="TextBox 62"/>
              <p:cNvSpPr txBox="1"/>
              <p:nvPr/>
            </p:nvSpPr>
            <p:spPr>
              <a:xfrm>
                <a:off x="4510088" y="4593431"/>
                <a:ext cx="185730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565C0"/>
                    </a:solidFill>
                    <a:latin typeface="Consolas"/>
                    <a:ea typeface="Microsoft YaHei"/>
                    <a:cs typeface="Consolas"/>
                  </a:rPr>
                  <a:t>###### Heading level 6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561070" y="4617720"/>
                <a:ext cx="159362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&lt;h6&gt;Heading level 6&lt;/h6&gt;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4511040" y="5144452"/>
              <a:ext cx="5290185" cy="699136"/>
              <a:chOff x="4511040" y="5144452"/>
              <a:chExt cx="5290185" cy="699136"/>
            </a:xfrm>
          </p:grpSpPr>
          <p:sp>
            <p:nvSpPr>
              <p:cNvPr id="65" name="TextBox 65"/>
              <p:cNvSpPr txBox="1"/>
              <p:nvPr/>
            </p:nvSpPr>
            <p:spPr>
              <a:xfrm>
                <a:off x="4511040" y="5144452"/>
                <a:ext cx="6707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视觉层级</a:t>
                </a:r>
              </a:p>
            </p:txBody>
          </p:sp>
          <p:sp>
            <p:nvSpPr>
              <p:cNvPr id="66" name="Freeform 66"/>
              <p:cNvSpPr/>
              <p:nvPr/>
            </p:nvSpPr>
            <p:spPr>
              <a:xfrm>
                <a:off x="4524375" y="5410200"/>
                <a:ext cx="11430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419100">
                    <a:moveTo>
                      <a:pt x="57150" y="0"/>
                    </a:moveTo>
                    <a:lnTo>
                      <a:pt x="1085850" y="0"/>
                    </a:lnTo>
                    <a:cubicBezTo>
                      <a:pt x="1117413" y="0"/>
                      <a:pt x="1143000" y="25587"/>
                      <a:pt x="1143000" y="57150"/>
                    </a:cubicBezTo>
                    <a:lnTo>
                      <a:pt x="1143000" y="361950"/>
                    </a:lnTo>
                    <a:cubicBezTo>
                      <a:pt x="1143000" y="393513"/>
                      <a:pt x="1117413" y="419100"/>
                      <a:pt x="1085850" y="419100"/>
                    </a:cubicBezTo>
                    <a:lnTo>
                      <a:pt x="57150" y="419100"/>
                    </a:lnTo>
                    <a:cubicBezTo>
                      <a:pt x="25587" y="419100"/>
                      <a:pt x="0" y="393513"/>
                      <a:pt x="0" y="3619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1565C0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4967382" y="5498782"/>
                <a:ext cx="25698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565C0"/>
                    </a:solidFill>
                    <a:latin typeface="Segoe UI"/>
                    <a:ea typeface="Microsoft YaHei"/>
                    <a:cs typeface="Segoe UI"/>
                  </a:rPr>
                  <a:t>H1</a:t>
                </a:r>
              </a:p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5762625" y="5448300"/>
                <a:ext cx="9525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381000">
                    <a:moveTo>
                      <a:pt x="57150" y="0"/>
                    </a:moveTo>
                    <a:lnTo>
                      <a:pt x="895350" y="0"/>
                    </a:lnTo>
                    <a:cubicBezTo>
                      <a:pt x="926913" y="0"/>
                      <a:pt x="952500" y="25587"/>
                      <a:pt x="952500" y="57150"/>
                    </a:cubicBezTo>
                    <a:lnTo>
                      <a:pt x="952500" y="323850"/>
                    </a:lnTo>
                    <a:cubicBezTo>
                      <a:pt x="952500" y="355413"/>
                      <a:pt x="926913" y="381000"/>
                      <a:pt x="895350" y="381000"/>
                    </a:cubicBezTo>
                    <a:lnTo>
                      <a:pt x="57150" y="381000"/>
                    </a:lnTo>
                    <a:cubicBezTo>
                      <a:pt x="25587" y="381000"/>
                      <a:pt x="0" y="355413"/>
                      <a:pt x="0" y="3238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1565C0">
                  <a:alpha val="13000"/>
                </a:srgbClr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6093309" y="5534025"/>
                <a:ext cx="29113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565C0"/>
                    </a:solidFill>
                    <a:latin typeface="Segoe UI"/>
                    <a:ea typeface="Microsoft YaHei"/>
                    <a:cs typeface="Segoe UI"/>
                  </a:rPr>
                  <a:t>H2</a:t>
                </a:r>
              </a:p>
            </p:txBody>
          </p:sp>
          <p:sp>
            <p:nvSpPr>
              <p:cNvPr id="70" name="Freeform 70"/>
              <p:cNvSpPr/>
              <p:nvPr/>
            </p:nvSpPr>
            <p:spPr>
              <a:xfrm>
                <a:off x="6810375" y="5486400"/>
                <a:ext cx="8191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819150" h="342900">
                    <a:moveTo>
                      <a:pt x="57150" y="0"/>
                    </a:moveTo>
                    <a:lnTo>
                      <a:pt x="762000" y="0"/>
                    </a:lnTo>
                    <a:cubicBezTo>
                      <a:pt x="793563" y="0"/>
                      <a:pt x="819150" y="25587"/>
                      <a:pt x="819150" y="57150"/>
                    </a:cubicBezTo>
                    <a:lnTo>
                      <a:pt x="819150" y="285750"/>
                    </a:lnTo>
                    <a:cubicBezTo>
                      <a:pt x="819150" y="317313"/>
                      <a:pt x="793563" y="342900"/>
                      <a:pt x="762000" y="342900"/>
                    </a:cubicBezTo>
                    <a:lnTo>
                      <a:pt x="57150" y="342900"/>
                    </a:lnTo>
                    <a:cubicBezTo>
                      <a:pt x="25587" y="342900"/>
                      <a:pt x="0" y="317313"/>
                      <a:pt x="0" y="2857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1565C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088941" y="5569268"/>
                <a:ext cx="26201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565C0"/>
                    </a:solidFill>
                    <a:latin typeface="Segoe UI"/>
                    <a:ea typeface="Microsoft YaHei"/>
                    <a:cs typeface="Segoe UI"/>
                  </a:rPr>
                  <a:t>H3</a:t>
                </a:r>
              </a:p>
            </p:txBody>
          </p:sp>
          <p:sp>
            <p:nvSpPr>
              <p:cNvPr id="72" name="Freeform 72"/>
              <p:cNvSpPr/>
              <p:nvPr/>
            </p:nvSpPr>
            <p:spPr>
              <a:xfrm>
                <a:off x="7724775" y="5524500"/>
                <a:ext cx="7239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723900" h="304800">
                    <a:moveTo>
                      <a:pt x="57150" y="0"/>
                    </a:moveTo>
                    <a:lnTo>
                      <a:pt x="666750" y="0"/>
                    </a:lnTo>
                    <a:cubicBezTo>
                      <a:pt x="698313" y="0"/>
                      <a:pt x="723900" y="25587"/>
                      <a:pt x="723900" y="57150"/>
                    </a:cubicBezTo>
                    <a:lnTo>
                      <a:pt x="723900" y="247650"/>
                    </a:lnTo>
                    <a:cubicBezTo>
                      <a:pt x="723900" y="279213"/>
                      <a:pt x="698313" y="304800"/>
                      <a:pt x="666750" y="304800"/>
                    </a:cubicBezTo>
                    <a:lnTo>
                      <a:pt x="57150" y="304800"/>
                    </a:lnTo>
                    <a:cubicBezTo>
                      <a:pt x="25587" y="304800"/>
                      <a:pt x="0" y="279213"/>
                      <a:pt x="0" y="2476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1565C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7970272" y="5594985"/>
                <a:ext cx="23290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565C0"/>
                    </a:solidFill>
                    <a:latin typeface="Segoe UI"/>
                    <a:ea typeface="Microsoft YaHei"/>
                    <a:cs typeface="Segoe UI"/>
                  </a:rPr>
                  <a:t>H4</a:t>
                </a:r>
              </a:p>
            </p:txBody>
          </p:sp>
          <p:sp>
            <p:nvSpPr>
              <p:cNvPr id="74" name="Freeform 74"/>
              <p:cNvSpPr/>
              <p:nvPr/>
            </p:nvSpPr>
            <p:spPr>
              <a:xfrm>
                <a:off x="8543925" y="5562600"/>
                <a:ext cx="6286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266700">
                    <a:moveTo>
                      <a:pt x="57150" y="0"/>
                    </a:moveTo>
                    <a:lnTo>
                      <a:pt x="571500" y="0"/>
                    </a:lnTo>
                    <a:cubicBezTo>
                      <a:pt x="603063" y="0"/>
                      <a:pt x="628650" y="25587"/>
                      <a:pt x="628650" y="57150"/>
                    </a:cubicBezTo>
                    <a:lnTo>
                      <a:pt x="628650" y="209550"/>
                    </a:lnTo>
                    <a:cubicBezTo>
                      <a:pt x="628650" y="241113"/>
                      <a:pt x="603063" y="266700"/>
                      <a:pt x="571500" y="266700"/>
                    </a:cubicBezTo>
                    <a:lnTo>
                      <a:pt x="57150" y="266700"/>
                    </a:lnTo>
                    <a:cubicBezTo>
                      <a:pt x="25587" y="266700"/>
                      <a:pt x="0" y="241113"/>
                      <a:pt x="0" y="2095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1565C0">
                  <a:alpha val="6000"/>
                </a:srgbClr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8756354" y="5630228"/>
                <a:ext cx="203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565C0"/>
                    </a:solidFill>
                    <a:latin typeface="Segoe UI"/>
                    <a:ea typeface="Microsoft YaHei"/>
                    <a:cs typeface="Segoe UI"/>
                  </a:rPr>
                  <a:t>H5</a:t>
                </a:r>
              </a:p>
            </p:txBody>
          </p:sp>
          <p:sp>
            <p:nvSpPr>
              <p:cNvPr id="76" name="Freeform 76"/>
              <p:cNvSpPr/>
              <p:nvPr/>
            </p:nvSpPr>
            <p:spPr>
              <a:xfrm>
                <a:off x="9267825" y="5600700"/>
                <a:ext cx="5334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228600">
                    <a:moveTo>
                      <a:pt x="57150" y="0"/>
                    </a:moveTo>
                    <a:lnTo>
                      <a:pt x="476250" y="0"/>
                    </a:lnTo>
                    <a:cubicBezTo>
                      <a:pt x="507813" y="0"/>
                      <a:pt x="533400" y="25587"/>
                      <a:pt x="533400" y="57150"/>
                    </a:cubicBezTo>
                    <a:lnTo>
                      <a:pt x="533400" y="171450"/>
                    </a:lnTo>
                    <a:cubicBezTo>
                      <a:pt x="533400" y="203013"/>
                      <a:pt x="507813" y="228600"/>
                      <a:pt x="476250" y="228600"/>
                    </a:cubicBezTo>
                    <a:lnTo>
                      <a:pt x="57150" y="228600"/>
                    </a:lnTo>
                    <a:cubicBezTo>
                      <a:pt x="25587" y="228600"/>
                      <a:pt x="0" y="203013"/>
                      <a:pt x="0" y="1714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1565C0">
                  <a:alpha val="4000"/>
                </a:srgbClr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9447186" y="5655945"/>
                <a:ext cx="17467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565C0"/>
                    </a:solidFill>
                    <a:latin typeface="Segoe UI"/>
                    <a:ea typeface="Microsoft YaHei"/>
                    <a:cs typeface="Segoe UI"/>
                  </a:rPr>
                  <a:t>H6</a:t>
                </a:r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560070" y="6286500"/>
            <a:ext cx="11071860" cy="371475"/>
            <a:chOff x="560070" y="6286500"/>
            <a:chExt cx="11071860" cy="371475"/>
          </a:xfrm>
        </p:grpSpPr>
        <p:sp>
          <p:nvSpPr>
            <p:cNvPr id="80" name="Line 80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60070" y="647509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第 02 章 · 基本语法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234452" y="647509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10 / 15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76250"/>
            <a:ext cx="4858893" cy="733425"/>
            <a:chOff x="571500" y="476250"/>
            <a:chExt cx="4858893" cy="733425"/>
          </a:xfrm>
        </p:grpSpPr>
        <p:sp>
          <p:nvSpPr>
            <p:cNvPr id="3" name="Freeform 3"/>
            <p:cNvSpPr/>
            <p:nvPr/>
          </p:nvSpPr>
          <p:spPr>
            <a:xfrm>
              <a:off x="571500" y="476250"/>
              <a:ext cx="57150" cy="419100"/>
            </a:xfrm>
            <a:custGeom>
              <a:avLst/>
              <a:gdLst/>
              <a:ahLst/>
              <a:cxnLst/>
              <a:rect l="l" t="t" r="r" b="b"/>
              <a:pathLst>
                <a:path w="57150" h="419100">
                  <a:moveTo>
                    <a:pt x="19050" y="0"/>
                  </a:moveTo>
                  <a:lnTo>
                    <a:pt x="38100" y="0"/>
                  </a:lnTo>
                  <a:cubicBezTo>
                    <a:pt x="48621" y="0"/>
                    <a:pt x="57150" y="8529"/>
                    <a:pt x="57150" y="19050"/>
                  </a:cubicBezTo>
                  <a:lnTo>
                    <a:pt x="57150" y="400050"/>
                  </a:lnTo>
                  <a:cubicBezTo>
                    <a:pt x="57150" y="410571"/>
                    <a:pt x="48621" y="419100"/>
                    <a:pt x="38100" y="419100"/>
                  </a:cubicBezTo>
                  <a:lnTo>
                    <a:pt x="19050" y="419100"/>
                  </a:lnTo>
                  <a:cubicBezTo>
                    <a:pt x="8529" y="419100"/>
                    <a:pt x="0" y="410571"/>
                    <a:pt x="0" y="400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7710" y="518160"/>
              <a:ext cx="238727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段落 与 换行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965835"/>
              <a:ext cx="46836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Paragraph &amp; Line Break · 空行 = 段落，行尾两空格 = 换行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1514475"/>
            <a:ext cx="11049000" cy="2105025"/>
            <a:chOff x="571500" y="1514475"/>
            <a:chExt cx="11049000" cy="2105025"/>
          </a:xfrm>
        </p:grpSpPr>
        <p:grpSp>
          <p:nvGrpSpPr>
            <p:cNvPr id="14" name="Group 14"/>
            <p:cNvGrpSpPr/>
            <p:nvPr/>
          </p:nvGrpSpPr>
          <p:grpSpPr>
            <a:xfrm>
              <a:off x="635000" y="1514475"/>
              <a:ext cx="3875088" cy="338137"/>
              <a:chOff x="635000" y="1514475"/>
              <a:chExt cx="3875088" cy="338137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635000" y="1514475"/>
                <a:ext cx="177800" cy="228600"/>
                <a:chOff x="635000" y="1514475"/>
                <a:chExt cx="177800" cy="228600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635000" y="1514475"/>
                  <a:ext cx="1778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600">
                      <a:moveTo>
                        <a:pt x="0" y="25400"/>
                      </a:move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52400" y="0"/>
                      </a:lnTo>
                      <a:cubicBezTo>
                        <a:pt x="166428" y="0"/>
                        <a:pt x="177800" y="11372"/>
                        <a:pt x="177800" y="25400"/>
                      </a:cubicBezTo>
                      <a:lnTo>
                        <a:pt x="177800" y="203200"/>
                      </a:lnTo>
                      <a:cubicBezTo>
                        <a:pt x="177800" y="217228"/>
                        <a:pt x="166428" y="228600"/>
                        <a:pt x="152400" y="228600"/>
                      </a:cubicBezTo>
                      <a:lnTo>
                        <a:pt x="25400" y="228600"/>
                      </a:lnTo>
                      <a:cubicBezTo>
                        <a:pt x="11372" y="228600"/>
                        <a:pt x="0" y="217228"/>
                        <a:pt x="0" y="203200"/>
                      </a:cubicBezTo>
                      <a:lnTo>
                        <a:pt x="0" y="2540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685800" y="1565275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685800" y="1616075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685800" y="1666875"/>
                  <a:ext cx="50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9525">
                      <a:moveTo>
                        <a:pt x="0" y="0"/>
                      </a:moveTo>
                      <a:lnTo>
                        <a:pt x="50800" y="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979170" y="1517332"/>
                <a:ext cx="209146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段落 · Paragraph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796540" y="1582102"/>
                <a:ext cx="17135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使用</a:t>
                </a:r>
                <a:r>
                  <a:rPr lang="zh-CN" sz="1050" b="1" dirty="0">
                    <a:solidFill>
                      <a:srgbClr val="1565C0"/>
                    </a:solidFill>
                    <a:latin typeface="Segoe UI"/>
                    <a:ea typeface="Microsoft YaHei"/>
                    <a:cs typeface="Segoe UI"/>
                  </a:rPr>
                  <a:t>空白行</a:t>
                </a:r>
                <a:r>
                  <a:rPr lang="zh-CN" sz="10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分隔多行文本</a:t>
                </a:r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571500" y="1905000"/>
              <a:ext cx="3619500" cy="1714500"/>
            </a:xfrm>
            <a:custGeom>
              <a:avLst/>
              <a:gdLst/>
              <a:ahLst/>
              <a:cxnLst/>
              <a:rect l="l" t="t" r="r" b="b"/>
              <a:pathLst>
                <a:path w="3619500" h="17145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1619250"/>
                  </a:lnTo>
                  <a:cubicBezTo>
                    <a:pt x="3619500" y="1671855"/>
                    <a:pt x="3576855" y="1714500"/>
                    <a:pt x="3524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9618" y="20283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MARKDOWN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62000" y="22098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7712" y="2402681"/>
              <a:ext cx="2304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I really like using Markdown.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522" y="2654141"/>
              <a:ext cx="55111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// 空白行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7712" y="2926556"/>
              <a:ext cx="21892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I think I'll use it to format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7712" y="3145631"/>
              <a:ext cx="27231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all of my documents from now on.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51567" y="26765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→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4524375" y="1905000"/>
              <a:ext cx="3619500" cy="1714500"/>
            </a:xfrm>
            <a:custGeom>
              <a:avLst/>
              <a:gdLst/>
              <a:ahLst/>
              <a:cxnLst/>
              <a:rect l="l" t="t" r="r" b="b"/>
              <a:pathLst>
                <a:path w="3619500" h="17145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1619250"/>
                  </a:lnTo>
                  <a:cubicBezTo>
                    <a:pt x="3619500" y="1671855"/>
                    <a:pt x="3576855" y="1714500"/>
                    <a:pt x="3524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02492" y="2028349"/>
              <a:ext cx="3665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HTML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4714875" y="22098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701540" y="241077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&lt;p&gt;</a:t>
              </a:r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I really like using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01540" y="262985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Markdown.</a:t>
              </a:r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&lt;/p&gt;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01540" y="29346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&lt;p&gt;</a:t>
              </a:r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I think I'll use it to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01540" y="3153728"/>
              <a:ext cx="1245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format all of my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01540" y="3363278"/>
              <a:ext cx="12381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documents.</a:t>
              </a:r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&lt;/p&gt;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04442" y="26765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→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8477250" y="1905000"/>
              <a:ext cx="3143250" cy="1714500"/>
            </a:xfrm>
            <a:custGeom>
              <a:avLst/>
              <a:gdLst/>
              <a:ahLst/>
              <a:cxnLst/>
              <a:rect l="l" t="t" r="r" b="b"/>
              <a:pathLst>
                <a:path w="3143250" h="1714500">
                  <a:moveTo>
                    <a:pt x="95250" y="0"/>
                  </a:moveTo>
                  <a:lnTo>
                    <a:pt x="3048000" y="0"/>
                  </a:lnTo>
                  <a:cubicBezTo>
                    <a:pt x="3100605" y="0"/>
                    <a:pt x="3143250" y="42645"/>
                    <a:pt x="3143250" y="95250"/>
                  </a:cubicBezTo>
                  <a:lnTo>
                    <a:pt x="3143250" y="1619250"/>
                  </a:lnTo>
                  <a:cubicBezTo>
                    <a:pt x="3143250" y="1671855"/>
                    <a:pt x="3100605" y="1714500"/>
                    <a:pt x="304800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6B6D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655368" y="2028349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预览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667750" y="22098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54415" y="2382202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I really like using Markdown.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54415" y="2934652"/>
              <a:ext cx="22656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I think I'll use it to format all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54415" y="3144202"/>
              <a:ext cx="23192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of my documents from now on.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71500" y="3965258"/>
            <a:ext cx="11049000" cy="1987867"/>
            <a:chOff x="571500" y="3965258"/>
            <a:chExt cx="11049000" cy="1987867"/>
          </a:xfrm>
        </p:grpSpPr>
        <p:grpSp>
          <p:nvGrpSpPr>
            <p:cNvPr id="42" name="Group 42"/>
            <p:cNvGrpSpPr/>
            <p:nvPr/>
          </p:nvGrpSpPr>
          <p:grpSpPr>
            <a:xfrm>
              <a:off x="635000" y="3965258"/>
              <a:ext cx="4028440" cy="335280"/>
              <a:chOff x="635000" y="3965258"/>
              <a:chExt cx="4028440" cy="33528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35000" y="4000500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165100" y="0"/>
                    </a:moveTo>
                    <a:lnTo>
                      <a:pt x="165100" y="76200"/>
                    </a:lnTo>
                    <a:cubicBezTo>
                      <a:pt x="165100" y="97242"/>
                      <a:pt x="148042" y="114300"/>
                      <a:pt x="127000" y="114300"/>
                    </a:cubicBezTo>
                    <a:lnTo>
                      <a:pt x="0" y="114300"/>
                    </a:lnTo>
                    <a:lnTo>
                      <a:pt x="50800" y="63500"/>
                    </a:lnTo>
                    <a:moveTo>
                      <a:pt x="50800" y="16510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979170" y="3965258"/>
                <a:ext cx="210411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换行 · Line Break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796540" y="4030028"/>
                <a:ext cx="1866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行尾</a:t>
                </a:r>
                <a:r>
                  <a:rPr lang="zh-CN" sz="1050" b="1" dirty="0">
                    <a:solidFill>
                      <a:srgbClr val="06B6D4"/>
                    </a:solidFill>
                    <a:latin typeface="Segoe UI"/>
                    <a:ea typeface="Microsoft YaHei"/>
                    <a:cs typeface="Segoe UI"/>
                  </a:rPr>
                  <a:t>两个或更多空格</a:t>
                </a:r>
                <a:r>
                  <a:rPr lang="zh-CN" sz="10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再回车</a:t>
                </a:r>
              </a:p>
            </p:txBody>
          </p:sp>
        </p:grpSp>
        <p:sp>
          <p:nvSpPr>
            <p:cNvPr id="43" name="Freeform 43"/>
            <p:cNvSpPr/>
            <p:nvPr/>
          </p:nvSpPr>
          <p:spPr>
            <a:xfrm>
              <a:off x="571500" y="4333875"/>
              <a:ext cx="3619500" cy="1619250"/>
            </a:xfrm>
            <a:custGeom>
              <a:avLst/>
              <a:gdLst/>
              <a:ahLst/>
              <a:cxnLst/>
              <a:rect l="l" t="t" r="r" b="b"/>
              <a:pathLst>
                <a:path w="3619500" h="161925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1524000"/>
                  </a:lnTo>
                  <a:cubicBezTo>
                    <a:pt x="3619500" y="1576605"/>
                    <a:pt x="3576855" y="1619250"/>
                    <a:pt x="3524250" y="1619250"/>
                  </a:cubicBezTo>
                  <a:lnTo>
                    <a:pt x="95250" y="1619250"/>
                  </a:lnTo>
                  <a:cubicBezTo>
                    <a:pt x="42645" y="1619250"/>
                    <a:pt x="0" y="1576605"/>
                    <a:pt x="0" y="1524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9618" y="445722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MARKDOWN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62000" y="4638675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7712" y="4831556"/>
              <a:ext cx="19180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This is the first line.</a:t>
              </a:r>
              <a:r>
                <a:rPr lang="zh-CN" sz="1125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··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7712" y="5136356"/>
              <a:ext cx="21892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And this is the second line.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1522" y="5578316"/>
              <a:ext cx="10089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//</a:t>
              </a:r>
              <a:r>
                <a:rPr lang="zh-CN" sz="8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··</a:t>
              </a:r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表示两个空格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251567" y="498157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→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4524375" y="4333875"/>
              <a:ext cx="3619500" cy="1619250"/>
            </a:xfrm>
            <a:custGeom>
              <a:avLst/>
              <a:gdLst/>
              <a:ahLst/>
              <a:cxnLst/>
              <a:rect l="l" t="t" r="r" b="b"/>
              <a:pathLst>
                <a:path w="3619500" h="161925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1524000"/>
                  </a:lnTo>
                  <a:cubicBezTo>
                    <a:pt x="3619500" y="1576605"/>
                    <a:pt x="3576855" y="1619250"/>
                    <a:pt x="3524250" y="1619250"/>
                  </a:cubicBezTo>
                  <a:lnTo>
                    <a:pt x="95250" y="1619250"/>
                  </a:lnTo>
                  <a:cubicBezTo>
                    <a:pt x="42645" y="1619250"/>
                    <a:pt x="0" y="1576605"/>
                    <a:pt x="0" y="1524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702492" y="4457224"/>
              <a:ext cx="3665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HTML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4714875" y="4638675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701540" y="4839652"/>
              <a:ext cx="18745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&lt;p&gt;</a:t>
              </a:r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This is the first line.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701540" y="5087302"/>
              <a:ext cx="3809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&lt;br&gt;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01540" y="5334952"/>
              <a:ext cx="16522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And this is the second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701540" y="5554028"/>
              <a:ext cx="7090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line.</a:t>
              </a:r>
              <a:r>
                <a:rPr lang="zh-CN" sz="105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&lt;/p&gt;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04442" y="498157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→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8477250" y="4333875"/>
              <a:ext cx="3143250" cy="1619250"/>
            </a:xfrm>
            <a:custGeom>
              <a:avLst/>
              <a:gdLst/>
              <a:ahLst/>
              <a:cxnLst/>
              <a:rect l="l" t="t" r="r" b="b"/>
              <a:pathLst>
                <a:path w="3143250" h="1619250">
                  <a:moveTo>
                    <a:pt x="95250" y="0"/>
                  </a:moveTo>
                  <a:lnTo>
                    <a:pt x="3048000" y="0"/>
                  </a:lnTo>
                  <a:cubicBezTo>
                    <a:pt x="3100605" y="0"/>
                    <a:pt x="3143250" y="42645"/>
                    <a:pt x="3143250" y="95250"/>
                  </a:cubicBezTo>
                  <a:lnTo>
                    <a:pt x="3143250" y="1524000"/>
                  </a:lnTo>
                  <a:cubicBezTo>
                    <a:pt x="3143250" y="1576605"/>
                    <a:pt x="3100605" y="1619250"/>
                    <a:pt x="3048000" y="1619250"/>
                  </a:cubicBezTo>
                  <a:lnTo>
                    <a:pt x="95250" y="1619250"/>
                  </a:lnTo>
                  <a:cubicBezTo>
                    <a:pt x="42645" y="1619250"/>
                    <a:pt x="0" y="1576605"/>
                    <a:pt x="0" y="15240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6B6D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655368" y="4457224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预览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8667750" y="46386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654415" y="4839652"/>
              <a:ext cx="16215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This is the first line.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54415" y="5106352"/>
              <a:ext cx="20432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And this is the second line.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8667750" y="5448300"/>
              <a:ext cx="2762250" cy="381000"/>
            </a:xfrm>
            <a:custGeom>
              <a:avLst/>
              <a:gdLst/>
              <a:ahLst/>
              <a:cxnLst/>
              <a:rect l="l" t="t" r="r" b="b"/>
              <a:pathLst>
                <a:path w="2762250" h="381000">
                  <a:moveTo>
                    <a:pt x="57150" y="0"/>
                  </a:moveTo>
                  <a:lnTo>
                    <a:pt x="2705100" y="0"/>
                  </a:lnTo>
                  <a:cubicBezTo>
                    <a:pt x="2736663" y="0"/>
                    <a:pt x="2762250" y="25587"/>
                    <a:pt x="2762250" y="57150"/>
                  </a:cubicBezTo>
                  <a:lnTo>
                    <a:pt x="2762250" y="323850"/>
                  </a:lnTo>
                  <a:cubicBezTo>
                    <a:pt x="2762250" y="355413"/>
                    <a:pt x="2736663" y="381000"/>
                    <a:pt x="2705100" y="381000"/>
                  </a:cubicBezTo>
                  <a:lnTo>
                    <a:pt x="57150" y="381000"/>
                  </a:lnTo>
                  <a:cubicBezTo>
                    <a:pt x="25587" y="381000"/>
                    <a:pt x="0" y="355413"/>
                    <a:pt x="0" y="323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6B6D4">
                <a:alpha val="10000"/>
              </a:srgbClr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8765381" y="5545931"/>
              <a:ext cx="128588" cy="128587"/>
              <a:chOff x="8765381" y="5545931"/>
              <a:chExt cx="128588" cy="128587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765381" y="5545931"/>
                <a:ext cx="128588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64294">
                    <a:moveTo>
                      <a:pt x="0" y="64294"/>
                    </a:moveTo>
                    <a:lnTo>
                      <a:pt x="7144" y="64294"/>
                    </a:lnTo>
                    <a:moveTo>
                      <a:pt x="64294" y="0"/>
                    </a:moveTo>
                    <a:lnTo>
                      <a:pt x="64294" y="7144"/>
                    </a:lnTo>
                    <a:moveTo>
                      <a:pt x="121444" y="64294"/>
                    </a:moveTo>
                    <a:lnTo>
                      <a:pt x="128588" y="64294"/>
                    </a:lnTo>
                    <a:moveTo>
                      <a:pt x="18574" y="18574"/>
                    </a:moveTo>
                    <a:lnTo>
                      <a:pt x="23574" y="23574"/>
                    </a:lnTo>
                    <a:moveTo>
                      <a:pt x="110014" y="18574"/>
                    </a:moveTo>
                    <a:lnTo>
                      <a:pt x="105013" y="23574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90927" y="5574506"/>
                <a:ext cx="7749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77495" h="100012">
                    <a:moveTo>
                      <a:pt x="17316" y="64294"/>
                    </a:moveTo>
                    <a:cubicBezTo>
                      <a:pt x="5017" y="55069"/>
                      <a:pt x="0" y="39009"/>
                      <a:pt x="4862" y="24423"/>
                    </a:cubicBezTo>
                    <a:cubicBezTo>
                      <a:pt x="9724" y="9838"/>
                      <a:pt x="23373" y="0"/>
                      <a:pt x="38748" y="0"/>
                    </a:cubicBezTo>
                    <a:cubicBezTo>
                      <a:pt x="54122" y="0"/>
                      <a:pt x="67772" y="9838"/>
                      <a:pt x="72633" y="24423"/>
                    </a:cubicBezTo>
                    <a:cubicBezTo>
                      <a:pt x="77495" y="39009"/>
                      <a:pt x="72478" y="55069"/>
                      <a:pt x="60179" y="64294"/>
                    </a:cubicBezTo>
                    <a:cubicBezTo>
                      <a:pt x="54522" y="69893"/>
                      <a:pt x="51869" y="77851"/>
                      <a:pt x="53035" y="85725"/>
                    </a:cubicBezTo>
                    <a:cubicBezTo>
                      <a:pt x="53035" y="93616"/>
                      <a:pt x="46638" y="100012"/>
                      <a:pt x="38748" y="100012"/>
                    </a:cubicBezTo>
                    <a:cubicBezTo>
                      <a:pt x="30857" y="100012"/>
                      <a:pt x="24460" y="93616"/>
                      <a:pt x="24460" y="85725"/>
                    </a:cubicBezTo>
                    <a:cubicBezTo>
                      <a:pt x="25626" y="77851"/>
                      <a:pt x="22973" y="69893"/>
                      <a:pt x="17316" y="64294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813244" y="5645944"/>
                <a:ext cx="3286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861" h="9525">
                    <a:moveTo>
                      <a:pt x="0" y="0"/>
                    </a:moveTo>
                    <a:lnTo>
                      <a:pt x="32861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8961120" y="559879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同一段内仅换行，不另起段落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0070" y="6286500"/>
            <a:ext cx="11071860" cy="371475"/>
            <a:chOff x="560070" y="6286500"/>
            <a:chExt cx="11071860" cy="371475"/>
          </a:xfrm>
        </p:grpSpPr>
        <p:sp>
          <p:nvSpPr>
            <p:cNvPr id="70" name="Line 70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60070" y="647509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第 02 章 · 基本语法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67313" y="6475095"/>
              <a:ext cx="3646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11 / 15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76250"/>
            <a:ext cx="3798570" cy="733425"/>
            <a:chOff x="571500" y="476250"/>
            <a:chExt cx="3798570" cy="733425"/>
          </a:xfrm>
        </p:grpSpPr>
        <p:sp>
          <p:nvSpPr>
            <p:cNvPr id="3" name="Freeform 3"/>
            <p:cNvSpPr/>
            <p:nvPr/>
          </p:nvSpPr>
          <p:spPr>
            <a:xfrm>
              <a:off x="571500" y="476250"/>
              <a:ext cx="57150" cy="419100"/>
            </a:xfrm>
            <a:custGeom>
              <a:avLst/>
              <a:gdLst/>
              <a:ahLst/>
              <a:cxnLst/>
              <a:rect l="l" t="t" r="r" b="b"/>
              <a:pathLst>
                <a:path w="57150" h="419100">
                  <a:moveTo>
                    <a:pt x="19050" y="0"/>
                  </a:moveTo>
                  <a:lnTo>
                    <a:pt x="38100" y="0"/>
                  </a:lnTo>
                  <a:cubicBezTo>
                    <a:pt x="48621" y="0"/>
                    <a:pt x="57150" y="8529"/>
                    <a:pt x="57150" y="19050"/>
                  </a:cubicBezTo>
                  <a:lnTo>
                    <a:pt x="57150" y="400050"/>
                  </a:lnTo>
                  <a:cubicBezTo>
                    <a:pt x="57150" y="410571"/>
                    <a:pt x="48621" y="419100"/>
                    <a:pt x="38100" y="419100"/>
                  </a:cubicBezTo>
                  <a:lnTo>
                    <a:pt x="19050" y="419100"/>
                  </a:lnTo>
                  <a:cubicBezTo>
                    <a:pt x="8529" y="419100"/>
                    <a:pt x="0" y="410571"/>
                    <a:pt x="0" y="400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7710" y="518160"/>
              <a:ext cx="331888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强调 ·</a:t>
              </a:r>
              <a:r>
                <a:rPr lang="zh-CN" sz="27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粗体</a:t>
              </a:r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与</a:t>
              </a:r>
              <a:r>
                <a:rPr lang="zh-CN" sz="27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斜体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965835"/>
              <a:ext cx="36233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Emphasis · 通过粗体或斜体强调文本的重要性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1476375"/>
            <a:ext cx="5524500" cy="4524375"/>
            <a:chOff x="571500" y="1476375"/>
            <a:chExt cx="5524500" cy="4524375"/>
          </a:xfrm>
        </p:grpSpPr>
        <p:sp>
          <p:nvSpPr>
            <p:cNvPr id="7" name="Freeform 7"/>
            <p:cNvSpPr/>
            <p:nvPr/>
          </p:nvSpPr>
          <p:spPr>
            <a:xfrm>
              <a:off x="571500" y="1476375"/>
              <a:ext cx="5524500" cy="4524375"/>
            </a:xfrm>
            <a:custGeom>
              <a:avLst/>
              <a:gdLst/>
              <a:ahLst/>
              <a:cxnLst/>
              <a:rect l="l" t="t" r="r" b="b"/>
              <a:pathLst>
                <a:path w="5524500" h="4524375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4410075"/>
                  </a:lnTo>
                  <a:cubicBezTo>
                    <a:pt x="5524500" y="4473201"/>
                    <a:pt x="5473326" y="4524375"/>
                    <a:pt x="5410200" y="4524375"/>
                  </a:cubicBezTo>
                  <a:lnTo>
                    <a:pt x="114300" y="4524375"/>
                  </a:lnTo>
                  <a:cubicBezTo>
                    <a:pt x="51174" y="4524375"/>
                    <a:pt x="0" y="4473201"/>
                    <a:pt x="0" y="441007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476375"/>
              <a:ext cx="5524500" cy="57150"/>
            </a:xfrm>
            <a:custGeom>
              <a:avLst/>
              <a:gdLst/>
              <a:ahLst/>
              <a:cxnLst/>
              <a:rect l="l" t="t" r="r" b="b"/>
              <a:pathLst>
                <a:path w="5524500" h="57150">
                  <a:moveTo>
                    <a:pt x="28575" y="0"/>
                  </a:moveTo>
                  <a:lnTo>
                    <a:pt x="5495925" y="0"/>
                  </a:lnTo>
                  <a:cubicBezTo>
                    <a:pt x="5511707" y="0"/>
                    <a:pt x="5524500" y="12793"/>
                    <a:pt x="5524500" y="28575"/>
                  </a:cubicBezTo>
                  <a:lnTo>
                    <a:pt x="5524500" y="28575"/>
                  </a:lnTo>
                  <a:cubicBezTo>
                    <a:pt x="5524500" y="44357"/>
                    <a:pt x="5511707" y="57150"/>
                    <a:pt x="5495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68375" y="1889125"/>
              <a:ext cx="1083500" cy="596900"/>
              <a:chOff x="968375" y="1889125"/>
              <a:chExt cx="1083500" cy="596900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968375" y="1889125"/>
                <a:ext cx="166688" cy="222250"/>
                <a:chOff x="968375" y="1889125"/>
                <a:chExt cx="166688" cy="222250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968375" y="1889125"/>
                  <a:ext cx="150812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812" h="111125">
                      <a:moveTo>
                        <a:pt x="0" y="0"/>
                      </a:moveTo>
                      <a:lnTo>
                        <a:pt x="95250" y="0"/>
                      </a:lnTo>
                      <a:cubicBezTo>
                        <a:pt x="125936" y="0"/>
                        <a:pt x="150812" y="24876"/>
                        <a:pt x="150812" y="55562"/>
                      </a:cubicBezTo>
                      <a:cubicBezTo>
                        <a:pt x="150812" y="86249"/>
                        <a:pt x="125936" y="111125"/>
                        <a:pt x="95250" y="111125"/>
                      </a:cubicBezTo>
                      <a:lnTo>
                        <a:pt x="0" y="11112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968375" y="2000250"/>
                  <a:ext cx="166688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111125">
                      <a:moveTo>
                        <a:pt x="95250" y="0"/>
                      </a:moveTo>
                      <a:lnTo>
                        <a:pt x="111125" y="0"/>
                      </a:lnTo>
                      <a:cubicBezTo>
                        <a:pt x="141811" y="0"/>
                        <a:pt x="166688" y="24876"/>
                        <a:pt x="166688" y="55563"/>
                      </a:cubicBezTo>
                      <a:cubicBezTo>
                        <a:pt x="166688" y="86249"/>
                        <a:pt x="141811" y="111125"/>
                        <a:pt x="111125" y="111125"/>
                      </a:cubicBezTo>
                      <a:lnTo>
                        <a:pt x="0" y="11112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1368742" y="1894999"/>
                <a:ext cx="3836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BOLD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354455" y="2059305"/>
                <a:ext cx="69742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粗体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842962" y="2545556"/>
              <a:ext cx="1523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前后各添加</a:t>
              </a:r>
              <a:r>
                <a:rPr lang="zh-CN" sz="112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两个</a:t>
              </a:r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*</a:t>
              </a:r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或</a:t>
              </a:r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_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857250" y="2905125"/>
              <a:ext cx="4953000" cy="762000"/>
            </a:xfrm>
            <a:custGeom>
              <a:avLst/>
              <a:gdLst/>
              <a:ahLst/>
              <a:cxnLst/>
              <a:rect l="l" t="t" r="r" b="b"/>
              <a:pathLst>
                <a:path w="4953000" h="762000">
                  <a:moveTo>
                    <a:pt x="76200" y="0"/>
                  </a:moveTo>
                  <a:lnTo>
                    <a:pt x="4876800" y="0"/>
                  </a:lnTo>
                  <a:cubicBezTo>
                    <a:pt x="4918884" y="0"/>
                    <a:pt x="4953000" y="34116"/>
                    <a:pt x="4953000" y="76200"/>
                  </a:cubicBezTo>
                  <a:lnTo>
                    <a:pt x="4953000" y="685800"/>
                  </a:lnTo>
                  <a:cubicBezTo>
                    <a:pt x="4953000" y="727884"/>
                    <a:pt x="4918884" y="762000"/>
                    <a:pt x="4876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7742" y="30570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语法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932" y="331041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I just love</a:t>
              </a:r>
              <a:r>
                <a:rPr lang="zh-CN" sz="127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**</a:t>
              </a:r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bold text</a:t>
              </a:r>
              <a:r>
                <a:rPr lang="zh-CN" sz="127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**</a:t>
              </a:r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73868" y="30570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预览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71962" y="3326606"/>
              <a:ext cx="11705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love</a:t>
              </a:r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bold text</a:t>
              </a:r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.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857250" y="3762375"/>
              <a:ext cx="4953000" cy="762000"/>
            </a:xfrm>
            <a:custGeom>
              <a:avLst/>
              <a:gdLst/>
              <a:ahLst/>
              <a:cxnLst/>
              <a:rect l="l" t="t" r="r" b="b"/>
              <a:pathLst>
                <a:path w="4953000" h="762000">
                  <a:moveTo>
                    <a:pt x="76200" y="0"/>
                  </a:moveTo>
                  <a:lnTo>
                    <a:pt x="4876800" y="0"/>
                  </a:lnTo>
                  <a:cubicBezTo>
                    <a:pt x="4918884" y="0"/>
                    <a:pt x="4953000" y="34116"/>
                    <a:pt x="4953000" y="76200"/>
                  </a:cubicBezTo>
                  <a:lnTo>
                    <a:pt x="4953000" y="685800"/>
                  </a:lnTo>
                  <a:cubicBezTo>
                    <a:pt x="4953000" y="727884"/>
                    <a:pt x="4918884" y="762000"/>
                    <a:pt x="4876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7742" y="39142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下划线版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3932" y="4167664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I just love</a:t>
              </a:r>
              <a:r>
                <a:rPr lang="zh-CN" sz="127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__</a:t>
              </a:r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bold text</a:t>
              </a:r>
              <a:r>
                <a:rPr lang="zh-CN" sz="127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__</a:t>
              </a:r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73868" y="39142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预览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71962" y="4183856"/>
              <a:ext cx="11705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love</a:t>
              </a:r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bold text</a:t>
              </a:r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.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857250" y="4619625"/>
              <a:ext cx="4953000" cy="762000"/>
            </a:xfrm>
            <a:custGeom>
              <a:avLst/>
              <a:gdLst/>
              <a:ahLst/>
              <a:cxnLst/>
              <a:rect l="l" t="t" r="r" b="b"/>
              <a:pathLst>
                <a:path w="4953000" h="762000">
                  <a:moveTo>
                    <a:pt x="76200" y="0"/>
                  </a:moveTo>
                  <a:lnTo>
                    <a:pt x="4876800" y="0"/>
                  </a:lnTo>
                  <a:cubicBezTo>
                    <a:pt x="4918884" y="0"/>
                    <a:pt x="4953000" y="34116"/>
                    <a:pt x="4953000" y="76200"/>
                  </a:cubicBezTo>
                  <a:lnTo>
                    <a:pt x="4953000" y="685800"/>
                  </a:lnTo>
                  <a:cubicBezTo>
                    <a:pt x="4953000" y="727884"/>
                    <a:pt x="4918884" y="762000"/>
                    <a:pt x="48768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7742" y="47715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单词中间加粗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3932" y="5024914"/>
              <a:ext cx="137312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Love</a:t>
              </a:r>
              <a:r>
                <a:rPr lang="zh-CN" sz="127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**</a:t>
              </a:r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is</a:t>
              </a:r>
              <a:r>
                <a:rPr lang="zh-CN" sz="127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**</a:t>
              </a:r>
              <a:r>
                <a:rPr lang="zh-CN" sz="127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bold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73868" y="47715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预览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71962" y="504110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Love</a:t>
              </a:r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is</a:t>
              </a:r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bold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57250" y="5524500"/>
              <a:ext cx="4953000" cy="342900"/>
            </a:xfrm>
            <a:custGeom>
              <a:avLst/>
              <a:gdLst/>
              <a:ahLst/>
              <a:cxnLst/>
              <a:rect l="l" t="t" r="r" b="b"/>
              <a:pathLst>
                <a:path w="4953000" h="342900">
                  <a:moveTo>
                    <a:pt x="57150" y="0"/>
                  </a:moveTo>
                  <a:lnTo>
                    <a:pt x="4895850" y="0"/>
                  </a:lnTo>
                  <a:cubicBezTo>
                    <a:pt x="4927413" y="0"/>
                    <a:pt x="4953000" y="25587"/>
                    <a:pt x="4953000" y="57150"/>
                  </a:cubicBezTo>
                  <a:lnTo>
                    <a:pt x="4953000" y="285750"/>
                  </a:lnTo>
                  <a:cubicBezTo>
                    <a:pt x="4953000" y="317313"/>
                    <a:pt x="4927413" y="342900"/>
                    <a:pt x="48958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565C0">
                <a:alpha val="8000"/>
              </a:srgbClr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973931" y="5622131"/>
              <a:ext cx="128588" cy="128587"/>
              <a:chOff x="973931" y="5622131"/>
              <a:chExt cx="128588" cy="12858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73931" y="5622131"/>
                <a:ext cx="128588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64294">
                    <a:moveTo>
                      <a:pt x="0" y="64294"/>
                    </a:moveTo>
                    <a:lnTo>
                      <a:pt x="7144" y="64294"/>
                    </a:lnTo>
                    <a:moveTo>
                      <a:pt x="64294" y="0"/>
                    </a:moveTo>
                    <a:lnTo>
                      <a:pt x="64294" y="7144"/>
                    </a:lnTo>
                    <a:moveTo>
                      <a:pt x="121444" y="64294"/>
                    </a:moveTo>
                    <a:lnTo>
                      <a:pt x="128588" y="64294"/>
                    </a:lnTo>
                    <a:moveTo>
                      <a:pt x="18574" y="18574"/>
                    </a:moveTo>
                    <a:lnTo>
                      <a:pt x="23574" y="23574"/>
                    </a:lnTo>
                    <a:moveTo>
                      <a:pt x="110014" y="18574"/>
                    </a:moveTo>
                    <a:lnTo>
                      <a:pt x="105013" y="23574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99477" y="5650706"/>
                <a:ext cx="7749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77495" h="100012">
                    <a:moveTo>
                      <a:pt x="17316" y="64294"/>
                    </a:moveTo>
                    <a:cubicBezTo>
                      <a:pt x="5017" y="55069"/>
                      <a:pt x="0" y="39009"/>
                      <a:pt x="4862" y="24423"/>
                    </a:cubicBezTo>
                    <a:cubicBezTo>
                      <a:pt x="9724" y="9838"/>
                      <a:pt x="23373" y="0"/>
                      <a:pt x="38748" y="0"/>
                    </a:cubicBezTo>
                    <a:cubicBezTo>
                      <a:pt x="54122" y="0"/>
                      <a:pt x="67772" y="9838"/>
                      <a:pt x="72633" y="24423"/>
                    </a:cubicBezTo>
                    <a:cubicBezTo>
                      <a:pt x="77495" y="39009"/>
                      <a:pt x="72478" y="55069"/>
                      <a:pt x="60179" y="64294"/>
                    </a:cubicBezTo>
                    <a:cubicBezTo>
                      <a:pt x="54522" y="69893"/>
                      <a:pt x="51869" y="77851"/>
                      <a:pt x="53035" y="85725"/>
                    </a:cubicBezTo>
                    <a:cubicBezTo>
                      <a:pt x="53035" y="93616"/>
                      <a:pt x="46638" y="100012"/>
                      <a:pt x="38748" y="100012"/>
                    </a:cubicBezTo>
                    <a:cubicBezTo>
                      <a:pt x="30857" y="100012"/>
                      <a:pt x="24460" y="93616"/>
                      <a:pt x="24460" y="85725"/>
                    </a:cubicBezTo>
                    <a:cubicBezTo>
                      <a:pt x="25626" y="77851"/>
                      <a:pt x="22973" y="69893"/>
                      <a:pt x="17316" y="64294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21794" y="5722144"/>
                <a:ext cx="3286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861" h="9525">
                    <a:moveTo>
                      <a:pt x="0" y="0"/>
                    </a:moveTo>
                    <a:lnTo>
                      <a:pt x="32861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168718" y="5638324"/>
              <a:ext cx="36132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单词中间加粗推荐使用</a:t>
              </a:r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**</a:t>
              </a:r>
              <a:r>
                <a:rPr lang="zh-CN" sz="97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，</a:t>
              </a:r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__</a:t>
              </a:r>
              <a:r>
                <a:rPr lang="zh-CN" sz="97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在某些渲染器中可能不生效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286500" y="1476375"/>
            <a:ext cx="5334000" cy="4524375"/>
            <a:chOff x="6286500" y="1476375"/>
            <a:chExt cx="5334000" cy="4524375"/>
          </a:xfrm>
        </p:grpSpPr>
        <p:sp>
          <p:nvSpPr>
            <p:cNvPr id="38" name="Freeform 38"/>
            <p:cNvSpPr/>
            <p:nvPr/>
          </p:nvSpPr>
          <p:spPr>
            <a:xfrm>
              <a:off x="6286500" y="1476375"/>
              <a:ext cx="5334000" cy="4524375"/>
            </a:xfrm>
            <a:custGeom>
              <a:avLst/>
              <a:gdLst/>
              <a:ahLst/>
              <a:cxnLst/>
              <a:rect l="l" t="t" r="r" b="b"/>
              <a:pathLst>
                <a:path w="5334000" h="4524375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4410075"/>
                  </a:lnTo>
                  <a:cubicBezTo>
                    <a:pt x="5334000" y="4473201"/>
                    <a:pt x="5282826" y="4524375"/>
                    <a:pt x="5219700" y="4524375"/>
                  </a:cubicBezTo>
                  <a:lnTo>
                    <a:pt x="114300" y="4524375"/>
                  </a:lnTo>
                  <a:cubicBezTo>
                    <a:pt x="51174" y="4524375"/>
                    <a:pt x="0" y="4473201"/>
                    <a:pt x="0" y="441007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6286500" y="1476375"/>
              <a:ext cx="5334000" cy="57150"/>
            </a:xfrm>
            <a:custGeom>
              <a:avLst/>
              <a:gdLst/>
              <a:ahLst/>
              <a:cxnLst/>
              <a:rect l="l" t="t" r="r" b="b"/>
              <a:pathLst>
                <a:path w="5334000" h="57150">
                  <a:moveTo>
                    <a:pt x="28575" y="0"/>
                  </a:moveTo>
                  <a:lnTo>
                    <a:pt x="5305425" y="0"/>
                  </a:lnTo>
                  <a:cubicBezTo>
                    <a:pt x="5321207" y="0"/>
                    <a:pt x="5334000" y="12793"/>
                    <a:pt x="5334000" y="28575"/>
                  </a:cubicBezTo>
                  <a:lnTo>
                    <a:pt x="5334000" y="28575"/>
                  </a:lnTo>
                  <a:cubicBezTo>
                    <a:pt x="5334000" y="44357"/>
                    <a:pt x="5321207" y="57150"/>
                    <a:pt x="5305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683375" y="1889125"/>
              <a:ext cx="1083500" cy="596900"/>
              <a:chOff x="6683375" y="1889125"/>
              <a:chExt cx="1083500" cy="596900"/>
            </a:xfrm>
          </p:grpSpPr>
          <p:grpSp>
            <p:nvGrpSpPr>
              <p:cNvPr id="43" name="Group 43"/>
              <p:cNvGrpSpPr/>
              <p:nvPr/>
            </p:nvGrpSpPr>
            <p:grpSpPr>
              <a:xfrm>
                <a:off x="6683375" y="1889125"/>
                <a:ext cx="158750" cy="231775"/>
                <a:chOff x="6683375" y="1889125"/>
                <a:chExt cx="158750" cy="231775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6746875" y="1889125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6683375" y="2111375"/>
                  <a:ext cx="9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">
                      <a:moveTo>
                        <a:pt x="0" y="0"/>
                      </a:move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6731000" y="1889125"/>
                  <a:ext cx="63500" cy="22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222250">
                      <a:moveTo>
                        <a:pt x="63500" y="0"/>
                      </a:moveTo>
                      <a:lnTo>
                        <a:pt x="0" y="22225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44" name="TextBox 44"/>
              <p:cNvSpPr txBox="1"/>
              <p:nvPr/>
            </p:nvSpPr>
            <p:spPr>
              <a:xfrm>
                <a:off x="7083742" y="1894999"/>
                <a:ext cx="44341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ITALIC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069455" y="2059305"/>
                <a:ext cx="69742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斜体</a:t>
                </a:r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6557962" y="2545556"/>
              <a:ext cx="1523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前后各添加</a:t>
              </a:r>
              <a:r>
                <a:rPr lang="zh-CN" sz="112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一个</a:t>
              </a:r>
              <a:r>
                <a:rPr lang="zh-CN" sz="1125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*</a:t>
              </a:r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或</a:t>
              </a:r>
              <a:r>
                <a:rPr lang="zh-CN" sz="1125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_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6572250" y="2905125"/>
              <a:ext cx="4762500" cy="762000"/>
            </a:xfrm>
            <a:custGeom>
              <a:avLst/>
              <a:gdLst/>
              <a:ahLst/>
              <a:cxnLst/>
              <a:rect l="l" t="t" r="r" b="b"/>
              <a:pathLst>
                <a:path w="4762500" h="762000">
                  <a:moveTo>
                    <a:pt x="76200" y="0"/>
                  </a:moveTo>
                  <a:lnTo>
                    <a:pt x="4686300" y="0"/>
                  </a:lnTo>
                  <a:cubicBezTo>
                    <a:pt x="4728384" y="0"/>
                    <a:pt x="4762500" y="34116"/>
                    <a:pt x="4762500" y="76200"/>
                  </a:cubicBezTo>
                  <a:lnTo>
                    <a:pt x="4762500" y="685800"/>
                  </a:lnTo>
                  <a:cubicBezTo>
                    <a:pt x="4762500" y="727884"/>
                    <a:pt x="4728384" y="762000"/>
                    <a:pt x="46863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02742" y="30570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语法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99885" y="3318510"/>
              <a:ext cx="15990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the</a:t>
              </a:r>
              <a:r>
                <a:rPr lang="zh-CN" sz="1200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*</a:t>
              </a:r>
              <a:r>
                <a:rPr lang="zh-CN" sz="120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cat's meow</a:t>
              </a:r>
              <a:r>
                <a:rPr lang="zh-CN" sz="1200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*</a:t>
              </a:r>
              <a:r>
                <a:rPr lang="zh-CN" sz="120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.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07868" y="30570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预览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05962" y="3326606"/>
              <a:ext cx="9569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i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cat's meow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572250" y="3762375"/>
              <a:ext cx="4762500" cy="762000"/>
            </a:xfrm>
            <a:custGeom>
              <a:avLst/>
              <a:gdLst/>
              <a:ahLst/>
              <a:cxnLst/>
              <a:rect l="l" t="t" r="r" b="b"/>
              <a:pathLst>
                <a:path w="4762500" h="762000">
                  <a:moveTo>
                    <a:pt x="76200" y="0"/>
                  </a:moveTo>
                  <a:lnTo>
                    <a:pt x="4686300" y="0"/>
                  </a:lnTo>
                  <a:cubicBezTo>
                    <a:pt x="4728384" y="0"/>
                    <a:pt x="4762500" y="34116"/>
                    <a:pt x="4762500" y="76200"/>
                  </a:cubicBezTo>
                  <a:lnTo>
                    <a:pt x="4762500" y="685800"/>
                  </a:lnTo>
                  <a:cubicBezTo>
                    <a:pt x="4762500" y="727884"/>
                    <a:pt x="4728384" y="762000"/>
                    <a:pt x="46863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02742" y="39142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下划线版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99885" y="4175760"/>
              <a:ext cx="15990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the</a:t>
              </a:r>
              <a:r>
                <a:rPr lang="zh-CN" sz="1200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_</a:t>
              </a:r>
              <a:r>
                <a:rPr lang="zh-CN" sz="120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cat's meow</a:t>
              </a:r>
              <a:r>
                <a:rPr lang="zh-CN" sz="1200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_</a:t>
              </a:r>
              <a:r>
                <a:rPr lang="zh-CN" sz="120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07868" y="391429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预览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05962" y="4183856"/>
              <a:ext cx="9569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i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cat's meow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6572250" y="4619625"/>
              <a:ext cx="4762500" cy="762000"/>
            </a:xfrm>
            <a:custGeom>
              <a:avLst/>
              <a:gdLst/>
              <a:ahLst/>
              <a:cxnLst/>
              <a:rect l="l" t="t" r="r" b="b"/>
              <a:pathLst>
                <a:path w="4762500" h="762000">
                  <a:moveTo>
                    <a:pt x="76200" y="0"/>
                  </a:moveTo>
                  <a:lnTo>
                    <a:pt x="4686300" y="0"/>
                  </a:lnTo>
                  <a:cubicBezTo>
                    <a:pt x="4728384" y="0"/>
                    <a:pt x="4762500" y="34116"/>
                    <a:pt x="4762500" y="76200"/>
                  </a:cubicBezTo>
                  <a:lnTo>
                    <a:pt x="4762500" y="685800"/>
                  </a:lnTo>
                  <a:cubicBezTo>
                    <a:pt x="4762500" y="727884"/>
                    <a:pt x="4728384" y="762000"/>
                    <a:pt x="46863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02742" y="477154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单词中间斜体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99885" y="5033010"/>
              <a:ext cx="10645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A</a:t>
              </a:r>
              <a:r>
                <a:rPr lang="zh-CN" sz="1200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*</a:t>
              </a:r>
              <a:r>
                <a:rPr lang="zh-CN" sz="120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cat</a:t>
              </a:r>
              <a:r>
                <a:rPr lang="zh-CN" sz="1200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*</a:t>
              </a:r>
              <a:r>
                <a:rPr lang="zh-CN" sz="120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meow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607868" y="47715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预览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605962" y="5041106"/>
              <a:ext cx="8172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A</a:t>
              </a:r>
              <a:r>
                <a:rPr lang="zh-CN" sz="1125" i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cat</a:t>
              </a:r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meow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6572250" y="5524500"/>
              <a:ext cx="4762500" cy="342900"/>
            </a:xfrm>
            <a:custGeom>
              <a:avLst/>
              <a:gdLst/>
              <a:ahLst/>
              <a:cxnLst/>
              <a:rect l="l" t="t" r="r" b="b"/>
              <a:pathLst>
                <a:path w="4762500" h="342900">
                  <a:moveTo>
                    <a:pt x="57150" y="0"/>
                  </a:moveTo>
                  <a:lnTo>
                    <a:pt x="4705350" y="0"/>
                  </a:lnTo>
                  <a:cubicBezTo>
                    <a:pt x="4736913" y="0"/>
                    <a:pt x="4762500" y="25587"/>
                    <a:pt x="4762500" y="57150"/>
                  </a:cubicBezTo>
                  <a:lnTo>
                    <a:pt x="4762500" y="285750"/>
                  </a:lnTo>
                  <a:cubicBezTo>
                    <a:pt x="4762500" y="317313"/>
                    <a:pt x="4736913" y="342900"/>
                    <a:pt x="47053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6B6D4">
                <a:alpha val="8000"/>
              </a:srgbClr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688931" y="5622131"/>
              <a:ext cx="128588" cy="128587"/>
              <a:chOff x="6688931" y="5622131"/>
              <a:chExt cx="128588" cy="128587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688931" y="5622131"/>
                <a:ext cx="128588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64294">
                    <a:moveTo>
                      <a:pt x="0" y="64294"/>
                    </a:moveTo>
                    <a:lnTo>
                      <a:pt x="7144" y="64294"/>
                    </a:lnTo>
                    <a:moveTo>
                      <a:pt x="64294" y="0"/>
                    </a:moveTo>
                    <a:lnTo>
                      <a:pt x="64294" y="7144"/>
                    </a:lnTo>
                    <a:moveTo>
                      <a:pt x="121444" y="64294"/>
                    </a:moveTo>
                    <a:lnTo>
                      <a:pt x="128588" y="64294"/>
                    </a:lnTo>
                    <a:moveTo>
                      <a:pt x="18574" y="18574"/>
                    </a:moveTo>
                    <a:lnTo>
                      <a:pt x="23574" y="23574"/>
                    </a:lnTo>
                    <a:moveTo>
                      <a:pt x="110014" y="18574"/>
                    </a:moveTo>
                    <a:lnTo>
                      <a:pt x="105013" y="23574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714477" y="5650706"/>
                <a:ext cx="7749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77495" h="100012">
                    <a:moveTo>
                      <a:pt x="17316" y="64294"/>
                    </a:moveTo>
                    <a:cubicBezTo>
                      <a:pt x="5017" y="55069"/>
                      <a:pt x="0" y="39009"/>
                      <a:pt x="4862" y="24423"/>
                    </a:cubicBezTo>
                    <a:cubicBezTo>
                      <a:pt x="9724" y="9838"/>
                      <a:pt x="23373" y="0"/>
                      <a:pt x="38748" y="0"/>
                    </a:cubicBezTo>
                    <a:cubicBezTo>
                      <a:pt x="54122" y="0"/>
                      <a:pt x="67772" y="9838"/>
                      <a:pt x="72633" y="24423"/>
                    </a:cubicBezTo>
                    <a:cubicBezTo>
                      <a:pt x="77495" y="39009"/>
                      <a:pt x="72478" y="55069"/>
                      <a:pt x="60179" y="64294"/>
                    </a:cubicBezTo>
                    <a:cubicBezTo>
                      <a:pt x="54522" y="69893"/>
                      <a:pt x="51869" y="77851"/>
                      <a:pt x="53035" y="85725"/>
                    </a:cubicBezTo>
                    <a:cubicBezTo>
                      <a:pt x="53035" y="93616"/>
                      <a:pt x="46638" y="100012"/>
                      <a:pt x="38748" y="100012"/>
                    </a:cubicBezTo>
                    <a:cubicBezTo>
                      <a:pt x="30857" y="100012"/>
                      <a:pt x="24460" y="93616"/>
                      <a:pt x="24460" y="85725"/>
                    </a:cubicBezTo>
                    <a:cubicBezTo>
                      <a:pt x="25626" y="77851"/>
                      <a:pt x="22973" y="69893"/>
                      <a:pt x="17316" y="64294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736794" y="5722144"/>
                <a:ext cx="3286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861" h="9525">
                    <a:moveTo>
                      <a:pt x="0" y="0"/>
                    </a:moveTo>
                    <a:lnTo>
                      <a:pt x="32861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883718" y="5638324"/>
              <a:ext cx="30934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中间斜体只能用</a:t>
              </a:r>
              <a:r>
                <a:rPr lang="zh-CN" sz="975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*</a:t>
              </a:r>
              <a:r>
                <a:rPr lang="zh-CN" sz="97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，且星号与字母之间</a:t>
              </a:r>
              <a:r>
                <a:rPr lang="zh-CN" sz="97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不能有空格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0070" y="6286500"/>
            <a:ext cx="11071860" cy="371475"/>
            <a:chOff x="560070" y="6286500"/>
            <a:chExt cx="11071860" cy="371475"/>
          </a:xfrm>
        </p:grpSpPr>
        <p:sp>
          <p:nvSpPr>
            <p:cNvPr id="70" name="Line 70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60070" y="647509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第 02 章 · 基本语法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234452" y="647509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12 / 15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76250"/>
            <a:ext cx="4788789" cy="733425"/>
            <a:chOff x="571500" y="476250"/>
            <a:chExt cx="4788789" cy="733425"/>
          </a:xfrm>
        </p:grpSpPr>
        <p:sp>
          <p:nvSpPr>
            <p:cNvPr id="3" name="Freeform 3"/>
            <p:cNvSpPr/>
            <p:nvPr/>
          </p:nvSpPr>
          <p:spPr>
            <a:xfrm>
              <a:off x="571500" y="476250"/>
              <a:ext cx="57150" cy="419100"/>
            </a:xfrm>
            <a:custGeom>
              <a:avLst/>
              <a:gdLst/>
              <a:ahLst/>
              <a:cxnLst/>
              <a:rect l="l" t="t" r="r" b="b"/>
              <a:pathLst>
                <a:path w="57150" h="419100">
                  <a:moveTo>
                    <a:pt x="19050" y="0"/>
                  </a:moveTo>
                  <a:lnTo>
                    <a:pt x="38100" y="0"/>
                  </a:lnTo>
                  <a:cubicBezTo>
                    <a:pt x="48621" y="0"/>
                    <a:pt x="57150" y="8529"/>
                    <a:pt x="57150" y="19050"/>
                  </a:cubicBezTo>
                  <a:lnTo>
                    <a:pt x="57150" y="400050"/>
                  </a:lnTo>
                  <a:cubicBezTo>
                    <a:pt x="57150" y="410571"/>
                    <a:pt x="48621" y="419100"/>
                    <a:pt x="38100" y="419100"/>
                  </a:cubicBezTo>
                  <a:lnTo>
                    <a:pt x="19050" y="419100"/>
                  </a:lnTo>
                  <a:cubicBezTo>
                    <a:pt x="8529" y="419100"/>
                    <a:pt x="0" y="410571"/>
                    <a:pt x="0" y="400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7710" y="518160"/>
              <a:ext cx="331888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列表 ·</a:t>
              </a:r>
              <a:r>
                <a:rPr lang="zh-CN" sz="27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有序</a:t>
              </a:r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与</a:t>
              </a:r>
              <a:r>
                <a:rPr lang="zh-CN" sz="27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无序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965835"/>
              <a:ext cx="46135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List · 缩进 2 空格创建嵌套；任意起始数字都从 1 开始渲染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1476375"/>
            <a:ext cx="5524500" cy="4524375"/>
            <a:chOff x="571500" y="1476375"/>
            <a:chExt cx="5524500" cy="4524375"/>
          </a:xfrm>
        </p:grpSpPr>
        <p:sp>
          <p:nvSpPr>
            <p:cNvPr id="7" name="Freeform 7"/>
            <p:cNvSpPr/>
            <p:nvPr/>
          </p:nvSpPr>
          <p:spPr>
            <a:xfrm>
              <a:off x="571500" y="1476375"/>
              <a:ext cx="5524500" cy="4524375"/>
            </a:xfrm>
            <a:custGeom>
              <a:avLst/>
              <a:gdLst/>
              <a:ahLst/>
              <a:cxnLst/>
              <a:rect l="l" t="t" r="r" b="b"/>
              <a:pathLst>
                <a:path w="5524500" h="4524375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4410075"/>
                  </a:lnTo>
                  <a:cubicBezTo>
                    <a:pt x="5524500" y="4473201"/>
                    <a:pt x="5473326" y="4524375"/>
                    <a:pt x="5410200" y="4524375"/>
                  </a:cubicBezTo>
                  <a:lnTo>
                    <a:pt x="114300" y="4524375"/>
                  </a:lnTo>
                  <a:cubicBezTo>
                    <a:pt x="51174" y="4524375"/>
                    <a:pt x="0" y="4473201"/>
                    <a:pt x="0" y="441007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476375"/>
              <a:ext cx="5524500" cy="57150"/>
            </a:xfrm>
            <a:custGeom>
              <a:avLst/>
              <a:gdLst/>
              <a:ahLst/>
              <a:cxnLst/>
              <a:rect l="l" t="t" r="r" b="b"/>
              <a:pathLst>
                <a:path w="5524500" h="57150">
                  <a:moveTo>
                    <a:pt x="28575" y="0"/>
                  </a:moveTo>
                  <a:lnTo>
                    <a:pt x="5495925" y="0"/>
                  </a:lnTo>
                  <a:cubicBezTo>
                    <a:pt x="5511707" y="0"/>
                    <a:pt x="5524500" y="12793"/>
                    <a:pt x="5524500" y="28575"/>
                  </a:cubicBezTo>
                  <a:lnTo>
                    <a:pt x="5524500" y="28575"/>
                  </a:lnTo>
                  <a:cubicBezTo>
                    <a:pt x="5524500" y="44357"/>
                    <a:pt x="5511707" y="57150"/>
                    <a:pt x="54959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20750" y="1873250"/>
              <a:ext cx="1775206" cy="612775"/>
              <a:chOff x="920750" y="1873250"/>
              <a:chExt cx="1775206" cy="612775"/>
            </a:xfrm>
          </p:grpSpPr>
          <p:grpSp>
            <p:nvGrpSpPr>
              <p:cNvPr id="14" name="Group 14"/>
              <p:cNvGrpSpPr/>
              <p:nvPr/>
            </p:nvGrpSpPr>
            <p:grpSpPr>
              <a:xfrm>
                <a:off x="920750" y="1873250"/>
                <a:ext cx="254000" cy="254000"/>
                <a:chOff x="920750" y="1873250"/>
                <a:chExt cx="254000" cy="254000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031875" y="1905000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031875" y="2000250"/>
                  <a:ext cx="1428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">
                      <a:moveTo>
                        <a:pt x="0" y="0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47750" y="2095500"/>
                  <a:ext cx="127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9525">
                      <a:moveTo>
                        <a:pt x="0" y="0"/>
                      </a:move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920750" y="2032000"/>
                  <a:ext cx="6350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95250">
                      <a:moveTo>
                        <a:pt x="0" y="31750"/>
                      </a:moveTo>
                      <a:cubicBezTo>
                        <a:pt x="0" y="14215"/>
                        <a:pt x="14215" y="0"/>
                        <a:pt x="31750" y="0"/>
                      </a:cubicBezTo>
                      <a:cubicBezTo>
                        <a:pt x="49285" y="0"/>
                        <a:pt x="63500" y="14215"/>
                        <a:pt x="63500" y="31750"/>
                      </a:cubicBezTo>
                      <a:cubicBezTo>
                        <a:pt x="63500" y="41132"/>
                        <a:pt x="55562" y="47625"/>
                        <a:pt x="47625" y="55562"/>
                      </a:cubicBezTo>
                      <a:lnTo>
                        <a:pt x="0" y="95250"/>
                      </a:lnTo>
                      <a:lnTo>
                        <a:pt x="63500" y="9525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920750" y="1873250"/>
                  <a:ext cx="317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0">
                      <a:moveTo>
                        <a:pt x="31750" y="95250"/>
                      </a:moveTo>
                      <a:lnTo>
                        <a:pt x="31750" y="0"/>
                      </a:lnTo>
                      <a:lnTo>
                        <a:pt x="0" y="31750"/>
                      </a:lnTo>
                    </a:path>
                  </a:pathLst>
                </a:custGeom>
                <a:noFill/>
                <a:ln w="19050">
                  <a:solidFill>
                    <a:srgbClr val="1565C0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368742" y="1894999"/>
                <a:ext cx="9667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ORDERED LIST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354455" y="2059305"/>
                <a:ext cx="134150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有序列表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842962" y="2545556"/>
              <a:ext cx="2090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数字 +</a:t>
              </a:r>
              <a:r>
                <a:rPr lang="zh-CN" sz="112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.</a:t>
              </a:r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起始 · 缩进创建嵌套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57250" y="2905125"/>
              <a:ext cx="2476500" cy="2286000"/>
            </a:xfrm>
            <a:custGeom>
              <a:avLst/>
              <a:gdLst/>
              <a:ahLst/>
              <a:cxnLst/>
              <a:rect l="l" t="t" r="r" b="b"/>
              <a:pathLst>
                <a:path w="2476500" h="228600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2209800"/>
                  </a:lnTo>
                  <a:cubicBezTo>
                    <a:pt x="2476500" y="2251884"/>
                    <a:pt x="2442384" y="2286000"/>
                    <a:pt x="2400300" y="2286000"/>
                  </a:cubicBezTo>
                  <a:lnTo>
                    <a:pt x="76200" y="2286000"/>
                  </a:lnTo>
                  <a:cubicBezTo>
                    <a:pt x="34116" y="2286000"/>
                    <a:pt x="0" y="2251884"/>
                    <a:pt x="0" y="2209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7742" y="30570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MARKDOWN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000125" y="32385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5838" y="3402806"/>
              <a:ext cx="9815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1.</a:t>
              </a:r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First item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5838" y="3640931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2.</a:t>
              </a:r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Second item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5838" y="3879056"/>
              <a:ext cx="10226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3.</a:t>
              </a:r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Third item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5838" y="41457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1.</a:t>
              </a:r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Indented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5838" y="4383881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2.</a:t>
              </a:r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Indented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5838" y="4641056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4.</a:t>
              </a:r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Fourth item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9648" y="4959191"/>
              <a:ext cx="11897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// 缩进 2 空格 → 嵌套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94317" y="39338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→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3619500" y="2905125"/>
              <a:ext cx="2190750" cy="2286000"/>
            </a:xfrm>
            <a:custGeom>
              <a:avLst/>
              <a:gdLst/>
              <a:ahLst/>
              <a:cxnLst/>
              <a:rect l="l" t="t" r="r" b="b"/>
              <a:pathLst>
                <a:path w="2190750" h="2286000">
                  <a:moveTo>
                    <a:pt x="76200" y="0"/>
                  </a:moveTo>
                  <a:lnTo>
                    <a:pt x="2114550" y="0"/>
                  </a:lnTo>
                  <a:cubicBezTo>
                    <a:pt x="2156634" y="0"/>
                    <a:pt x="2190750" y="34116"/>
                    <a:pt x="2190750" y="76200"/>
                  </a:cubicBezTo>
                  <a:lnTo>
                    <a:pt x="2190750" y="2209800"/>
                  </a:lnTo>
                  <a:cubicBezTo>
                    <a:pt x="2190750" y="2251884"/>
                    <a:pt x="2156634" y="2286000"/>
                    <a:pt x="2114550" y="2286000"/>
                  </a:cubicBezTo>
                  <a:lnTo>
                    <a:pt x="76200" y="2286000"/>
                  </a:lnTo>
                  <a:cubicBezTo>
                    <a:pt x="34116" y="2286000"/>
                    <a:pt x="0" y="2251884"/>
                    <a:pt x="0" y="2209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1565C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49992" y="30570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预览效果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3762375" y="32385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48088" y="3402806"/>
              <a:ext cx="9815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1.</a:t>
              </a:r>
              <a:r>
                <a:rPr lang="zh-CN" sz="1125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First item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48088" y="3631406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2.</a:t>
              </a:r>
              <a:r>
                <a:rPr lang="zh-CN" sz="1125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Second item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48088" y="3860006"/>
              <a:ext cx="10226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3.</a:t>
              </a:r>
              <a:r>
                <a:rPr lang="zh-CN" sz="1125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Third item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39540" y="409670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a.</a:t>
              </a:r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Indented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39540" y="43062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b.</a:t>
              </a:r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Indented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48088" y="4545806"/>
              <a:ext cx="1154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4.</a:t>
              </a:r>
              <a:r>
                <a:rPr lang="zh-CN" sz="1125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Fourth item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857250" y="5410200"/>
              <a:ext cx="4953000" cy="438150"/>
            </a:xfrm>
            <a:custGeom>
              <a:avLst/>
              <a:gdLst/>
              <a:ahLst/>
              <a:cxnLst/>
              <a:rect l="l" t="t" r="r" b="b"/>
              <a:pathLst>
                <a:path w="4953000" h="438150">
                  <a:moveTo>
                    <a:pt x="57150" y="0"/>
                  </a:moveTo>
                  <a:lnTo>
                    <a:pt x="4895850" y="0"/>
                  </a:lnTo>
                  <a:cubicBezTo>
                    <a:pt x="4927413" y="0"/>
                    <a:pt x="4953000" y="25587"/>
                    <a:pt x="4953000" y="57150"/>
                  </a:cubicBezTo>
                  <a:lnTo>
                    <a:pt x="4953000" y="381000"/>
                  </a:lnTo>
                  <a:cubicBezTo>
                    <a:pt x="4953000" y="412563"/>
                    <a:pt x="4927413" y="438150"/>
                    <a:pt x="4895850" y="438150"/>
                  </a:cubicBezTo>
                  <a:lnTo>
                    <a:pt x="57150" y="438150"/>
                  </a:lnTo>
                  <a:cubicBezTo>
                    <a:pt x="25587" y="438150"/>
                    <a:pt x="0" y="412563"/>
                    <a:pt x="0" y="3810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565C0">
                <a:alpha val="8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976312" y="5567362"/>
              <a:ext cx="142875" cy="142875"/>
              <a:chOff x="976312" y="5567362"/>
              <a:chExt cx="142875" cy="14287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976312" y="55673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7" y="71438"/>
                    </a:lnTo>
                    <a:moveTo>
                      <a:pt x="71438" y="0"/>
                    </a:moveTo>
                    <a:lnTo>
                      <a:pt x="71438" y="7938"/>
                    </a:lnTo>
                    <a:moveTo>
                      <a:pt x="134938" y="71438"/>
                    </a:moveTo>
                    <a:lnTo>
                      <a:pt x="142875" y="71438"/>
                    </a:lnTo>
                    <a:moveTo>
                      <a:pt x="20638" y="20637"/>
                    </a:moveTo>
                    <a:lnTo>
                      <a:pt x="26194" y="26194"/>
                    </a:lnTo>
                    <a:moveTo>
                      <a:pt x="122237" y="20637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004697" y="55991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29494" y="5678488"/>
                <a:ext cx="365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9525">
                    <a:moveTo>
                      <a:pt x="0" y="0"/>
                    </a:moveTo>
                    <a:lnTo>
                      <a:pt x="36513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206818" y="5524024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数字不必按顺序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07770" y="5703570"/>
              <a:ext cx="31643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1. 8. 3. 5.</a:t>
              </a:r>
              <a:r>
                <a:rPr lang="zh-CN" sz="9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也会被渲染为 1, 2, 3, 4 — 但应当以 1 起始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6286500" y="1476375"/>
            <a:ext cx="5334000" cy="4524375"/>
            <a:chOff x="6286500" y="1476375"/>
            <a:chExt cx="5334000" cy="4524375"/>
          </a:xfrm>
        </p:grpSpPr>
        <p:sp>
          <p:nvSpPr>
            <p:cNvPr id="47" name="Freeform 47"/>
            <p:cNvSpPr/>
            <p:nvPr/>
          </p:nvSpPr>
          <p:spPr>
            <a:xfrm>
              <a:off x="6286500" y="1476375"/>
              <a:ext cx="5334000" cy="4524375"/>
            </a:xfrm>
            <a:custGeom>
              <a:avLst/>
              <a:gdLst/>
              <a:ahLst/>
              <a:cxnLst/>
              <a:rect l="l" t="t" r="r" b="b"/>
              <a:pathLst>
                <a:path w="5334000" h="4524375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4410075"/>
                  </a:lnTo>
                  <a:cubicBezTo>
                    <a:pt x="5334000" y="4473201"/>
                    <a:pt x="5282826" y="4524375"/>
                    <a:pt x="5219700" y="4524375"/>
                  </a:cubicBezTo>
                  <a:lnTo>
                    <a:pt x="114300" y="4524375"/>
                  </a:lnTo>
                  <a:cubicBezTo>
                    <a:pt x="51174" y="4524375"/>
                    <a:pt x="0" y="4473201"/>
                    <a:pt x="0" y="441007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6286500" y="1476375"/>
              <a:ext cx="5334000" cy="57150"/>
            </a:xfrm>
            <a:custGeom>
              <a:avLst/>
              <a:gdLst/>
              <a:ahLst/>
              <a:cxnLst/>
              <a:rect l="l" t="t" r="r" b="b"/>
              <a:pathLst>
                <a:path w="5334000" h="57150">
                  <a:moveTo>
                    <a:pt x="28575" y="0"/>
                  </a:moveTo>
                  <a:lnTo>
                    <a:pt x="5305425" y="0"/>
                  </a:lnTo>
                  <a:cubicBezTo>
                    <a:pt x="5321207" y="0"/>
                    <a:pt x="5334000" y="12793"/>
                    <a:pt x="5334000" y="28575"/>
                  </a:cubicBezTo>
                  <a:lnTo>
                    <a:pt x="5334000" y="28575"/>
                  </a:lnTo>
                  <a:cubicBezTo>
                    <a:pt x="5334000" y="44357"/>
                    <a:pt x="5321207" y="57150"/>
                    <a:pt x="5305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651625" y="1894999"/>
              <a:ext cx="1759331" cy="591026"/>
              <a:chOff x="6651625" y="1894999"/>
              <a:chExt cx="1759331" cy="591026"/>
            </a:xfrm>
          </p:grpSpPr>
          <p:grpSp>
            <p:nvGrpSpPr>
              <p:cNvPr id="55" name="Group 55"/>
              <p:cNvGrpSpPr/>
              <p:nvPr/>
            </p:nvGrpSpPr>
            <p:grpSpPr>
              <a:xfrm>
                <a:off x="6651625" y="1905000"/>
                <a:ext cx="238125" cy="200025"/>
                <a:chOff x="6651625" y="1905000"/>
                <a:chExt cx="238125" cy="200025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6715125" y="1905000"/>
                  <a:ext cx="174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25" h="9525">
                      <a:moveTo>
                        <a:pt x="0" y="0"/>
                      </a:moveTo>
                      <a:lnTo>
                        <a:pt x="174625" y="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6715125" y="2000250"/>
                  <a:ext cx="174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25" h="9525">
                      <a:moveTo>
                        <a:pt x="0" y="0"/>
                      </a:moveTo>
                      <a:lnTo>
                        <a:pt x="174625" y="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6715125" y="2095500"/>
                  <a:ext cx="174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25" h="9525">
                      <a:moveTo>
                        <a:pt x="0" y="0"/>
                      </a:moveTo>
                      <a:lnTo>
                        <a:pt x="174625" y="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6651625" y="19050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651625" y="20002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6651625" y="20955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7083742" y="1894999"/>
                <a:ext cx="11312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94A3B8"/>
                    </a:solidFill>
                    <a:latin typeface="Consolas"/>
                    <a:ea typeface="Microsoft YaHei"/>
                    <a:cs typeface="Consolas"/>
                  </a:rPr>
                  <a:t>UNORDERED LIST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069455" y="2059305"/>
                <a:ext cx="134150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无序列表</a:t>
                </a:r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6557962" y="2545556"/>
              <a:ext cx="146625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使用</a:t>
              </a:r>
              <a:r>
                <a:rPr lang="zh-CN" sz="1125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-</a:t>
              </a:r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/</a:t>
              </a:r>
              <a:r>
                <a:rPr lang="zh-CN" sz="1125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*</a:t>
              </a:r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/</a:t>
              </a:r>
              <a:r>
                <a:rPr lang="zh-CN" sz="1125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+</a:t>
              </a:r>
              <a:r>
                <a:rPr lang="zh-CN" sz="1125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任一起始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6572250" y="2905125"/>
              <a:ext cx="2381250" cy="2286000"/>
            </a:xfrm>
            <a:custGeom>
              <a:avLst/>
              <a:gdLst/>
              <a:ahLst/>
              <a:cxnLst/>
              <a:rect l="l" t="t" r="r" b="b"/>
              <a:pathLst>
                <a:path w="2381250" h="2286000">
                  <a:moveTo>
                    <a:pt x="76200" y="0"/>
                  </a:move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2209800"/>
                  </a:lnTo>
                  <a:cubicBezTo>
                    <a:pt x="2381250" y="2251884"/>
                    <a:pt x="2347134" y="2286000"/>
                    <a:pt x="2305050" y="2286000"/>
                  </a:cubicBezTo>
                  <a:lnTo>
                    <a:pt x="76200" y="2286000"/>
                  </a:lnTo>
                  <a:cubicBezTo>
                    <a:pt x="34116" y="2286000"/>
                    <a:pt x="0" y="2251884"/>
                    <a:pt x="0" y="2209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02742" y="30570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MARKDOWN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6715125" y="32385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00838" y="3402806"/>
              <a:ext cx="9322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-</a:t>
              </a:r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First item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700838" y="364093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-</a:t>
              </a:r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Second item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700838" y="3879056"/>
              <a:ext cx="9322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-</a:t>
              </a:r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Third item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700838" y="4145756"/>
              <a:ext cx="8008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-</a:t>
              </a:r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Indented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00838" y="4383881"/>
              <a:ext cx="8008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-</a:t>
              </a:r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Indented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700838" y="464105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-</a:t>
              </a:r>
              <a:r>
                <a:rPr lang="zh-CN" sz="1125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Fourth item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04648" y="4959191"/>
              <a:ext cx="9427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// - / * / + 都可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14067" y="39338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→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9239250" y="2905125"/>
              <a:ext cx="2095500" cy="2286000"/>
            </a:xfrm>
            <a:custGeom>
              <a:avLst/>
              <a:gdLst/>
              <a:ahLst/>
              <a:cxnLst/>
              <a:rect l="l" t="t" r="r" b="b"/>
              <a:pathLst>
                <a:path w="2095500" h="228600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2209800"/>
                  </a:lnTo>
                  <a:cubicBezTo>
                    <a:pt x="2095500" y="2251884"/>
                    <a:pt x="2061384" y="2286000"/>
                    <a:pt x="2019300" y="2286000"/>
                  </a:cubicBezTo>
                  <a:lnTo>
                    <a:pt x="76200" y="2286000"/>
                  </a:lnTo>
                  <a:cubicBezTo>
                    <a:pt x="34116" y="2286000"/>
                    <a:pt x="0" y="2251884"/>
                    <a:pt x="0" y="2209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6B6D4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369742" y="30570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预览效果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9382125" y="32385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367838" y="3402806"/>
              <a:ext cx="9322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•</a:t>
              </a:r>
              <a:r>
                <a:rPr lang="zh-CN" sz="1125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First item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367838" y="363140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•</a:t>
              </a:r>
              <a:r>
                <a:rPr lang="zh-CN" sz="1125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Second item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367838" y="3860006"/>
              <a:ext cx="9322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•</a:t>
              </a:r>
              <a:r>
                <a:rPr lang="zh-CN" sz="1125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Third item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559290" y="4096702"/>
              <a:ext cx="747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◦</a:t>
              </a:r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Indented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559290" y="4306252"/>
              <a:ext cx="747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◦</a:t>
              </a:r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Indented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367838" y="4545806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•</a:t>
              </a:r>
              <a:r>
                <a:rPr lang="zh-CN" sz="1125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Fourth item</a:t>
              </a:r>
            </a:p>
          </p:txBody>
        </p:sp>
        <p:sp>
          <p:nvSpPr>
            <p:cNvPr id="80" name="Freeform 80"/>
            <p:cNvSpPr/>
            <p:nvPr/>
          </p:nvSpPr>
          <p:spPr>
            <a:xfrm>
              <a:off x="6572250" y="5410200"/>
              <a:ext cx="4762500" cy="438150"/>
            </a:xfrm>
            <a:custGeom>
              <a:avLst/>
              <a:gdLst/>
              <a:ahLst/>
              <a:cxnLst/>
              <a:rect l="l" t="t" r="r" b="b"/>
              <a:pathLst>
                <a:path w="4762500" h="438150">
                  <a:moveTo>
                    <a:pt x="57150" y="0"/>
                  </a:moveTo>
                  <a:lnTo>
                    <a:pt x="4705350" y="0"/>
                  </a:lnTo>
                  <a:cubicBezTo>
                    <a:pt x="4736913" y="0"/>
                    <a:pt x="4762500" y="25587"/>
                    <a:pt x="4762500" y="57150"/>
                  </a:cubicBezTo>
                  <a:lnTo>
                    <a:pt x="4762500" y="381000"/>
                  </a:lnTo>
                  <a:cubicBezTo>
                    <a:pt x="4762500" y="412563"/>
                    <a:pt x="4736913" y="438150"/>
                    <a:pt x="4705350" y="438150"/>
                  </a:cubicBezTo>
                  <a:lnTo>
                    <a:pt x="57150" y="438150"/>
                  </a:lnTo>
                  <a:cubicBezTo>
                    <a:pt x="25587" y="438150"/>
                    <a:pt x="0" y="412563"/>
                    <a:pt x="0" y="3810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06B6D4">
                <a:alpha val="8000"/>
              </a:srgbClr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6691312" y="5567362"/>
              <a:ext cx="142875" cy="142875"/>
              <a:chOff x="6691312" y="5567362"/>
              <a:chExt cx="142875" cy="142875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6691312" y="5567362"/>
                <a:ext cx="14287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71438">
                    <a:moveTo>
                      <a:pt x="0" y="71438"/>
                    </a:moveTo>
                    <a:lnTo>
                      <a:pt x="7938" y="71438"/>
                    </a:lnTo>
                    <a:moveTo>
                      <a:pt x="71438" y="0"/>
                    </a:moveTo>
                    <a:lnTo>
                      <a:pt x="71438" y="7938"/>
                    </a:lnTo>
                    <a:moveTo>
                      <a:pt x="134937" y="71438"/>
                    </a:moveTo>
                    <a:lnTo>
                      <a:pt x="142875" y="71438"/>
                    </a:lnTo>
                    <a:moveTo>
                      <a:pt x="20637" y="20637"/>
                    </a:moveTo>
                    <a:lnTo>
                      <a:pt x="26194" y="26194"/>
                    </a:lnTo>
                    <a:moveTo>
                      <a:pt x="122238" y="20637"/>
                    </a:moveTo>
                    <a:lnTo>
                      <a:pt x="116681" y="26194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6719697" y="5599112"/>
                <a:ext cx="86106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86106" h="111125">
                    <a:moveTo>
                      <a:pt x="19240" y="71438"/>
                    </a:moveTo>
                    <a:cubicBezTo>
                      <a:pt x="5574" y="61188"/>
                      <a:pt x="0" y="43343"/>
                      <a:pt x="5402" y="27137"/>
                    </a:cubicBezTo>
                    <a:cubicBezTo>
                      <a:pt x="10804" y="10931"/>
                      <a:pt x="25970" y="0"/>
                      <a:pt x="43053" y="0"/>
                    </a:cubicBezTo>
                    <a:cubicBezTo>
                      <a:pt x="60136" y="0"/>
                      <a:pt x="75302" y="10931"/>
                      <a:pt x="80704" y="27137"/>
                    </a:cubicBezTo>
                    <a:cubicBezTo>
                      <a:pt x="86106" y="43343"/>
                      <a:pt x="80532" y="61188"/>
                      <a:pt x="66865" y="71438"/>
                    </a:cubicBezTo>
                    <a:cubicBezTo>
                      <a:pt x="60580" y="77659"/>
                      <a:pt x="57633" y="86502"/>
                      <a:pt x="58928" y="95250"/>
                    </a:cubicBezTo>
                    <a:cubicBezTo>
                      <a:pt x="58928" y="104018"/>
                      <a:pt x="51820" y="111125"/>
                      <a:pt x="43053" y="111125"/>
                    </a:cubicBezTo>
                    <a:cubicBezTo>
                      <a:pt x="34285" y="111125"/>
                      <a:pt x="27178" y="104018"/>
                      <a:pt x="27178" y="95250"/>
                    </a:cubicBezTo>
                    <a:cubicBezTo>
                      <a:pt x="28473" y="86502"/>
                      <a:pt x="25526" y="77659"/>
                      <a:pt x="19240" y="71438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744494" y="5678488"/>
                <a:ext cx="365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512" h="9525">
                    <a:moveTo>
                      <a:pt x="0" y="0"/>
                    </a:moveTo>
                    <a:lnTo>
                      <a:pt x="36512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6921818" y="5524024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同一列表内保持一致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922770" y="5703570"/>
              <a:ext cx="25531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混用</a:t>
              </a:r>
              <a:r>
                <a:rPr lang="zh-CN" sz="900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- * +</a:t>
              </a:r>
              <a:r>
                <a:rPr lang="zh-CN" sz="9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不会报错，但会让源文件难以阅读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560070" y="6286500"/>
            <a:ext cx="11071860" cy="371475"/>
            <a:chOff x="560070" y="6286500"/>
            <a:chExt cx="11071860" cy="371475"/>
          </a:xfrm>
        </p:grpSpPr>
        <p:sp>
          <p:nvSpPr>
            <p:cNvPr id="88" name="Line 88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60070" y="647509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第 02 章 · 基本语法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34452" y="647509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13 / 15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476250"/>
            <a:ext cx="5577459" cy="733425"/>
            <a:chOff x="571500" y="476250"/>
            <a:chExt cx="5577459" cy="733425"/>
          </a:xfrm>
        </p:grpSpPr>
        <p:sp>
          <p:nvSpPr>
            <p:cNvPr id="3" name="Freeform 3"/>
            <p:cNvSpPr/>
            <p:nvPr/>
          </p:nvSpPr>
          <p:spPr>
            <a:xfrm>
              <a:off x="571500" y="476250"/>
              <a:ext cx="57150" cy="419100"/>
            </a:xfrm>
            <a:custGeom>
              <a:avLst/>
              <a:gdLst/>
              <a:ahLst/>
              <a:cxnLst/>
              <a:rect l="l" t="t" r="r" b="b"/>
              <a:pathLst>
                <a:path w="57150" h="419100">
                  <a:moveTo>
                    <a:pt x="19050" y="0"/>
                  </a:moveTo>
                  <a:lnTo>
                    <a:pt x="38100" y="0"/>
                  </a:lnTo>
                  <a:cubicBezTo>
                    <a:pt x="48621" y="0"/>
                    <a:pt x="57150" y="8529"/>
                    <a:pt x="57150" y="19050"/>
                  </a:cubicBezTo>
                  <a:lnTo>
                    <a:pt x="57150" y="400050"/>
                  </a:lnTo>
                  <a:cubicBezTo>
                    <a:pt x="57150" y="410571"/>
                    <a:pt x="48621" y="419100"/>
                    <a:pt x="38100" y="419100"/>
                  </a:cubicBezTo>
                  <a:lnTo>
                    <a:pt x="19050" y="419100"/>
                  </a:lnTo>
                  <a:cubicBezTo>
                    <a:pt x="8529" y="419100"/>
                    <a:pt x="0" y="410571"/>
                    <a:pt x="0" y="400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27710" y="518160"/>
              <a:ext cx="373293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代码 ·</a:t>
              </a:r>
              <a:r>
                <a:rPr lang="zh-CN" sz="27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行内</a:t>
              </a:r>
              <a:r>
                <a:rPr lang="zh-CN" sz="27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与</a:t>
              </a:r>
              <a:r>
                <a:rPr lang="zh-CN" sz="2700" b="1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代码块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6760" y="965835"/>
              <a:ext cx="54021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Code · 反引号包裹行内代码 · 围栏式代码块（fenced code blocks）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476375"/>
            <a:ext cx="11049000" cy="1905000"/>
            <a:chOff x="571500" y="1476375"/>
            <a:chExt cx="11049000" cy="1905000"/>
          </a:xfrm>
        </p:grpSpPr>
        <p:sp>
          <p:nvSpPr>
            <p:cNvPr id="7" name="Freeform 7"/>
            <p:cNvSpPr/>
            <p:nvPr/>
          </p:nvSpPr>
          <p:spPr>
            <a:xfrm>
              <a:off x="571500" y="1476375"/>
              <a:ext cx="11049000" cy="1905000"/>
            </a:xfrm>
            <a:custGeom>
              <a:avLst/>
              <a:gdLst/>
              <a:ahLst/>
              <a:cxnLst/>
              <a:rect l="l" t="t" r="r" b="b"/>
              <a:pathLst>
                <a:path w="11049000" h="1905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1790700"/>
                  </a:lnTo>
                  <a:cubicBezTo>
                    <a:pt x="11049000" y="1853826"/>
                    <a:pt x="10997826" y="1905000"/>
                    <a:pt x="1093470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476375"/>
              <a:ext cx="57150" cy="1905000"/>
            </a:xfrm>
            <a:custGeom>
              <a:avLst/>
              <a:gdLst/>
              <a:ahLst/>
              <a:cxnLst/>
              <a:rect l="l" t="t" r="r" b="b"/>
              <a:pathLst>
                <a:path w="57150" h="19050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876425"/>
                  </a:lnTo>
                  <a:cubicBezTo>
                    <a:pt x="57150" y="1892207"/>
                    <a:pt x="44357" y="1905000"/>
                    <a:pt x="28575" y="1905000"/>
                  </a:cubicBezTo>
                  <a:lnTo>
                    <a:pt x="28575" y="1905000"/>
                  </a:lnTo>
                  <a:cubicBezTo>
                    <a:pt x="12793" y="1905000"/>
                    <a:pt x="0" y="1892207"/>
                    <a:pt x="0" y="1876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97731" y="1768475"/>
              <a:ext cx="242888" cy="215900"/>
              <a:chOff x="897731" y="1768475"/>
              <a:chExt cx="242888" cy="2159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97731" y="1822450"/>
                <a:ext cx="5397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107950">
                    <a:moveTo>
                      <a:pt x="53975" y="0"/>
                    </a:moveTo>
                    <a:lnTo>
                      <a:pt x="0" y="53975"/>
                    </a:lnTo>
                    <a:lnTo>
                      <a:pt x="53975" y="1079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6644" y="1822450"/>
                <a:ext cx="5397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107950">
                    <a:moveTo>
                      <a:pt x="0" y="0"/>
                    </a:moveTo>
                    <a:lnTo>
                      <a:pt x="53975" y="53975"/>
                    </a:lnTo>
                    <a:lnTo>
                      <a:pt x="0" y="1079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92188" y="1768475"/>
                <a:ext cx="53975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15900">
                    <a:moveTo>
                      <a:pt x="53975" y="0"/>
                    </a:moveTo>
                    <a:lnTo>
                      <a:pt x="0" y="2159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273492" y="1752124"/>
              <a:ext cx="8471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INLINE CODE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64920" y="1936432"/>
              <a:ext cx="261018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行内代码 · 反引号包裹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857250" y="2333625"/>
              <a:ext cx="4857750" cy="762000"/>
            </a:xfrm>
            <a:custGeom>
              <a:avLst/>
              <a:gdLst/>
              <a:ahLst/>
              <a:cxnLst/>
              <a:rect l="l" t="t" r="r" b="b"/>
              <a:pathLst>
                <a:path w="4857750" h="762000">
                  <a:moveTo>
                    <a:pt x="76200" y="0"/>
                  </a:moveTo>
                  <a:lnTo>
                    <a:pt x="4781550" y="0"/>
                  </a:lnTo>
                  <a:cubicBezTo>
                    <a:pt x="4823634" y="0"/>
                    <a:pt x="4857750" y="34116"/>
                    <a:pt x="4857750" y="76200"/>
                  </a:cubicBezTo>
                  <a:lnTo>
                    <a:pt x="4857750" y="685800"/>
                  </a:lnTo>
                  <a:cubicBezTo>
                    <a:pt x="4857750" y="727884"/>
                    <a:pt x="4823634" y="762000"/>
                    <a:pt x="478155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F172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8695" y="247459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MARKDOWN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4885" y="2727960"/>
              <a:ext cx="32377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At the command prompt, type</a:t>
              </a:r>
              <a:r>
                <a:rPr lang="zh-CN" sz="1200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`</a:t>
              </a:r>
              <a:r>
                <a:rPr lang="zh-CN" sz="120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nano</a:t>
              </a:r>
              <a:r>
                <a:rPr lang="zh-CN" sz="1200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`</a:t>
              </a:r>
              <a:r>
                <a:rPr lang="zh-CN" sz="1200" dirty="0">
                  <a:solidFill>
                    <a:srgbClr val="E2E8F0"/>
                  </a:solidFill>
                  <a:latin typeface="Consolas"/>
                  <a:ea typeface="Microsoft YaHei"/>
                  <a:cs typeface="Consolas"/>
                </a:rPr>
                <a:t>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75567" y="264795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→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000750" y="2333625"/>
              <a:ext cx="5429250" cy="762000"/>
            </a:xfrm>
            <a:custGeom>
              <a:avLst/>
              <a:gdLst/>
              <a:ahLst/>
              <a:cxnLst/>
              <a:rect l="l" t="t" r="r" b="b"/>
              <a:pathLst>
                <a:path w="5429250" h="762000">
                  <a:moveTo>
                    <a:pt x="76200" y="0"/>
                  </a:moveTo>
                  <a:lnTo>
                    <a:pt x="5353050" y="0"/>
                  </a:lnTo>
                  <a:cubicBezTo>
                    <a:pt x="5395134" y="0"/>
                    <a:pt x="5429250" y="34116"/>
                    <a:pt x="5429250" y="76200"/>
                  </a:cubicBezTo>
                  <a:lnTo>
                    <a:pt x="5429250" y="685800"/>
                  </a:lnTo>
                  <a:cubicBezTo>
                    <a:pt x="5429250" y="727884"/>
                    <a:pt x="5395134" y="762000"/>
                    <a:pt x="535305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06B6D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32195" y="2474595"/>
              <a:ext cx="298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预览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28385" y="2727960"/>
              <a:ext cx="30449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At the command prompt, type</a:t>
              </a:r>
              <a:r>
                <a:rPr lang="zh-CN" sz="1200" b="1" dirty="0">
                  <a:solidFill>
                    <a:srgbClr val="1565C0"/>
                  </a:solidFill>
                  <a:latin typeface="Consolas"/>
                  <a:ea typeface="Microsoft YaHei"/>
                  <a:cs typeface="Consolas"/>
                </a:rPr>
                <a:t>nano</a:t>
              </a:r>
              <a:r>
                <a:rPr lang="zh-CN" sz="1200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51749" y="3180874"/>
              <a:ext cx="24953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代码内含反引号 → 用</a:t>
              </a:r>
              <a:r>
                <a:rPr lang="zh-CN" sz="975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``双反引号``</a:t>
              </a:r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包裹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3571875"/>
            <a:ext cx="11049000" cy="2667000"/>
            <a:chOff x="571500" y="3571875"/>
            <a:chExt cx="11049000" cy="2667000"/>
          </a:xfrm>
        </p:grpSpPr>
        <p:sp>
          <p:nvSpPr>
            <p:cNvPr id="24" name="Freeform 24"/>
            <p:cNvSpPr/>
            <p:nvPr/>
          </p:nvSpPr>
          <p:spPr>
            <a:xfrm>
              <a:off x="571500" y="3571875"/>
              <a:ext cx="11049000" cy="2667000"/>
            </a:xfrm>
            <a:custGeom>
              <a:avLst/>
              <a:gdLst/>
              <a:ahLst/>
              <a:cxnLst/>
              <a:rect l="l" t="t" r="r" b="b"/>
              <a:pathLst>
                <a:path w="11049000" h="2667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2552700"/>
                  </a:lnTo>
                  <a:cubicBezTo>
                    <a:pt x="11049000" y="2615826"/>
                    <a:pt x="10997826" y="2667000"/>
                    <a:pt x="10934700" y="2667000"/>
                  </a:cubicBezTo>
                  <a:lnTo>
                    <a:pt x="114300" y="2667000"/>
                  </a:lnTo>
                  <a:cubicBezTo>
                    <a:pt x="51174" y="2667000"/>
                    <a:pt x="0" y="2615826"/>
                    <a:pt x="0" y="2552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71500" y="3571875"/>
              <a:ext cx="57150" cy="2667000"/>
            </a:xfrm>
            <a:custGeom>
              <a:avLst/>
              <a:gdLst/>
              <a:ahLst/>
              <a:cxnLst/>
              <a:rect l="l" t="t" r="r" b="b"/>
              <a:pathLst>
                <a:path w="57150" h="26670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2638425"/>
                  </a:lnTo>
                  <a:cubicBezTo>
                    <a:pt x="57150" y="2654207"/>
                    <a:pt x="44357" y="2667000"/>
                    <a:pt x="28575" y="2667000"/>
                  </a:cubicBezTo>
                  <a:lnTo>
                    <a:pt x="28575" y="2667000"/>
                  </a:lnTo>
                  <a:cubicBezTo>
                    <a:pt x="12793" y="2667000"/>
                    <a:pt x="0" y="2654207"/>
                    <a:pt x="0" y="2638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24719" y="3904456"/>
              <a:ext cx="188912" cy="171450"/>
              <a:chOff x="924719" y="3904456"/>
              <a:chExt cx="188912" cy="1714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924719" y="3904456"/>
                <a:ext cx="67469" cy="134937"/>
              </a:xfrm>
              <a:custGeom>
                <a:avLst/>
                <a:gdLst/>
                <a:ahLst/>
                <a:cxnLst/>
                <a:rect l="l" t="t" r="r" b="b"/>
                <a:pathLst>
                  <a:path w="67469" h="134937">
                    <a:moveTo>
                      <a:pt x="0" y="0"/>
                    </a:moveTo>
                    <a:lnTo>
                      <a:pt x="67469" y="67469"/>
                    </a:lnTo>
                    <a:lnTo>
                      <a:pt x="0" y="134937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19175" y="4066381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273492" y="3847624"/>
              <a:ext cx="8695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CODE BLOCK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64920" y="4031932"/>
              <a:ext cx="39892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代码块 · 推荐 fenced code blocks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857250" y="4429125"/>
              <a:ext cx="5143500" cy="1619250"/>
              <a:chOff x="857250" y="4429125"/>
              <a:chExt cx="5143500" cy="161925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57250" y="4429125"/>
                <a:ext cx="5143500" cy="161925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1619250">
                    <a:moveTo>
                      <a:pt x="76200" y="0"/>
                    </a:moveTo>
                    <a:lnTo>
                      <a:pt x="5067300" y="0"/>
                    </a:lnTo>
                    <a:cubicBezTo>
                      <a:pt x="5109384" y="0"/>
                      <a:pt x="5143500" y="34116"/>
                      <a:pt x="5143500" y="76200"/>
                    </a:cubicBezTo>
                    <a:lnTo>
                      <a:pt x="5143500" y="1543050"/>
                    </a:lnTo>
                    <a:cubicBezTo>
                      <a:pt x="5143500" y="1585134"/>
                      <a:pt x="5109384" y="1619250"/>
                      <a:pt x="5067300" y="1619250"/>
                    </a:cubicBezTo>
                    <a:lnTo>
                      <a:pt x="76200" y="1619250"/>
                    </a:lnTo>
                    <a:cubicBezTo>
                      <a:pt x="34116" y="1619250"/>
                      <a:pt x="0" y="1585134"/>
                      <a:pt x="0" y="1543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57250" y="4429125"/>
                <a:ext cx="51435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5143500" h="304800">
                    <a:moveTo>
                      <a:pt x="76200" y="0"/>
                    </a:moveTo>
                    <a:lnTo>
                      <a:pt x="5067300" y="0"/>
                    </a:lnTo>
                    <a:cubicBezTo>
                      <a:pt x="5109384" y="0"/>
                      <a:pt x="5143500" y="34116"/>
                      <a:pt x="5143500" y="76200"/>
                    </a:cubicBezTo>
                    <a:lnTo>
                      <a:pt x="5143500" y="228600"/>
                    </a:lnTo>
                    <a:cubicBezTo>
                      <a:pt x="5143500" y="270684"/>
                      <a:pt x="5109384" y="304800"/>
                      <a:pt x="5067300" y="304800"/>
                    </a:cubicBezTo>
                    <a:lnTo>
                      <a:pt x="76200" y="304800"/>
                    </a:lnTo>
                    <a:cubicBezTo>
                      <a:pt x="34116" y="304800"/>
                      <a:pt x="0" y="270684"/>
                      <a:pt x="0" y="2286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857250" y="4657725"/>
                <a:ext cx="5143500" cy="762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87742" y="4533424"/>
                <a:ext cx="13554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方法 1 · 缩进 4 空格</a:t>
                </a:r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5143500" y="4505325"/>
                <a:ext cx="762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190500">
                    <a:moveTo>
                      <a:pt x="95250" y="0"/>
                    </a:moveTo>
                    <a:lnTo>
                      <a:pt x="666750" y="0"/>
                    </a:lnTo>
                    <a:cubicBezTo>
                      <a:pt x="719355" y="0"/>
                      <a:pt x="762000" y="42645"/>
                      <a:pt x="762000" y="95250"/>
                    </a:cubicBezTo>
                    <a:lnTo>
                      <a:pt x="762000" y="95250"/>
                    </a:lnTo>
                    <a:cubicBezTo>
                      <a:pt x="762000" y="147855"/>
                      <a:pt x="719355" y="190500"/>
                      <a:pt x="666750" y="190500"/>
                    </a:cubicBezTo>
                    <a:lnTo>
                      <a:pt x="95250" y="190500"/>
                    </a:lnTo>
                    <a:cubicBezTo>
                      <a:pt x="42645" y="190500"/>
                      <a:pt x="0" y="147855"/>
                      <a:pt x="0" y="952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4A3B8">
                  <a:alpha val="18000"/>
                </a:srgbClr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333286" y="4559141"/>
                <a:ext cx="38242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475569"/>
                    </a:solidFill>
                    <a:latin typeface="Consolas"/>
                    <a:ea typeface="Microsoft YaHei"/>
                    <a:cs typeface="Consolas"/>
                  </a:rPr>
                  <a:t>兼容旧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86790" y="4887278"/>
                <a:ext cx="52506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F172A"/>
                    </a:solidFill>
                    <a:latin typeface="Consolas"/>
                    <a:ea typeface="Microsoft YaHei"/>
                    <a:cs typeface="Consolas"/>
                  </a:rPr>
                  <a:t>&lt;html&gt;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86790" y="5087302"/>
                <a:ext cx="5327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F172A"/>
                    </a:solidFill>
                    <a:latin typeface="Consolas"/>
                    <a:ea typeface="Microsoft YaHei"/>
                    <a:cs typeface="Consolas"/>
                  </a:rPr>
                  <a:t>&lt;head&gt;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86790" y="5287328"/>
                <a:ext cx="6170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F172A"/>
                    </a:solidFill>
                    <a:latin typeface="Consolas"/>
                    <a:ea typeface="Microsoft YaHei"/>
                    <a:cs typeface="Consolas"/>
                  </a:rPr>
                  <a:t>&lt;/head&gt;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86790" y="5487352"/>
                <a:ext cx="6094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0F172A"/>
                    </a:solidFill>
                    <a:latin typeface="Consolas"/>
                    <a:ea typeface="Microsoft YaHei"/>
                    <a:cs typeface="Consolas"/>
                  </a:rPr>
                  <a:t>&lt;/html&gt;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88695" y="5789295"/>
                <a:ext cx="21128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每行行首 4 空格 / 1 制表符即可触发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6191250" y="4429125"/>
              <a:ext cx="5238750" cy="1619250"/>
              <a:chOff x="6191250" y="4429125"/>
              <a:chExt cx="5238750" cy="161925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191250" y="4429125"/>
                <a:ext cx="5238750" cy="1619250"/>
              </a:xfrm>
              <a:custGeom>
                <a:avLst/>
                <a:gdLst/>
                <a:ahLst/>
                <a:cxnLst/>
                <a:rect l="l" t="t" r="r" b="b"/>
                <a:pathLst>
                  <a:path w="5238750" h="1619250">
                    <a:moveTo>
                      <a:pt x="76200" y="0"/>
                    </a:moveTo>
                    <a:lnTo>
                      <a:pt x="5162550" y="0"/>
                    </a:lnTo>
                    <a:cubicBezTo>
                      <a:pt x="5204634" y="0"/>
                      <a:pt x="5238750" y="34116"/>
                      <a:pt x="5238750" y="76200"/>
                    </a:cubicBezTo>
                    <a:lnTo>
                      <a:pt x="5238750" y="1543050"/>
                    </a:lnTo>
                    <a:cubicBezTo>
                      <a:pt x="5238750" y="1585134"/>
                      <a:pt x="5204634" y="1619250"/>
                      <a:pt x="5162550" y="1619250"/>
                    </a:cubicBezTo>
                    <a:lnTo>
                      <a:pt x="76200" y="1619250"/>
                    </a:lnTo>
                    <a:cubicBezTo>
                      <a:pt x="34116" y="1619250"/>
                      <a:pt x="0" y="1585134"/>
                      <a:pt x="0" y="1543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0F172A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321742" y="4533424"/>
                <a:ext cx="16694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6B6D4"/>
                    </a:solidFill>
                    <a:latin typeface="Consolas"/>
                    <a:ea typeface="Microsoft YaHei"/>
                    <a:cs typeface="Consolas"/>
                  </a:rPr>
                  <a:t>方法 2 · 围栏式（推荐）</a:t>
                </a:r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10572750" y="4505325"/>
                <a:ext cx="762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190500">
                    <a:moveTo>
                      <a:pt x="95250" y="0"/>
                    </a:moveTo>
                    <a:lnTo>
                      <a:pt x="666750" y="0"/>
                    </a:lnTo>
                    <a:cubicBezTo>
                      <a:pt x="719355" y="0"/>
                      <a:pt x="762000" y="42645"/>
                      <a:pt x="762000" y="95250"/>
                    </a:cubicBezTo>
                    <a:lnTo>
                      <a:pt x="762000" y="95250"/>
                    </a:lnTo>
                    <a:cubicBezTo>
                      <a:pt x="762000" y="147855"/>
                      <a:pt x="719355" y="190500"/>
                      <a:pt x="666750" y="190500"/>
                    </a:cubicBezTo>
                    <a:lnTo>
                      <a:pt x="95250" y="190500"/>
                    </a:lnTo>
                    <a:cubicBezTo>
                      <a:pt x="42645" y="190500"/>
                      <a:pt x="0" y="147855"/>
                      <a:pt x="0" y="952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06B6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522607" y="4559141"/>
                <a:ext cx="86228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06B6D4"/>
                    </a:solidFill>
                    <a:latin typeface="Consolas"/>
                    <a:ea typeface="Microsoft YaHei"/>
                    <a:cs typeface="Consolas"/>
                  </a:rPr>
                  <a:t>RECOMMENDED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319838" y="4831556"/>
                <a:ext cx="88255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6B6D4"/>
                    </a:solidFill>
                    <a:latin typeface="Consolas"/>
                    <a:ea typeface="Microsoft YaHei"/>
                    <a:cs typeface="Consolas"/>
                  </a:rPr>
                  <a:t>```python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319838" y="5069681"/>
                <a:ext cx="9404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06B6D4"/>
                    </a:solidFill>
                    <a:latin typeface="Consolas"/>
                    <a:ea typeface="Microsoft YaHei"/>
                    <a:cs typeface="Consolas"/>
                  </a:rPr>
                  <a:t>def</a:t>
                </a:r>
                <a:r>
                  <a:rPr lang="zh-CN" sz="1125" dirty="0">
                    <a:solidFill>
                      <a:srgbClr val="E2E8F0"/>
                    </a:solidFill>
                    <a:latin typeface="Consolas"/>
                    <a:ea typeface="Microsoft YaHei"/>
                    <a:cs typeface="Consolas"/>
                  </a:rPr>
                  <a:t>hello():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319838" y="5288756"/>
                <a:ext cx="200846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E2E8F0"/>
                    </a:solidFill>
                    <a:latin typeface="Consolas"/>
                    <a:ea typeface="Microsoft YaHei"/>
                    <a:cs typeface="Consolas"/>
                  </a:rPr>
                  <a:t>print(</a:t>
                </a:r>
                <a:r>
                  <a:rPr lang="zh-CN" sz="1125" dirty="0">
                    <a:solidFill>
                      <a:srgbClr val="10B981"/>
                    </a:solidFill>
                    <a:latin typeface="Consolas"/>
                    <a:ea typeface="Microsoft YaHei"/>
                    <a:cs typeface="Consolas"/>
                  </a:rPr>
                  <a:t>"Hello Markdown"</a:t>
                </a:r>
                <a:r>
                  <a:rPr lang="zh-CN" sz="1125" dirty="0">
                    <a:solidFill>
                      <a:srgbClr val="E2E8F0"/>
                    </a:solidFill>
                    <a:latin typeface="Consolas"/>
                    <a:ea typeface="Microsoft YaHei"/>
                    <a:cs typeface="Consolas"/>
                  </a:rPr>
                  <a:t>)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319838" y="5507831"/>
                <a:ext cx="31323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6B6D4"/>
                    </a:solidFill>
                    <a:latin typeface="Consolas"/>
                    <a:ea typeface="Microsoft YaHei"/>
                    <a:cs typeface="Consolas"/>
                  </a:rPr>
                  <a:t>```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322695" y="5808345"/>
                <a:ext cx="255974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三反引号包裹 · 标注语言名 → 自动语法高亮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560070" y="6286500"/>
            <a:ext cx="11071860" cy="371475"/>
            <a:chOff x="560070" y="6286500"/>
            <a:chExt cx="11071860" cy="371475"/>
          </a:xfrm>
        </p:grpSpPr>
        <p:sp>
          <p:nvSpPr>
            <p:cNvPr id="54" name="Line 54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60070" y="647509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第 02 章 · 基本语法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34452" y="647509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14 / 15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2E8F0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6B6D4">
                  <a:alpha val="14000"/>
                </a:srgbClr>
              </a:gs>
              <a:gs pos="10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866963" y="1009650"/>
            <a:ext cx="2458074" cy="709612"/>
            <a:chOff x="4866963" y="1009650"/>
            <a:chExt cx="2458074" cy="709612"/>
          </a:xfrm>
        </p:grpSpPr>
        <p:grpSp>
          <p:nvGrpSpPr>
            <p:cNvPr id="7" name="Group 7"/>
            <p:cNvGrpSpPr/>
            <p:nvPr/>
          </p:nvGrpSpPr>
          <p:grpSpPr>
            <a:xfrm>
              <a:off x="5862887" y="1009650"/>
              <a:ext cx="233113" cy="233113"/>
              <a:chOff x="5862887" y="1009650"/>
              <a:chExt cx="233113" cy="23311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5867400" y="10096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28588"/>
                    </a:moveTo>
                    <a:cubicBezTo>
                      <a:pt x="52438" y="134819"/>
                      <a:pt x="93781" y="176162"/>
                      <a:pt x="100012" y="228600"/>
                    </a:cubicBezTo>
                    <a:cubicBezTo>
                      <a:pt x="125688" y="213798"/>
                      <a:pt x="141897" y="186783"/>
                      <a:pt x="142875" y="157162"/>
                    </a:cubicBezTo>
                    <a:cubicBezTo>
                      <a:pt x="191935" y="139904"/>
                      <a:pt x="225769" y="94793"/>
                      <a:pt x="228600" y="42862"/>
                    </a:cubicBezTo>
                    <a:cubicBezTo>
                      <a:pt x="228600" y="19190"/>
                      <a:pt x="209410" y="0"/>
                      <a:pt x="185738" y="0"/>
                    </a:cubicBezTo>
                    <a:cubicBezTo>
                      <a:pt x="133807" y="2831"/>
                      <a:pt x="88696" y="36665"/>
                      <a:pt x="71438" y="85725"/>
                    </a:cubicBezTo>
                    <a:cubicBezTo>
                      <a:pt x="41817" y="86703"/>
                      <a:pt x="14802" y="102912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5862887" y="1152525"/>
                <a:ext cx="90238" cy="90238"/>
              </a:xfrm>
              <a:custGeom>
                <a:avLst/>
                <a:gdLst/>
                <a:ahLst/>
                <a:cxnLst/>
                <a:rect l="l" t="t" r="r" b="b"/>
                <a:pathLst>
                  <a:path w="90238" h="90238">
                    <a:moveTo>
                      <a:pt x="47375" y="0"/>
                    </a:moveTo>
                    <a:cubicBezTo>
                      <a:pt x="16956" y="17173"/>
                      <a:pt x="0" y="51086"/>
                      <a:pt x="4513" y="85725"/>
                    </a:cubicBezTo>
                    <a:cubicBezTo>
                      <a:pt x="39152" y="90238"/>
                      <a:pt x="73065" y="73281"/>
                      <a:pt x="90238" y="42862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010275" y="106680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4866963" y="1505902"/>
              <a:ext cx="24580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START YOUR MARKDOWN JOURNEY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44001" y="1897380"/>
            <a:ext cx="5703999" cy="1912620"/>
            <a:chOff x="3244001" y="1897380"/>
            <a:chExt cx="5703999" cy="1912620"/>
          </a:xfrm>
        </p:grpSpPr>
        <p:sp>
          <p:nvSpPr>
            <p:cNvPr id="10" name="TextBox 10"/>
            <p:cNvSpPr txBox="1"/>
            <p:nvPr/>
          </p:nvSpPr>
          <p:spPr>
            <a:xfrm>
              <a:off x="4118038" y="1897380"/>
              <a:ext cx="395592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现在，开始你的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44001" y="2419350"/>
              <a:ext cx="5703999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dirty="0">
                  <a:gradFill>
                    <a:gsLst>
                      <a:gs pos="0">
                        <a:srgbClr val="1565C0"/>
                      </a:gs>
                      <a:gs pos="100000">
                        <a:srgbClr val="06B6D4"/>
                      </a:gs>
                    </a:gsLst>
                    <a:lin ang="0" scaled="1"/>
                  </a:gradFill>
                  <a:latin typeface="Segoe UI"/>
                  <a:ea typeface="Microsoft YaHei"/>
                  <a:cs typeface="Segoe UI"/>
                </a:rPr>
                <a:t>第一篇 Markdown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762500" y="32194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28575">
              <a:solidFill>
                <a:srgbClr val="06B6D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30015" y="3505200"/>
              <a:ext cx="433197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轻量 · 可读 · 聚焦内容 · 跨平台 · 生态完善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49805" y="4245292"/>
            <a:ext cx="7310818" cy="1279208"/>
            <a:chOff x="2249805" y="4245292"/>
            <a:chExt cx="7310818" cy="1279208"/>
          </a:xfrm>
        </p:grpSpPr>
        <p:sp>
          <p:nvSpPr>
            <p:cNvPr id="15" name="TextBox 15"/>
            <p:cNvSpPr txBox="1"/>
            <p:nvPr/>
          </p:nvSpPr>
          <p:spPr>
            <a:xfrm>
              <a:off x="2249805" y="4245292"/>
              <a:ext cx="44388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565C0">
                      <a:alpha val="30000"/>
                    </a:srgbClr>
                  </a:solidFill>
                  <a:latin typeface="Consolas"/>
                  <a:ea typeface="Microsoft YaHei"/>
                  <a:cs typeface="Consolas"/>
                </a:rPr>
                <a:t>01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2359819" y="4749800"/>
              <a:ext cx="148431" cy="139700"/>
            </a:xfrm>
            <a:custGeom>
              <a:avLst/>
              <a:gdLst/>
              <a:ahLst/>
              <a:cxnLst/>
              <a:rect l="l" t="t" r="r" b="b"/>
              <a:pathLst>
                <a:path w="148431" h="139700">
                  <a:moveTo>
                    <a:pt x="113506" y="122237"/>
                  </a:moveTo>
                  <a:cubicBezTo>
                    <a:pt x="123151" y="122237"/>
                    <a:pt x="130969" y="130056"/>
                    <a:pt x="130969" y="139700"/>
                  </a:cubicBezTo>
                  <a:cubicBezTo>
                    <a:pt x="130969" y="130056"/>
                    <a:pt x="138787" y="122237"/>
                    <a:pt x="148431" y="122237"/>
                  </a:cubicBezTo>
                  <a:cubicBezTo>
                    <a:pt x="138787" y="122237"/>
                    <a:pt x="130969" y="114419"/>
                    <a:pt x="130969" y="104775"/>
                  </a:cubicBezTo>
                  <a:cubicBezTo>
                    <a:pt x="130969" y="114419"/>
                    <a:pt x="123151" y="122237"/>
                    <a:pt x="113506" y="122237"/>
                  </a:cubicBezTo>
                  <a:moveTo>
                    <a:pt x="113506" y="17462"/>
                  </a:moveTo>
                  <a:cubicBezTo>
                    <a:pt x="123151" y="17462"/>
                    <a:pt x="130969" y="25281"/>
                    <a:pt x="130969" y="34925"/>
                  </a:cubicBezTo>
                  <a:cubicBezTo>
                    <a:pt x="130969" y="25281"/>
                    <a:pt x="138787" y="17462"/>
                    <a:pt x="148431" y="17462"/>
                  </a:cubicBezTo>
                  <a:cubicBezTo>
                    <a:pt x="138787" y="17462"/>
                    <a:pt x="130969" y="9644"/>
                    <a:pt x="130969" y="0"/>
                  </a:cubicBezTo>
                  <a:cubicBezTo>
                    <a:pt x="130969" y="9644"/>
                    <a:pt x="123151" y="17462"/>
                    <a:pt x="113506" y="17462"/>
                  </a:cubicBezTo>
                  <a:moveTo>
                    <a:pt x="52388" y="122237"/>
                  </a:moveTo>
                  <a:cubicBezTo>
                    <a:pt x="52388" y="93305"/>
                    <a:pt x="75842" y="69850"/>
                    <a:pt x="104775" y="69850"/>
                  </a:cubicBezTo>
                  <a:cubicBezTo>
                    <a:pt x="75842" y="69850"/>
                    <a:pt x="52388" y="46395"/>
                    <a:pt x="52388" y="17462"/>
                  </a:cubicBezTo>
                  <a:cubicBezTo>
                    <a:pt x="52388" y="46395"/>
                    <a:pt x="28933" y="69850"/>
                    <a:pt x="0" y="69850"/>
                  </a:cubicBezTo>
                  <a:cubicBezTo>
                    <a:pt x="28933" y="69850"/>
                    <a:pt x="52388" y="93305"/>
                    <a:pt x="52388" y="122237"/>
                  </a:cubicBez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02230" y="474059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选一个工具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72665" y="5077778"/>
              <a:ext cx="12611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Typora · VS Code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72665" y="5287328"/>
              <a:ext cx="12994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Obsidian · Notion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857750" y="4524375"/>
              <a:ext cx="9525" cy="1000125"/>
            </a:xfrm>
            <a:custGeom>
              <a:avLst/>
              <a:gdLst/>
              <a:ahLst/>
              <a:cxnLst/>
              <a:rect l="l" t="t" r="r" b="b"/>
              <a:pathLst>
                <a:path w="9525" h="1000125">
                  <a:moveTo>
                    <a:pt x="0" y="0"/>
                  </a:moveTo>
                  <a:lnTo>
                    <a:pt x="0" y="1000125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97805" y="4245292"/>
              <a:ext cx="55315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6B6D4">
                      <a:alpha val="45000"/>
                    </a:srgbClr>
                  </a:solidFill>
                  <a:latin typeface="Consolas"/>
                  <a:ea typeface="Microsoft YaHei"/>
                  <a:cs typeface="Consolas"/>
                </a:rPr>
                <a:t>02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5425281" y="4741069"/>
              <a:ext cx="122237" cy="157162"/>
              <a:chOff x="5425281" y="4741069"/>
              <a:chExt cx="122237" cy="15716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5503862" y="4741069"/>
                <a:ext cx="43656" cy="43656"/>
              </a:xfrm>
              <a:custGeom>
                <a:avLst/>
                <a:gdLst/>
                <a:ahLst/>
                <a:cxnLst/>
                <a:rect l="l" t="t" r="r" b="b"/>
                <a:pathLst>
                  <a:path w="43656" h="43656">
                    <a:moveTo>
                      <a:pt x="0" y="0"/>
                    </a:moveTo>
                    <a:lnTo>
                      <a:pt x="0" y="34925"/>
                    </a:lnTo>
                    <a:cubicBezTo>
                      <a:pt x="0" y="39747"/>
                      <a:pt x="3909" y="43656"/>
                      <a:pt x="8731" y="43656"/>
                    </a:cubicBezTo>
                    <a:lnTo>
                      <a:pt x="43656" y="43656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425281" y="4741069"/>
                <a:ext cx="122237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157162">
                    <a:moveTo>
                      <a:pt x="104775" y="157162"/>
                    </a:moveTo>
                    <a:lnTo>
                      <a:pt x="17462" y="157162"/>
                    </a:lnTo>
                    <a:cubicBezTo>
                      <a:pt x="7818" y="157162"/>
                      <a:pt x="0" y="149344"/>
                      <a:pt x="0" y="139700"/>
                    </a:cubicBezTo>
                    <a:lnTo>
                      <a:pt x="0" y="17462"/>
                    </a:lnTo>
                    <a:cubicBezTo>
                      <a:pt x="0" y="7818"/>
                      <a:pt x="7818" y="0"/>
                      <a:pt x="17462" y="0"/>
                    </a:cubicBezTo>
                    <a:lnTo>
                      <a:pt x="78581" y="0"/>
                    </a:lnTo>
                    <a:lnTo>
                      <a:pt x="122237" y="43656"/>
                    </a:lnTo>
                    <a:lnTo>
                      <a:pt x="122237" y="139700"/>
                    </a:lnTo>
                    <a:cubicBezTo>
                      <a:pt x="122237" y="149344"/>
                      <a:pt x="114419" y="157162"/>
                      <a:pt x="104775" y="15716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460206" y="47934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31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460206" y="4828381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460206" y="4863306"/>
                <a:ext cx="523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9525">
                    <a:moveTo>
                      <a:pt x="0" y="0"/>
                    </a:move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5650230" y="4740592"/>
              <a:ext cx="14420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写一份 README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20665" y="5077778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从一级标题开始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20665" y="52873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用列表和代码块组织内容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7905750" y="4524375"/>
              <a:ext cx="9525" cy="1000125"/>
            </a:xfrm>
            <a:custGeom>
              <a:avLst/>
              <a:gdLst/>
              <a:ahLst/>
              <a:cxnLst/>
              <a:rect l="l" t="t" r="r" b="b"/>
              <a:pathLst>
                <a:path w="9525" h="1000125">
                  <a:moveTo>
                    <a:pt x="0" y="0"/>
                  </a:moveTo>
                  <a:lnTo>
                    <a:pt x="0" y="1000125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45805" y="4245292"/>
              <a:ext cx="55315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172A">
                      <a:alpha val="40000"/>
                    </a:srgbClr>
                  </a:solidFill>
                  <a:latin typeface="Consolas"/>
                  <a:ea typeface="Microsoft YaHei"/>
                  <a:cs typeface="Consolas"/>
                </a:rPr>
                <a:t>03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8455819" y="4741069"/>
              <a:ext cx="157162" cy="157162"/>
              <a:chOff x="8455819" y="4741069"/>
              <a:chExt cx="157162" cy="15716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455819" y="4741069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0" y="78581"/>
                    </a:moveTo>
                    <a:cubicBezTo>
                      <a:pt x="0" y="121980"/>
                      <a:pt x="35182" y="157162"/>
                      <a:pt x="78581" y="157162"/>
                    </a:cubicBezTo>
                    <a:cubicBezTo>
                      <a:pt x="121980" y="157162"/>
                      <a:pt x="157162" y="121980"/>
                      <a:pt x="157162" y="78581"/>
                    </a:cubicBezTo>
                    <a:cubicBezTo>
                      <a:pt x="157162" y="35182"/>
                      <a:pt x="121980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508206" y="4802188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0" y="17462"/>
                    </a:moveTo>
                    <a:lnTo>
                      <a:pt x="17463" y="34925"/>
                    </a:lnTo>
                    <a:lnTo>
                      <a:pt x="52388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698230" y="474059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体验差异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68665" y="507777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从工具栏排版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68665" y="5287328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→ 专注内容写作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143500" y="5953125"/>
            <a:ext cx="1905000" cy="376237"/>
            <a:chOff x="5143500" y="5953125"/>
            <a:chExt cx="1905000" cy="376237"/>
          </a:xfrm>
        </p:grpSpPr>
        <p:sp>
          <p:nvSpPr>
            <p:cNvPr id="40" name="Line 40"/>
            <p:cNvSpPr/>
            <p:nvPr/>
          </p:nvSpPr>
          <p:spPr>
            <a:xfrm>
              <a:off x="5143500" y="595312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06B6D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591937" y="6116002"/>
              <a:ext cx="10081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— Thank you —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234452" y="64750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15 / 15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