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分享。今天，我们将一起探索一个能让我们的写作变得更加高效和优雅的工具——Markdown。无论你是学生、程序员，还是内容创作者，掌握Markdown都将极大地提升你的工作效率。接下来，让我们一起开启这段从入门到精通的高效写作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到底什么是Markdown呢？简单来说，它是一种轻量级的标记语言。你可以把它想象成一种特殊的文字格式，我们用一些简单的符号，比如#、*、-，来告诉电脑这段文字应该是什么样子。它的工作原理很简单：我们用纯文本写内容，然后用专门的工具把它变成漂亮的格式。这种方式最大的好处就是，我们可以完全专注于写什么，而不是怎么排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我们要选择Markdown呢？它有七大核心优势。首先，它非常简单，十几分钟就能学会。其次，即使不渲染，它的纯文本也很好读。最重要的是，它能让你专注于写作本身。此外，它的兼容性极强，能轻松转换成各种格式，并且是团队协作和技术写作的利器，原生支持代码和公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学习基本语法。首先是标题。在Markdown中，创建标题非常简单，你只需要在文字前面加上#号。一个#是一级标题，两个#是二级标题，最多可以到六级。大家看右边的例子，是不是很直观？合理使用不同级别的标题，能让你的文档结构非常清晰。另外，推荐大家在#号和文字之间留一个空格，这在 Typora 中也是推荐的写法。你也可以直接使用 Ctrl+1 到 Ctrl+6 的快捷键来快速调整标题层级，提高写作效率。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段落和换行，Markdown的规则也很简单。要开始一个新段落，直接按两次回车，留一个空行就行。如果想在同一段落里换行，只需要在行尾敲两个空格再回车。当然，很多编辑器也支持直接按Shift+Enter来换行，更加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突出重点，我们需要用到强调语法。用两个星号或下划线可以实现粗体，一个星号或下划线是斜体。如果想同时加粗和倾斜，就用三个星号。大家看右边的图，在Typora这样的编辑器里，还可以用Ctrl+B和Ctrl+I这样的快捷键，非常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列表是整理信息的好帮手。Markdown支持无序列表和有序列表。无序列表用-、*或+号，有序列表用数字加句点。更强大的是，我们还可以通过缩进来创建嵌套列表，让信息结构更复杂。同样，编辑器也提供了快捷键，比如Ctrl+U和Ctrl+O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程序员来说，Markdown最棒的功能之一就是对代码的支持。行内代码用反引号包裹，代码块则用三个反引号。更酷的是，你可以指定代码的语言，实现语法高亮，让代码看起来更清晰。右边的图展示了如何使用快捷键和选择语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进阶语法。首先是链接和图片。创建链接的格式是方括号加圆括号，方括号里是显示的文字，圆括号里是网址。插入图片也类似，只是在方括号前多了一个感叹号。记住，给图片写好描述文字是一个好习惯，既方便搜索引擎抓取内容，也能让视障人士通过屏幕阅读器理解图片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引用和分割线可以让你的文档更有层次感。引用文本，就在前面加个大于号。如果想在页面上分割不同部分，可以用三个星号或破折号来创建一条分割线。这些小技巧能让你的文档看起来更专业。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rkdown也支持创建表格。虽然手动写表格语法有点繁琐，但它能让数据展示非常清晰。我们用竖线分隔列，用短横线分隔表头和内容。还可以通过冒号来设置文字的对齐方式。在很多编辑器里，比如Typora，直接用Ctrl+T就能方便地插入表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任务列表是一个非常实用的功能。用方括号加空格表示待办，方括号里加个x就表示已完成。这个功能对于写待办清单、项目计划或者会议纪要来说，简直是神器。它能让你的任务管理变得一目了然。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对于学生和科研人员来说，Markdown支持数学公式是一个巨大的福音。它通过内嵌强大的LaTeX语法来实现。行内公式用一个美元符号包裹，块级公式用两个。这样，你就可以在文档中无缝地展示复杂的数学公式了。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高级的应用是绘制图表。通过Mermaid语法，你可以直接用文本写出流程图、时序图等。这对于程序员记录算法，或者项目经理梳理项目流程来说，是一个非常强大的可视化工具。你只需要写几行代码，就能生成清晰的图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rkdown和Git是天生的一对。因为Markdown文件是纯文本，Git可以精确地追踪每一个修改。这使得团队协作变得非常高效，通过合并请求，同事可以清晰地看到你修改了什么。几乎所有主流的代码托管平台，如GitHub和GitLab，都完美支持Markdown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工欲善其事，必先利其器。这里推荐几款优秀的Markdown编辑器。如果你是初学者，我强烈推荐Typora，它所见即所得，非常直观。如果你是程序员，VS Code是你的不二之选。如果你想用Markdown来做笔记和知识管理，Obsidian和Notion都是非常强大的工具。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来总结一下。Markdown是一个简单、高效、兼容性强的工具，能帮助我们更好地进行内容创作和团队协作。理论学习完了，最重要的是实践。我建议大家从现在开始，就尝试用Markdown写一篇文档，你会很快爱上这种写作方式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我的分享到此结束，感谢大家的聆听。现在是问答环节，大家对Markdown有任何问题，都欢迎提出来，我们一起交流探讨。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3.png" Type="http://schemas.openxmlformats.org/officeDocument/2006/relationships/image"/><Relationship Id="rId16" Target="../media/image4.svg" Type="http://schemas.openxmlformats.org/officeDocument/2006/relationships/image"/><Relationship Id="rId17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0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63.png" Type="http://schemas.openxmlformats.org/officeDocument/2006/relationships/image"/><Relationship Id="rId4" Target="../media/image64.sv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71.png" Type="http://schemas.openxmlformats.org/officeDocument/2006/relationships/image"/><Relationship Id="rId6" Target="../media/image72.svg" Type="http://schemas.openxmlformats.org/officeDocument/2006/relationships/image"/><Relationship Id="rId7" Target="../media/image73.jpe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4.jpe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jpeg" Type="http://schemas.openxmlformats.org/officeDocument/2006/relationships/image"/><Relationship Id="rId8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80.jpeg" Type="http://schemas.openxmlformats.org/officeDocument/2006/relationships/image"/><Relationship Id="rId4" Target="../media/image81.jpeg" Type="http://schemas.openxmlformats.org/officeDocument/2006/relationships/image"/><Relationship Id="rId5" Target="../media/image82.jpeg" Type="http://schemas.openxmlformats.org/officeDocument/2006/relationships/image"/><Relationship Id="rId6" Target="../media/image83.jpeg" Type="http://schemas.openxmlformats.org/officeDocument/2006/relationships/image"/><Relationship Id="rId7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84.png" Type="http://schemas.openxmlformats.org/officeDocument/2006/relationships/image"/><Relationship Id="rId6" Target="../media/image85.svg" Type="http://schemas.openxmlformats.org/officeDocument/2006/relationships/image"/><Relationship Id="rId7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6.jpeg" Type="http://schemas.openxmlformats.org/officeDocument/2006/relationships/image"/><Relationship Id="rId3" Target="../notesSlides/notesSlide18.xml" Type="http://schemas.openxmlformats.org/officeDocument/2006/relationships/notesSlide"/><Relationship Id="rId4" Target="../media/image8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使用指南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02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937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从入门到精通，开启你的高效写作之旅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演讲者：</a:t>
            </a: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[你的名字]</a:t>
            </a:r>
            <a:r>
              <a:rPr lang="en-US" b="false" i="false" strike="noStrike" u="none" sz="20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什么是Markdown？ —— 回归写作的本质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核心定义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6416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轻量级标记语言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由约翰·格鲁伯于2004年创建，语法简单且功能丰富。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55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5306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易读易写的纯文本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无需复杂的排版软件，仅通过简单的符号标记即可控制格式。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44196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专注内容本身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设计初衷是让创作者摆脱排版束缚，回归文字创作的本质。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968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工作原理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667000"/>
            <a:ext cx="1524000" cy="1778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27940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使用纯文本编辑器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书写带标记的文本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64500" y="2667000"/>
            <a:ext cx="1524000" cy="1778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7940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渲染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工具自动转换为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HTML/PDF等格式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0" y="2667000"/>
            <a:ext cx="1524000" cy="1778000"/>
          </a:xfrm>
          <a:prstGeom prst="roundRect">
            <a:avLst>
              <a:gd name="adj" fmla="val 6666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15500" y="2794000"/>
            <a:ext cx="1397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实现“内容”与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“表现形式”分离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499100"/>
            <a:ext cx="558800" cy="558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778000" y="5397500"/>
            <a:ext cx="939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 Markdown 就像是为文字穿上了一件轻便的‘格式外衣’，简单、优雅，且功能强大，让写作重新变得纯粹。”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为什么选择Markdown？——七大核心优势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47800" y="2032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语法简单，学习成本极低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掌握几个符号即可完成80%排版，10-15分钟快速上手，几乎无门槛。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47800" y="3302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可读性强，结构清晰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纯文本本身就具有良好的阅读体验，标题、列表层级分明，结构一目了然。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9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47800" y="4699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专注内容，告别排版焦虑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从繁琐的字体、字号、对齐等排版工作中解放，让精力专注于逻辑梳理和内容本身。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30800" y="2032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纯文本格式，兼容性无与伦比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不依赖特定软件，以 .md 为后缀的纯文本文件可在任何电脑、手机或编辑器上打开和编辑。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3302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130800" y="3302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轻松转换，格式灵活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支持导出为 HTML、PDF、Word、PPT 等多种格式，满足不同场景下的分发和展示需求。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4699000" y="4699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130800" y="4699000"/>
            <a:ext cx="241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版本控制友好，团队协作利器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完美兼容 Git 等版本控制工具，便于多人协作时进行代码审查和合并，是技术团队标配。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144000" y="2540000"/>
            <a:ext cx="203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技术友好</a:t>
            </a: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支持代码与公式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3810000"/>
            <a:ext cx="2794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原生支持代码块高亮和 LaTeX 数学公式书写，无需额外插件，对程序员、科研人员和学术创作者极为友好。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标题语法 —— 构建文档骨架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核心方法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在标题文字前添加符号</a:t>
            </a:r>
            <a:r>
              <a:rPr lang="en-US" b="true" i="false" strike="noStrike" u="none" sz="13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的数量代表标题的层级。一级标题最大，六级标题最小，是梳理文档逻辑最基础的方式。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48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32385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 一级标题 (Heading 1)</a:t>
            </a:r>
            <a: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## 二级标题 (Heading 2)</a:t>
            </a:r>
            <a: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### 三级标题 (Heading 3)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3238500"/>
            <a:ext cx="203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#### 四级标题 (H4)</a:t>
            </a: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##### 五级标题 (H5)</a:t>
            </a: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###### 六级标题 (H6)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76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4724400"/>
            <a:ext cx="127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格式建议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请务必在 # 号和标题文字之间保留一个空格，这是标准的书写规范。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667000" y="4762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048000" y="4724400"/>
            <a:ext cx="127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高效快捷键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Typora中可直接使用快捷键 Ctrl + 数字键(1-6) 快速设置标题层级。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191000" y="476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572000" y="4724400"/>
            <a:ext cx="1206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结构规划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利用不同层级的标题将文档划分为章节，自动生成清晰的大纲视图。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418" b="418"/>
          <a:stretch>
            <a:fillRect/>
          </a:stretch>
        </p:blipFill>
        <p:spPr>
          <a:xfrm rot="0" flipH="false" flipV="false">
            <a:off x="6477000" y="1905000"/>
            <a:ext cx="4699000" cy="4064000"/>
          </a:xfrm>
          <a:prstGeom prst="roundRect">
            <a:avLst>
              <a:gd name="adj" fmla="val 2500"/>
            </a:avLst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段落与换行 — 基础文本排版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286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27200" y="2260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/ 段落 (Paragraph)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048000"/>
            <a:ext cx="4597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分隔方法：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直接输入文字，段落之间用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一个或多个空白行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进行分隔即可。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4064000"/>
            <a:ext cx="4597400" cy="1397000"/>
          </a:xfrm>
          <a:prstGeom prst="roundRect">
            <a:avLst>
              <a:gd name="adj" fmla="val 7272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19200" y="4254500"/>
            <a:ext cx="42926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这是第一段。文本内容直接输入即可。</a:t>
            </a: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这是第二段。它们之间有一个空白行，系统会自动识别为新段落。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286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88200" y="22606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/ 换行 (Line Break)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27800" y="3048000"/>
            <a:ext cx="4597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换行方法：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在需要换行的位置，输入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两个或多个空格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，然后按下回车键即可。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27800" y="4064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80200" y="4254500"/>
            <a:ext cx="4292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这是第一行的末尾··</a:t>
            </a: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/>
            </a:r>
            <a:b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这是第二行。（注意看第一行末尾的两个空格）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27800" y="5334000"/>
            <a:ext cx="45974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80200" y="54864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35800" y="5448300"/>
            <a:ext cx="393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技巧：多数编辑器支持直接按 Shift + Enter 快速换行。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强调语法 —— 突出重点内容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1968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粗体 (Bold)</a:t>
            </a:r>
            <a:r>
              <a:rPr lang="en-US" b="fals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⌨️ Ctrl + 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方法：使用</a:t>
            </a:r>
            <a:r>
              <a:rPr lang="en-US" b="false" i="false" strike="noStrike" u="none" sz="1200">
                <a:solidFill>
                  <a:srgbClr val="EF4444"/>
                </a:solidFill>
                <a:latin typeface="Menlo"/>
                <a:ea typeface="Menlo"/>
                <a:cs typeface="Menlo"/>
                <a:sym typeface="Menlo"/>
              </a:rPr>
              <a:t> **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false" i="false" strike="noStrike" u="none" sz="1200">
                <a:solidFill>
                  <a:srgbClr val="EF4444"/>
                </a:solidFill>
                <a:latin typeface="Menlo"/>
                <a:ea typeface="Menlo"/>
                <a:cs typeface="Menlo"/>
                <a:sym typeface="Menlo"/>
              </a:rPr>
              <a:t>__ __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包裹文字。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示例：</a:t>
            </a:r>
            <a:r>
              <a:rPr lang="en-US" b="false" i="false" strike="noStrike" u="none" sz="1200">
                <a:solidFill>
                  <a:srgbClr val="3B82F6"/>
                </a:solidFill>
                <a:latin typeface="Menlo"/>
                <a:ea typeface="Menlo"/>
                <a:cs typeface="Menlo"/>
                <a:sym typeface="Menlo"/>
              </a:rPr>
              <a:t>`**这是粗体文本**`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这是粗体文本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925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683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斜体 (Italic)</a:t>
            </a:r>
            <a:r>
              <a:rPr lang="en-US" b="fals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⌨️ Ctrl + 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方法：使用</a:t>
            </a:r>
            <a:r>
              <a:rPr lang="en-US" b="false" i="false" strike="noStrike" u="none" sz="1200">
                <a:solidFill>
                  <a:srgbClr val="EF4444"/>
                </a:solidFill>
                <a:latin typeface="Menlo"/>
                <a:ea typeface="Menlo"/>
                <a:cs typeface="Menlo"/>
                <a:sym typeface="Menlo"/>
              </a:rPr>
              <a:t> *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</a:t>
            </a:r>
            <a:r>
              <a:rPr lang="en-US" b="false" i="false" strike="noStrike" u="none" sz="1200">
                <a:solidFill>
                  <a:srgbClr val="EF4444"/>
                </a:solidFill>
                <a:latin typeface="Menlo"/>
                <a:ea typeface="Menlo"/>
                <a:cs typeface="Menlo"/>
                <a:sym typeface="Menlo"/>
              </a:rPr>
              <a:t>_ _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包裹文字。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示例：</a:t>
            </a:r>
            <a:r>
              <a:rPr lang="en-US" b="false" i="false" strike="noStrike" u="none" sz="1200">
                <a:solidFill>
                  <a:srgbClr val="3B82F6"/>
                </a:solidFill>
                <a:latin typeface="Menlo"/>
                <a:ea typeface="Menlo"/>
                <a:cs typeface="Menlo"/>
                <a:sym typeface="Menlo"/>
              </a:rPr>
              <a:t>`*这是斜体文本*`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false" i="tru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这是斜体文本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905000" y="5270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粗斜体 (Bold and Italic)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方法：使用</a:t>
            </a:r>
            <a:r>
              <a:rPr lang="en-US" b="false" i="false" strike="noStrike" u="none" sz="1200">
                <a:solidFill>
                  <a:srgbClr val="EF4444"/>
                </a:solidFill>
                <a:latin typeface="Menlo"/>
                <a:ea typeface="Menlo"/>
                <a:cs typeface="Menlo"/>
                <a:sym typeface="Menlo"/>
              </a:rPr>
              <a:t>* ***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包裹文字。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示例：</a:t>
            </a:r>
            <a:r>
              <a:rPr lang="en-US" b="false" i="false" strike="noStrike" u="none" sz="1200">
                <a:solidFill>
                  <a:srgbClr val="3B82F6"/>
                </a:solidFill>
                <a:latin typeface="Menlo"/>
                <a:ea typeface="Menlo"/>
                <a:cs typeface="Menlo"/>
                <a:sym typeface="Menlo"/>
              </a:rPr>
              <a:t>`***这是粗斜体文本***`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b="true" i="tru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这是粗斜体文本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4762500"/>
          </a:xfrm>
          <a:prstGeom prst="roundRect">
            <a:avLst>
              <a:gd name="adj" fmla="val 32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0" r="0" t="2419" b="2419"/>
          <a:stretch>
            <a:fillRect/>
          </a:stretch>
        </p:blipFill>
        <p:spPr>
          <a:xfrm rot="0" flipH="false" flipV="false">
            <a:off x="6477000" y="2032000"/>
            <a:ext cx="4699000" cy="4254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列表语法 —— 整理信息结构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604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2057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905000"/>
            <a:ext cx="533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9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无序列表 (Unordered List)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语法：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以连字符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`-`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、星号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`*`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或加号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`+`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开头。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300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rPr>
              <a:t>- 项目一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快捷键：</a:t>
            </a:r>
            <a:r>
              <a:rPr lang="en-US" b="false" i="false" strike="noStrike" u="none" sz="13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Ctrl + U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92500"/>
            <a:ext cx="6604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92500"/>
            <a:ext cx="762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92200" y="37719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778000" y="3619500"/>
            <a:ext cx="5334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9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有序列表 (Ordered List)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语法：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以数字加英文句点开头，如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`1.`、`2.`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技巧：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所有行都写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`1.`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会自动修正顺序 |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快捷键：</a:t>
            </a:r>
            <a:r>
              <a:rPr lang="en-US" b="false" i="false" strike="noStrike" u="none" sz="1300">
                <a:solidFill>
                  <a:srgbClr val="EF4444"/>
                </a:solidFill>
                <a:latin typeface="Roboto Mono"/>
                <a:ea typeface="Roboto Mono"/>
                <a:cs typeface="Roboto Mono"/>
                <a:sym typeface="Roboto Mono"/>
              </a:rPr>
              <a:t>Ctrl + O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143500"/>
            <a:ext cx="660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1435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54229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5270500"/>
            <a:ext cx="533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9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嵌套列表 (Nested List)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将光标置于子项前，按</a:t>
            </a:r>
            <a:r>
              <a:rPr lang="en-US" b="false" i="false" strike="noStrike" u="none" sz="1300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Tab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键缩进 (或4个空格)，可混合使用。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主项目一 → 子项目A，构建层级清晰的复杂结构。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0" y="1778000"/>
            <a:ext cx="3810000" cy="47625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0" r="0" t="19852" b="19852"/>
          <a:stretch>
            <a:fillRect/>
          </a:stretch>
        </p:blipFill>
        <p:spPr>
          <a:xfrm rot="0" flipH="false" flipV="false">
            <a:off x="7810500" y="2032000"/>
            <a:ext cx="3429000" cy="3810000"/>
          </a:xfrm>
          <a:prstGeom prst="roundRect">
            <a:avLst>
              <a:gd name="adj" fmla="val 296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7620000" y="59690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Typora 编辑器快捷键示意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代码语法 —— 程序员的最爱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47800" y="1879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行内代码 Inline Code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在文本中使用单个反引号 `` ` `` 包裹代码片段，常用于强调变量、函数名或命令。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4699000" cy="635000"/>
          </a:xfrm>
          <a:prstGeom prst="roundRect">
            <a:avLst>
              <a:gd name="adj" fmla="val 12000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544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示例：在脚本开头请输入 `import os` 引入模块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47800" y="429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代码块 Code Block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50800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```python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def hello():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print("Hi!")</a:t>
            </a: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```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29000" y="49530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包裹：三个反引号或4个空格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高亮：指定语言名称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快捷键：</a:t>
            </a:r>
            <a:r>
              <a:rPr lang="en-US" b="true" i="false" strike="noStrike" u="none" sz="13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Ctrl + Shift + K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905000"/>
            <a:ext cx="469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编辑器快捷键操作示意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34611" b="34611"/>
          <a:stretch>
            <a:fillRect/>
          </a:stretch>
        </p:blipFill>
        <p:spPr>
          <a:xfrm rot="0" flipH="false" flipV="false">
            <a:off x="6477000" y="2413000"/>
            <a:ext cx="4699000" cy="16510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4191000"/>
            <a:ext cx="469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🔧 语法高亮语言选择菜单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rcRect l="18629" r="18629" t="0" b="0"/>
          <a:stretch>
            <a:fillRect/>
          </a:stretch>
        </p:blipFill>
        <p:spPr>
          <a:xfrm rot="0" flipH="false" flipV="false">
            <a:off x="6477000" y="4699000"/>
            <a:ext cx="4699000" cy="12700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链接与图片 — 丰富文档内容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/ 链接 (Links)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98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651000" y="29210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语法格式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[链接文字](链接地址 "可选的标题说明")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93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68400" y="4127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4064000"/>
            <a:ext cx="393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代码示例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[访问 Markdown 官方教程](https://markdown.com.cn)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080000"/>
            <a:ext cx="2286000" cy="889000"/>
          </a:xfrm>
          <a:prstGeom prst="roundRect">
            <a:avLst>
              <a:gd name="adj" fmla="val 11428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5207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效果预览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sng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Markdown 官方教程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29000" y="5080000"/>
            <a:ext cx="2286000" cy="88900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5207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常用快捷键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Ctrl + K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/ 图片 (Images)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2794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629400" y="2984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2921000"/>
            <a:ext cx="393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语法与示例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![图片描述 (Alt Text)](图片URL)</a:t>
            </a:r>
            <a:r>
              <a:rPr lang="en-US" b="false" i="false" strike="noStrike" u="none" sz="11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// 例如: ![Logo](logo.png)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7048500" y="4064000"/>
            <a:ext cx="1270000" cy="952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2" id="22"/>
          <p:cNvSpPr/>
          <p:nvPr/>
        </p:nvSpPr>
        <p:spPr>
          <a:xfrm rot="0" flipH="false" flipV="false">
            <a:off x="8445500" y="4127500"/>
            <a:ext cx="254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渲染效果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如左侧所示，直接嵌入文档中，图文并茂。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5207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29400" y="5372100"/>
            <a:ext cx="279400" cy="279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5334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💡 重要提示：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“图片描述”对搜索引擎SEO优化和视障用户的无障碍访问至关重要。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引用与分割线 —— 增强文档表现力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06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引用 (Blockquotes)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📝 核心用法：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在引用文本前添加英文大于号 `&gt;` 即可。若需嵌套引用，叠加使用多个 `&gt;`。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5814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&gt; Markdown is a lightweight markup language...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445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06500" y="4597400"/>
            <a:ext cx="431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tru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is a lightweight markup language with plain text formatting syntax. Designed so that it can be converted to HTML and many other formats.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58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⚡️ 快速生成：使用快捷键</a:t>
            </a:r>
            <a:r>
              <a:rPr lang="en-US" b="tru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Ctrl + Shift + Q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一键套用格式。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85000" y="2006600"/>
            <a:ext cx="419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分割线 (Horizontal Rules)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667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📐 核心用法：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在单独的一行上输入三个或更多的英文星号 `***`、破折号 `---` 或下划线 `___`，按回车即可。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429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619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445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1000" y="4635500"/>
            <a:ext cx="4191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953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清晰划分文档章节，增强视觉层次感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558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提示：输入符号后请确保前后无多余空格，以便正确渲染。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表格 —— 清晰展示数据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953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20320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| 姓名 | 年龄 | 职业 |</a:t>
            </a: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|------|------|----------|</a:t>
            </a: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| 张三 | 25 | 工程师 |</a:t>
            </a: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| 李四 | 30 | 设计师 |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905000"/>
            <a:ext cx="4953000" cy="1524000"/>
          </a:xfrm>
          <a:prstGeom prst="roundRect">
            <a:avLst>
              <a:gd name="adj" fmla="val 6666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350000" y="2032000"/>
          <a:ext cx="4699000" cy="14097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397000"/>
                <a:gridCol w="1905000"/>
              </a:tblGrid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姓名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年龄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职业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张三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工程师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李四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87500" y="4318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基础语法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列分隔：使用竖线 `|` 分隔不同列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行分隔：使用短横线 `-` 分隔表头与内容行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064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270500" y="4318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对齐控制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953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`:---`：文本内容左对齐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`---:`：文本内容右对齐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`:--:`：文本内容居中对齐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4064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4318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953500" y="4318000"/>
            <a:ext cx="222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效率工具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4953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手动输入Markdown表格可能较为繁琐。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在Typora等编辑器中，使用</a:t>
            </a: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Ctrl + T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可快速弹出表格创建对话框。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任务列表 — 待办事项管理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1778000"/>
            <a:ext cx="8890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905000" y="20320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📝 任务清单示例 (Task List)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59000" y="2794000"/>
            <a:ext cx="355600" cy="355600"/>
          </a:xfrm>
          <a:prstGeom prst="roundRect">
            <a:avLst>
              <a:gd name="adj" fmla="val 21428"/>
            </a:avLst>
          </a:prstGeom>
          <a:noFill/>
          <a:ln w="25400" cmpd="sng" cap="flat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94000" y="2768600"/>
            <a:ext cx="711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 Markdown 基础语法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9000" y="3556000"/>
            <a:ext cx="355600" cy="355600"/>
          </a:xfrm>
          <a:prstGeom prst="roundRect">
            <a:avLst>
              <a:gd name="adj" fmla="val 21428"/>
            </a:avLst>
          </a:prstGeom>
          <a:noFill/>
          <a:ln w="25400" cmpd="sng" cap="flat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794000" y="3530600"/>
            <a:ext cx="711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练习使用代码块功能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159000" y="43180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09800" y="43688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794000" y="4292600"/>
            <a:ext cx="711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sngStrike" u="none" sz="1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 PPT 初稿设计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508000" cy="508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778000" y="5397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日常待办 (To-Do)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清晰罗列每日计划，提高执行力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5207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99000" y="55245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5461000" y="5397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 (Plan)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拆解项目里程碑，把控关键节点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5207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382000" y="55245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144000" y="5397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会议纪要 (Minutes)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快速记录决议事项，落实行动清单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数学公式 —— 科研与学术写作的利器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796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778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语法支持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无需额外配置，直接内嵌强大的 LaTeX 语法，即可在文档中完美渲染各类复杂的数学符号与公式。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2540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175000"/>
            <a:ext cx="2286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行内公式 (Inline)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使用单个美元符号 `$` 包裹公式。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质能方程是 $E=mc^2$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直接嵌入文本行中，自然流畅。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3048000"/>
            <a:ext cx="2540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3175000"/>
            <a:ext cx="2286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块级公式 (Display)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使用两个连续的美元符号 `$$` 包裹。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$$\int_{a}^{b} f(x) dx$$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单独成行并居中显示，突出重点。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334000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558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524000" y="5461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常用工具支持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Typora (原生支持) · VS Code (插件支持) · Jupyter Notebook · 各类科研编辑器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04000" y="2286000"/>
            <a:ext cx="4826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11645" b="11645"/>
          <a:stretch>
            <a:fillRect/>
          </a:stretch>
        </p:blipFill>
        <p:spPr>
          <a:xfrm rot="0" flipH="false" flipV="false">
            <a:off x="6921500" y="2603500"/>
            <a:ext cx="4191000" cy="2413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604000" y="508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Powered by LaTeX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流程图与图表——可视化思维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334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Mermaid 语法：文本即图表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许多现代 Markdown 编辑器原生支持 Mermaid 语法，无需复杂工具，仅通过纯文本即可绘制出专业的流程图、时序图、甘特图、状态图等。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4826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683000"/>
            <a:ext cx="457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graph TD</a:t>
            </a: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A(开始) --&gt; B{条件满足?}</a:t>
            </a: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B -- Yes --&gt; C[执行逻辑]</a:t>
            </a: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B -- No --&gt; D(结束)</a:t>
            </a: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/>
            </a:r>
            <a:b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100">
                <a:solidFill>
                  <a:srgbClr val="D1D5DB"/>
                </a:solidFill>
                <a:latin typeface="Menlo"/>
                <a:ea typeface="Menlo"/>
                <a:cs typeface="Menlo"/>
                <a:sym typeface="Menlo"/>
              </a:rPr>
              <a:t>C --&gt; D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207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核心应用场景：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非常适合程序员梳理算法逻辑、架构师设计系统拓扑、以及项目管理者拆解复杂任务流程。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651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17857" b="17857"/>
          <a:stretch>
            <a:fillRect/>
          </a:stretch>
        </p:blipFill>
        <p:spPr>
          <a:xfrm rot="0" flipH="false" flipV="false">
            <a:off x="7112000" y="2032000"/>
            <a:ext cx="3556000" cy="228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6604000" y="4572000"/>
            <a:ext cx="457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简单 · 高效 · 强大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从纯文本到可视化图表的无缝转换，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让思维的脉络清晰可见。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版本控制与团队协作 —— Git的最佳拍档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06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 Markdown 适合版本控制？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67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纯文本特性：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 可精确追踪每个字符变化，无二进制格式冲突风险。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可读性强：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`git diff` 输出的差异直观清晰，极大降低了代码审查门槛。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生态融合：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/ GitLab 默认渲染 MD，文档与代码仓库完美共生。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434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标准协作流程 (Git Workflow)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953000"/>
            <a:ext cx="2349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 创建分支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git checkout -b feature/new-doc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 本地提交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git commit -m "Update content"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推送远程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git push origin feature/new-doc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4953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04. 发起 MR/PR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提交合并请求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05. 代码审查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同事讨论与批注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06. 合并上线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合并至主分支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778000"/>
            <a:ext cx="4953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rcRect l="0" r="0" t="23214" b="23214"/>
          <a:stretch>
            <a:fillRect/>
          </a:stretch>
        </p:blipFill>
        <p:spPr>
          <a:xfrm rot="0" flipH="false" flipV="false">
            <a:off x="7175500" y="2286000"/>
            <a:ext cx="3556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6731000" y="4572000"/>
            <a:ext cx="4445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“代码是骨架，文档是血肉”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+ Git 组合，让文档维护像代码开发一样严谨，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彻底解决文档“版本混乱”与“孤岛”难题。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推荐Markdown编辑器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16000" y="2286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905000"/>
            <a:ext cx="342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全能型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Typora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所见即所得，界面简洁，功能强大。</a:t>
            </a:r>
            <a:r>
              <a:rPr lang="en-US" b="true" i="false" strike="noStrike" u="none" sz="13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强烈推荐初学者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12471" r="12471" t="0" b="0"/>
          <a:stretch>
            <a:fillRect/>
          </a:stretch>
        </p:blipFill>
        <p:spPr>
          <a:xfrm rot="0" flipH="false" flipV="false">
            <a:off x="6477000" y="2286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747000" y="1905000"/>
            <a:ext cx="342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全能型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VS Code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强大的代码编辑器，通过插件获得极佳体验，适合程序员使用。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rcRect l="33333" r="33333" t="0" b="0"/>
          <a:stretch>
            <a:fillRect/>
          </a:stretch>
        </p:blipFill>
        <p:spPr>
          <a:xfrm rot="0" flipH="false" flipV="false">
            <a:off x="1016000" y="4826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2286000" y="4445000"/>
            <a:ext cx="342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笔记与知识管理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Obsidian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基于本地Markdown文件的双向链接笔记软件，适合构建个人知识体系。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477000" y="4826000"/>
            <a:ext cx="1016000" cy="101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7747000" y="4445000"/>
            <a:ext cx="342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笔记与知识管理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600"/>
              </a:spcBef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Notion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将Markdown与数据库、看板等功能结合，是强大的All-in-one工作空间。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总结与下一步行动建议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095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057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核心回顾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730500"/>
            <a:ext cx="609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3111500"/>
            <a:ext cx="45974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spcBef>
                <a:spcPts val="800"/>
              </a:spcBef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Markdown 是一种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轻量级、易读易写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的纯文本标记语言，上手成本极低。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摆脱格式的束缚，让你将所有精力都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专注于内容创作本身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，大幅提升写作效率。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拥有超强的兼容性，可无缝转换为 Word、PDF、HTML 等多种格式。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33333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是技术文档写作、跨团队协作沟通和个人知识库管理的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最佳拍档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27800" y="2095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35800" y="2057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下一步行动建议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27800" y="2730500"/>
            <a:ext cx="6096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27800" y="3111500"/>
            <a:ext cx="45974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spcBef>
                <a:spcPts val="800"/>
              </a:spcBef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立即实践：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选择一个推荐的编辑器（如 Typora），尝试将你的下一篇工作文档或笔记用 Markdown 来写。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400"/>
              </a:spcBef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建立模板：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针对周报、会议纪要、读书笔记等高频文档，建立属于你自己的 Markdown 模板库。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400"/>
              </a:spcBef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探索进阶：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深入学习，尝试在文档中嵌入数学公式、绘制 Mermaid 流程图等高级功能。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  <a:spcBef>
                <a:spcPts val="1400"/>
              </a:spcBef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加入社区：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参与技术社区的 Markdown 主题讨论，分享你的使用心得与技巧。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032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683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207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 FOR LISTENING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