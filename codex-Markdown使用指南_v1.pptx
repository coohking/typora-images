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572000" cy="6748272"/>
          </a:xfrm>
          <a:prstGeom prst="rect">
            <a:avLst/>
          </a:prstGeom>
          <a:solidFill>
            <a:srgbClr val="18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15968" y="109728"/>
            <a:ext cx="256032" cy="67482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352044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Markdown
使用指南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788920"/>
            <a:ext cx="32918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CCFBF1"/>
                </a:solidFill>
                <a:latin typeface="Microsoft YaHei"/>
              </a:rPr>
              <a:t>从纯文本到结构化文档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703320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轻量级标记语言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关注内容结构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• 适合文档、代码与协作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61872"/>
            <a:ext cx="5349240" cy="2816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88152" y="1408176"/>
            <a:ext cx="48371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7DD3FC"/>
                </a:solidFill>
                <a:latin typeface="Consolas"/>
              </a:rPr>
              <a:t>markdown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1700784"/>
            <a:ext cx="4837176" cy="2249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# 一级标题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## 二级标题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**加粗**  *斜体*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- 列表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`inline code`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4572000"/>
            <a:ext cx="2395728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33288" y="4773168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3288" y="485546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4773168"/>
            <a:ext cx="14356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可编辑文本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5230368"/>
            <a:ext cx="1938528" cy="2651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所有正文、表格与代码示例均为 PPT 对象。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4572000"/>
            <a:ext cx="260604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76488" y="4773168"/>
            <a:ext cx="438912" cy="438912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485546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F6057"/>
                </a:solidFill>
                <a:latin typeface="Microsoft YaHei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4773168"/>
            <a:ext cx="1645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教程式版式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230368"/>
            <a:ext cx="2148840" cy="2651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适合课堂讲解、培训和知识分享。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学习路径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411480"/>
            <a:ext cx="201168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461772"/>
            <a:ext cx="17739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内容总览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38912"/>
            <a:ext cx="320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234440"/>
            <a:ext cx="5120640" cy="4434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435608"/>
            <a:ext cx="438912" cy="43891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51790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3560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01 简介&amp;优点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1892808"/>
            <a:ext cx="4663440" cy="3648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Markdown 是什么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语法简单、可读性强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纯文本、兼容性与团队协作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代码块、数学公式与应用场景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234440"/>
            <a:ext cx="5120640" cy="4434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3952" y="1435608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1790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43560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02 基本语法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892808"/>
            <a:ext cx="4663440" cy="3648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标题、段落与换行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粗体、斜体等强调方式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有序列表和无序列表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反引号、转义与代码块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Markdown 是什么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411480"/>
            <a:ext cx="201168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461772"/>
            <a:ext cx="17739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38912"/>
            <a:ext cx="320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170432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Markdown 是一种轻量级标记语言，用易读易写的纯文本组织文档结构，让作者把注意力放在内容本身。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240280"/>
            <a:ext cx="3383280" cy="19202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" y="2441448"/>
            <a:ext cx="438912" cy="43891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52374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41448"/>
            <a:ext cx="24231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轻量级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898648"/>
            <a:ext cx="2926080" cy="11338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用少量符号完成标题、加粗、列表、代码等常见排版。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240280"/>
            <a:ext cx="3383280" cy="19202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08576" y="2441448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252374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441448"/>
            <a:ext cx="24231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纯文本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2898648"/>
            <a:ext cx="2926080" cy="11338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文件本质是 `.md` 文本，易打开、易保存，也不依赖特定软件。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240280"/>
            <a:ext cx="3383280" cy="19202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9" y="2441448"/>
            <a:ext cx="438912" cy="438912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52374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F6057"/>
                </a:solidFill>
                <a:latin typeface="Microsoft YaHei"/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7" y="2441448"/>
            <a:ext cx="24231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可转换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2898648"/>
            <a:ext cx="2926080" cy="11338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可导出为 HTML、PDF、Word、PPT、LaTeX 等多种格式。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4617720"/>
            <a:ext cx="7863840" cy="11430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04872" y="4764024"/>
            <a:ext cx="7351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7DD3FC"/>
                </a:solidFill>
                <a:latin typeface="Consolas"/>
              </a:rPr>
              <a:t>plain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04872" y="5056632"/>
            <a:ext cx="7351776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# 文档标题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正文段落使用空白行分隔。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- 要点一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- 要点二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为什么选择 Markdown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411480"/>
            <a:ext cx="201168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461772"/>
            <a:ext cx="17739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核心优点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38912"/>
            <a:ext cx="320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34440"/>
            <a:ext cx="5029200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435608"/>
            <a:ext cx="438912" cy="43891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1790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435608"/>
            <a:ext cx="4069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语法简单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892808"/>
            <a:ext cx="4572000" cy="10424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学习成本低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几分钟即可掌握常用语法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234440"/>
            <a:ext cx="5029200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3096" y="1435608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51790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1435608"/>
            <a:ext cx="4069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可读性强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892808"/>
            <a:ext cx="4572000" cy="10424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未渲染时也能看出结构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比 HTML 更直观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447288"/>
            <a:ext cx="5029200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" y="3648456"/>
            <a:ext cx="438912" cy="438912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730752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F6057"/>
                </a:solidFill>
                <a:latin typeface="Microsoft YaHei"/>
              </a:rPr>
              <a:t>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3648456"/>
            <a:ext cx="4069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专注内容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105656"/>
            <a:ext cx="4572000" cy="10424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先写结构，再处理样式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减少排版打断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447288"/>
            <a:ext cx="5029200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3096" y="3648456"/>
            <a:ext cx="438912" cy="43891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3730752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Microsoft YaHei"/>
              </a:rPr>
              <a:t>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0024" y="3648456"/>
            <a:ext cx="4069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兼容性强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105656"/>
            <a:ext cx="4572000" cy="10424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文件体积小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跨系统、跨工具打开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更适合技术写作与协作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411480"/>
            <a:ext cx="201168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461772"/>
            <a:ext cx="17739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进阶优势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38912"/>
            <a:ext cx="320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170432"/>
            <a:ext cx="3273552" cy="4480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371600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453896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371600"/>
            <a:ext cx="23134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版本控制友好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1828800"/>
            <a:ext cx="2816352" cy="36941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纯文本易比较 diff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适合 Git / GitHub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常用于 README、API 文档、开发指南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1170432"/>
            <a:ext cx="3273552" cy="4480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45152" y="1371600"/>
            <a:ext cx="438912" cy="43891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453896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&lt;/&gt;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371600"/>
            <a:ext cx="23134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代码与公式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1828800"/>
            <a:ext cx="2816352" cy="36941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支持代码块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支持行内代码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可结合 LaTeX 表达数学公式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170432"/>
            <a:ext cx="3273552" cy="4480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1" y="1371600"/>
            <a:ext cx="438912" cy="438912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1" y="1453896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F6057"/>
                </a:solidFill>
                <a:latin typeface="Microsoft YaHei"/>
              </a:rP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79" y="1371600"/>
            <a:ext cx="23134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应用范围广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1828800"/>
            <a:ext cx="2816352" cy="36941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技术博客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科研笔记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软件说明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AI 与程序开发文档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Obsidian / Notion 知识管理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Markdown 的工作方式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411480"/>
            <a:ext cx="201168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461772"/>
            <a:ext cx="17739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使用模型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38912"/>
            <a:ext cx="320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Microsoft Ya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063240" cy="208483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" y="2029968"/>
            <a:ext cx="438912" cy="43891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11226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6776" y="202996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写结构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2606040" cy="12984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用 `#`、列表、代码块表达内容层级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828800"/>
            <a:ext cx="3063240" cy="208483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64608" y="2029968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211226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1536" y="202996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看预览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487168"/>
            <a:ext cx="2606040" cy="12984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编辑器把纯文本渲染为排版效果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828800"/>
            <a:ext cx="3063240" cy="208483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59368" y="2029968"/>
            <a:ext cx="438912" cy="438912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11226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F6057"/>
                </a:solidFill>
                <a:latin typeface="Microsoft YaHei"/>
              </a:rPr>
              <a:t>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02996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转格式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487168"/>
            <a:ext cx="2606040" cy="12984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导出 HTML、PDF、Word、PPT 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31920" y="2871216"/>
            <a:ext cx="685800" cy="0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26679" y="2871216"/>
            <a:ext cx="685801" cy="0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971800" y="4572000"/>
            <a:ext cx="6263640" cy="10789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27832" y="4718304"/>
            <a:ext cx="57515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7DD3FC"/>
                </a:solidFill>
                <a:latin typeface="Consolas"/>
              </a:rPr>
              <a:t>structure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7832" y="5010912"/>
            <a:ext cx="5751576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# 实验方法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# 实验结果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# 讨论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标题语法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411480"/>
            <a:ext cx="201168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461772"/>
            <a:ext cx="17739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基本语法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38912"/>
            <a:ext cx="320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078992"/>
            <a:ext cx="9875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Microsoft YaHei"/>
              </a:rPr>
              <a:t>在单词或短语前添加井号 `#`，数量代表标题级别。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1664208"/>
          <a:ext cx="69494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474720"/>
                <a:gridCol w="1325880"/>
              </a:tblGrid>
              <a:tr h="72237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Markdown 语法</a:t>
                      </a:r>
                    </a:p>
                  </a:txBody>
                  <a:tcPr marL="54864" marR="54864" marT="36576" marB="36576" anchor="ctr">
                    <a:solidFill>
                      <a:srgbClr val="1825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HTML</a:t>
                      </a:r>
                    </a:p>
                  </a:txBody>
                  <a:tcPr marL="54864" marR="54864" marT="36576" marB="36576" anchor="ctr">
                    <a:solidFill>
                      <a:srgbClr val="1825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54864" marR="54864" marT="36576" marB="36576" anchor="ctr">
                    <a:solidFill>
                      <a:srgbClr val="18253B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# Heading level 1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Consolas"/>
                        </a:rPr>
                        <a:t>&lt;h1&gt;Heading level 1&lt;/h1&gt;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一级标题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## Heading level 2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Consolas"/>
                        </a:rPr>
                        <a:t>&lt;h2&gt;Heading level 2&lt;/h2&gt;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二级标题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### Heading level 3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Consolas"/>
                        </a:rPr>
                        <a:t>&lt;h3&gt;Heading level 3&lt;/h3&gt;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三级标题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###### Heading level 6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Consolas"/>
                        </a:rPr>
                        <a:t>&lt;h6&gt;Heading level 6&lt;/h6&gt;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六级标题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56448" y="1828800"/>
            <a:ext cx="3154680" cy="19202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75104"/>
            <a:ext cx="264261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7DD3FC"/>
                </a:solidFill>
                <a:latin typeface="Consola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67712"/>
            <a:ext cx="2642616" cy="1353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# 一级标题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## 二级标题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### 三级标题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###### 六级标题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4096512"/>
            <a:ext cx="3154680" cy="115214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57616" y="4297680"/>
            <a:ext cx="438912" cy="43891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4379976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Microsoft YaHe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429768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书写提示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4754880"/>
            <a:ext cx="26974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井号后保留一个空格，结构会更清晰，也更符合多数解析器习惯。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段落与换行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411480"/>
            <a:ext cx="201168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461772"/>
            <a:ext cx="17739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基本语法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38912"/>
            <a:ext cx="320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261872"/>
            <a:ext cx="5120640" cy="1965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463040"/>
            <a:ext cx="438912" cy="43891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545336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63040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段落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1920240"/>
            <a:ext cx="4663440" cy="11795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使用空白行将一行或多行文本分隔，形成新的段落。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261872"/>
            <a:ext cx="5120640" cy="1965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3952" y="1463040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45336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BR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463040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换行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20240"/>
            <a:ext cx="4663440" cy="11795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在一行末尾添加两个或多个空格，再按回车，可创建 `&lt;br&gt;` 换行。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417320" y="3657600"/>
          <a:ext cx="941831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06240"/>
                <a:gridCol w="3749039"/>
              </a:tblGrid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 marL="54864" marR="54864" marT="36576" marB="36576" anchor="ctr">
                    <a:solidFill>
                      <a:srgbClr val="1825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Markdown 写法</a:t>
                      </a:r>
                    </a:p>
                  </a:txBody>
                  <a:tcPr marL="54864" marR="54864" marT="36576" marB="36576" anchor="ctr">
                    <a:solidFill>
                      <a:srgbClr val="1825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渲染含义</a:t>
                      </a:r>
                    </a:p>
                  </a:txBody>
                  <a:tcPr marL="54864" marR="54864" marT="36576" marB="36576" anchor="ctr">
                    <a:solidFill>
                      <a:srgbClr val="18253B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段落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第一段\n\n第二段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两个独立段落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换行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第一行··\n第二行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icrosoft YaHei"/>
                        </a:rPr>
                        <a:t>同一段中的强制换行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417320" y="5230368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注：表格中的“··”表示行尾空格。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强调语法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411480"/>
            <a:ext cx="201168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461772"/>
            <a:ext cx="17739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基本语法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38912"/>
            <a:ext cx="320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060704"/>
            <a:ext cx="7132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Microsoft YaHei"/>
              </a:rPr>
              <a:t>通过粗体和斜体突出文本的重要性。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627632"/>
          <a:ext cx="71780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3063240"/>
                <a:gridCol w="2971800"/>
              </a:tblGrid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FFFFFF"/>
                          </a:solidFill>
                          <a:latin typeface="Microsoft YaHei"/>
                        </a:rPr>
                        <a:t>效果</a:t>
                      </a:r>
                    </a:p>
                  </a:txBody>
                  <a:tcPr marL="54864" marR="54864" marT="36576" marB="36576" anchor="ctr">
                    <a:solidFill>
                      <a:srgbClr val="1825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FFFFFF"/>
                          </a:solidFill>
                          <a:latin typeface="Microsoft YaHei"/>
                        </a:rPr>
                        <a:t>Markdown 语法</a:t>
                      </a:r>
                    </a:p>
                  </a:txBody>
                  <a:tcPr marL="54864" marR="54864" marT="36576" marB="36576" anchor="ctr">
                    <a:solidFill>
                      <a:srgbClr val="1825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FFFFFF"/>
                          </a:solidFill>
                          <a:latin typeface="Microsoft YaHei"/>
                        </a:rPr>
                        <a:t>HTML</a:t>
                      </a:r>
                    </a:p>
                  </a:txBody>
                  <a:tcPr marL="54864" marR="54864" marT="36576" marB="36576" anchor="ctr">
                    <a:solidFill>
                      <a:srgbClr val="18253B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0F172A"/>
                          </a:solidFill>
                          <a:latin typeface="Microsoft YaHei"/>
                        </a:rPr>
                        <a:t>粗体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0F172A"/>
                          </a:solidFill>
                          <a:latin typeface="Microsoft YaHei"/>
                        </a:rPr>
                        <a:t>I love **bold text**.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0F172A"/>
                          </a:solidFill>
                          <a:latin typeface="Consolas"/>
                        </a:rPr>
                        <a:t>&lt;strong&gt;bold text&lt;/strong&gt;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0F172A"/>
                          </a:solidFill>
                          <a:latin typeface="Microsoft YaHei"/>
                        </a:rPr>
                        <a:t>粗体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0F172A"/>
                          </a:solidFill>
                          <a:latin typeface="Microsoft YaHei"/>
                        </a:rPr>
                        <a:t>I love __bold text__.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0F172A"/>
                          </a:solidFill>
                          <a:latin typeface="Consolas"/>
                        </a:rPr>
                        <a:t>&lt;strong&gt;bold text&lt;/strong&gt;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0F172A"/>
                          </a:solidFill>
                          <a:latin typeface="Microsoft YaHei"/>
                        </a:rPr>
                        <a:t>斜体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0F172A"/>
                          </a:solidFill>
                          <a:latin typeface="Microsoft YaHei"/>
                        </a:rPr>
                        <a:t>The *cat's meow*.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0F172A"/>
                          </a:solidFill>
                          <a:latin typeface="Consolas"/>
                        </a:rPr>
                        <a:t>&lt;em&gt;cat's meow&lt;/em&gt;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0F172A"/>
                          </a:solidFill>
                          <a:latin typeface="Microsoft YaHei"/>
                        </a:rPr>
                        <a:t>斜体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0F172A"/>
                          </a:solidFill>
                          <a:latin typeface="Microsoft YaHei"/>
                        </a:rPr>
                        <a:t>The _cat's meow_.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0F172A"/>
                          </a:solidFill>
                          <a:latin typeface="Consolas"/>
                        </a:rPr>
                        <a:t>&lt;em&gt;cat's meow&lt;/em&gt;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366760" y="1691640"/>
            <a:ext cx="278892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67928" y="1892808"/>
            <a:ext cx="438912" cy="438912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97510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F6057"/>
                </a:solidFill>
                <a:latin typeface="Microsoft YaHei"/>
              </a:rPr>
              <a:t>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6" y="189280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粗体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350008"/>
            <a:ext cx="233172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用两个星号或下划线包裹内容。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337560"/>
            <a:ext cx="278892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67928" y="3538728"/>
            <a:ext cx="438912" cy="43891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362102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353872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斜体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995928"/>
            <a:ext cx="233172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用一个星号或下划线包裹内容。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列表语法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411480"/>
            <a:ext cx="201168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461772"/>
            <a:ext cx="17739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基本语法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38912"/>
            <a:ext cx="320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170432"/>
            <a:ext cx="5074920" cy="4343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371600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453896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3716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有序列表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1828800"/>
            <a:ext cx="4617720" cy="35570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在每个列表项前添加数字并紧跟英文句点；列表应从 1 开始。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743200"/>
            <a:ext cx="4443984" cy="202996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2889504"/>
            <a:ext cx="3931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7DD3FC"/>
                </a:solidFill>
                <a:latin typeface="Consolas"/>
              </a:rPr>
              <a:t>ordered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182112"/>
            <a:ext cx="393192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1. First item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2. Second item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3. Third item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 1. Indented item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 2. Indented item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4. Fourth item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1170432"/>
            <a:ext cx="5074920" cy="4343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28816" y="1371600"/>
            <a:ext cx="438912" cy="43891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453896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13716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无序列表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1828800"/>
            <a:ext cx="4617720" cy="35570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在列表项前添加 `-`、`*` 或 `+`；缩进可创建嵌套列表。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38544" y="2743200"/>
            <a:ext cx="4443984" cy="202996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94576" y="2889504"/>
            <a:ext cx="3931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7DD3FC"/>
                </a:solidFill>
                <a:latin typeface="Consolas"/>
              </a:rPr>
              <a:t>unordered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3182112"/>
            <a:ext cx="393192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- First item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- Second item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- Third item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- Indented item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- Indented item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- Fourth item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代码语法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411480"/>
            <a:ext cx="201168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461772"/>
            <a:ext cx="17739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基本语法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38912"/>
            <a:ext cx="320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115568"/>
            <a:ext cx="32461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316736"/>
            <a:ext cx="438912" cy="43891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399032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316736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行内代码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1773936"/>
            <a:ext cx="2788920" cy="6309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用反引号包裹单词或短语，例如 `nano`。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115568"/>
            <a:ext cx="32461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1316736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399032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``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1316736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转义反引号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1773936"/>
            <a:ext cx="2788920" cy="6309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当内容含反引号时，可使用双反引号包裹。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15568"/>
            <a:ext cx="32461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39328" y="1316736"/>
            <a:ext cx="438912" cy="438912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399032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F6057"/>
                </a:solidFill>
                <a:latin typeface="Microsoft YaHei"/>
              </a:rPr>
              <a:t>&lt;/&gt;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1316736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代码块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773936"/>
            <a:ext cx="2788920" cy="6309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缩进四个空格，或使用围栏式代码块。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8992" y="2999232"/>
            <a:ext cx="4892040" cy="23317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5024" y="3145536"/>
            <a:ext cx="43799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7DD3FC"/>
                </a:solidFill>
                <a:latin typeface="Consolas"/>
              </a:rPr>
              <a:t>code + formula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3438144"/>
            <a:ext cx="4379976" cy="1764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def hello():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  print("Hello Markdown")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$E = mc^2$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&lt;html&gt;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&lt;head&gt;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&lt;/head&gt;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&lt;/html&gt;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473952" y="3035808"/>
          <a:ext cx="45720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</a:tblGrid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写法</a:t>
                      </a:r>
                    </a:p>
                  </a:txBody>
                  <a:tcPr marL="54864" marR="54864" marT="36576" marB="36576" anchor="ctr">
                    <a:solidFill>
                      <a:srgbClr val="1825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 marL="54864" marR="54864" marT="36576" marB="36576" anchor="ctr">
                    <a:solidFill>
                      <a:srgbClr val="18253B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onsolas"/>
                        </a:rPr>
                        <a:t>`inline code`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标记命令、变量名、文件名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onsolas"/>
                        </a:rPr>
                        <a:t>```text ... ```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展示多行代码或配置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$E = mc^2$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书写 LaTeX 数学公式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常见应用场景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411480"/>
            <a:ext cx="201168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461772"/>
            <a:ext cx="17739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38912"/>
            <a:ext cx="320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207008"/>
            <a:ext cx="3246120" cy="1691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408176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490472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08176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GitHub 项目文档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1865376"/>
            <a:ext cx="2788920" cy="9052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README、开发指南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207008"/>
            <a:ext cx="3246120" cy="1691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0872" y="1408176"/>
            <a:ext cx="438912" cy="43891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490472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Blog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408176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技术博客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1865376"/>
            <a:ext cx="2788920" cy="9052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文章、教程、知识分享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3" y="1207008"/>
            <a:ext cx="3246120" cy="1691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94191" y="1408176"/>
            <a:ext cx="438912" cy="438912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1" y="1490472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F6057"/>
                </a:solidFill>
                <a:latin typeface="Microsoft YaHei"/>
              </a:rPr>
              <a:t>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1408176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科研笔记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3" y="1865376"/>
            <a:ext cx="2788920" cy="9052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实验记录、公式、代码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3383280"/>
            <a:ext cx="3246120" cy="1691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3584448"/>
            <a:ext cx="438912" cy="43891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66674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Microsoft YaHei"/>
              </a:rPr>
              <a:t>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584448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软件说明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" y="4041648"/>
            <a:ext cx="2788920" cy="9052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安装、配置、API 文档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9704" y="3383280"/>
            <a:ext cx="3246120" cy="1691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90872" y="3584448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66674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584448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AI 与程序开发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8304" y="4041648"/>
            <a:ext cx="2788920" cy="9052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提示词、模型说明、代码注释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3023" y="3383280"/>
            <a:ext cx="3246120" cy="1691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94191" y="3584448"/>
            <a:ext cx="438912" cy="43891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1" y="366674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KM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3584448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知识管理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3" y="4041648"/>
            <a:ext cx="2788920" cy="9052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Obsidian、Notion 等笔记系统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Markdown 快速参考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411480"/>
            <a:ext cx="201168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461772"/>
            <a:ext cx="177393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38912"/>
            <a:ext cx="320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234440"/>
            <a:ext cx="4800600" cy="449884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380744"/>
            <a:ext cx="42885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7DD3FC"/>
                </a:solidFill>
                <a:latin typeface="Consolas"/>
              </a:rPr>
              <a:t>cheat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673352"/>
            <a:ext cx="4288536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# 标题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正文段落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**粗体**  *斜体*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1. 有序列表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- 无序列表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`行内代码`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```python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def hello():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  print("Hello Markdown")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```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21208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3368" y="1435608"/>
            <a:ext cx="438912" cy="43891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517904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1435608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记住一个核心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92808"/>
            <a:ext cx="475488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Markdown 先表达结构，再交给工具渲染样式。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61488"/>
            <a:ext cx="521208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2962656"/>
            <a:ext cx="438912" cy="43891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044952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2962656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适合持续维护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19856"/>
            <a:ext cx="475488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纯文本让版本比较、多人协作和跨平台迁移更轻松。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288536"/>
            <a:ext cx="521208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73368" y="4489704"/>
            <a:ext cx="438912" cy="438912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572000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F6057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6" y="4489704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技术内容友好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46904"/>
            <a:ext cx="475488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代码、公式、表格和链接都能用简洁语法表达。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5815584"/>
            <a:ext cx="4754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参考：markdown.com.cn/basic-syntax/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455664"/>
            <a:ext cx="108630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Microsoft YaHei"/>
              </a:rPr>
              <a:t>Markdown 使用指南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052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Microsoft YaHe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