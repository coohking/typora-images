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notesSlides/notesSlide1.xml" Type="http://schemas.openxmlformats.org/officeDocument/2006/relationships/notesSlide"/><Relationship Id="rId19" Target="notesSlides/notesSlide2.xml" Type="http://schemas.openxmlformats.org/officeDocument/2006/relationships/notesSlide"/><Relationship Id="rId2" Target="viewProps.xml" Type="http://schemas.openxmlformats.org/officeDocument/2006/relationships/view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汇报一篇关于大型语言模型在医疗问答领域应用的前沿论文。这篇论文探讨了如何利用先进的AI技术，让机器具备专家级别的医疗问答能力，这对于提升医疗服务的可及性和效率具有重要意义。接下来，我将从研究背景、模型方法、实验结果和结论展望四个方面展开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本次汇报将分为四个部分。首先，我们将探讨本研究的背景与动机，了解为什么医疗问答是一个重要且具有挑战性的领域。其次，我会详细介绍研究中使用的核心模型——Med-PaLM 2的架构和训练方法。接着，我们将看到一系列严谨的实验结果，展示模型的性能。最后，我将对整个研究进行总结，并展望未来的发展方向。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研究背景。医疗问答是一项极具挑战性的任务。它不仅要求系统掌握海量的专业医学知识，还需要具备强大的逻辑推理能力来应对复杂的临床场景。更重要的是，医疗领域的高风险性对回答的准确性提出了极高的要求。然而，随着大型语言模型，也就是LLM的出现，我们看到了新的机遇。这些模型通过在海量数据上的预训练，已经具备了强大的知识获取、推理和生成能力，为解决医疗问答的难题带来了曙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本研究的核心是Med-PaLM 2模型。它的构建主要分为三个步骤。首先，我们从一个强大的通用模型PaLM 2出发。然后，通过指令微调，让模型学习如何更好地理解和回答医学问题。最后，也是最关键的一步，我们采用了人类反馈强化学习，也就是RLHF技术。通过让人类医学专家对模型的回答进行评分和反馈，我们引导模型生成更专业、更可靠的答案，使其表现更接近真正的专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为了全面评估Med-PaLM 2的性能，我们设计了严谨的实验。我们使用了多个权威的医学问答数据集，包括模拟医师资格考试的MedQA，覆盖多学科的MMLU，以及基于真实文献和用户问题的PubMedQA和LiveQA。评估方法不仅包括传统的自动指标，更重要的是，我们引入了人类专家评估。我们邀请了专业的临床医生，从准确性、有用性、深度和共情能力等多个维度，对模型的回答进行盲评，以确保评估的全面性和权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实验结果非常令人振奋。这张图表展示了在模拟美国医师执照考试的MedQA数据集上，不同模型和人类医生的表现对比。可以看到，经过专门优化的Med-PaLM 2，其准确率达到了85%左右，显著超越了其他通用大模型，包括GPT-4。虽然与人类医生的平均水平还有一定差距，但这一结果已经证明了Med-PaLM 2在专业医学知识和推理方面的巨大潜力。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除了客观的准确率，我们更关注人类专家对模型回答的主观评价。在准确性方面，Med-PaLM 2的表现已经接近初级医生，但仍存在AI固有的“幻觉”问题。在临床实用性上，模型能够提供结构化的诊断思路，具有一定的辅助价值。值得一提的是，通过RLHF的优化，模型在人文关怀方面也取得了进步，回答更加温和、有同理心。当然，这些方面仍有很大的提升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总结一下。本研究的结论是，通过有效的技术路径，大型语言模型确实有潜力在医疗问答领域达到接近专家的水平，展现出巨大的应用价值。但同时，我们也必须清醒地认识到其潜在的风险。展望未来，我们认为有几个重要的发展方向：首先是融合多模态数据，让模型看得更全面；其次是增强模型的可解释性，让决策过程更透明；此外，还要关注个性化和公平性，并积极探索在真实世界中的部署和监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notesSlides/notesSlide5.xml" Type="http://schemas.openxmlformats.org/officeDocument/2006/relationships/notesSlid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notesSlides/notesSlide9.xml" Type="http://schemas.openxmlformats.org/officeDocument/2006/relationships/notesSlide"/><Relationship Id="rId7"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4A5C51"/>
                </a:solidFill>
                <a:latin typeface="Noto Sans SC"/>
                <a:ea typeface="Noto Sans SC"/>
                <a:cs typeface="Noto Sans SC"/>
                <a:sym typeface="Noto Sans SC"/>
              </a:rPr>
              <a:t>Toward Expert-Level Medical Question Answering</a:t>
            </a:r>
            <a:r>
              <a:rPr lang="en-US" b="true" i="false" strike="noStrike" u="none" sz="3600">
                <a:solidFill>
                  <a:srgbClr val="4A5C51"/>
                </a:solidFill>
                <a:latin typeface="Noto Sans SC"/>
                <a:ea typeface="Noto Sans SC"/>
                <a:cs typeface="Noto Sans SC"/>
                <a:sym typeface="Noto Sans SC"/>
              </a:rPr>
              <a:t/>
            </a:r>
            <a:br>
              <a:rPr lang="en-US" b="true" i="false" strike="noStrike" u="none" sz="3600">
                <a:solidFill>
                  <a:srgbClr val="4A5C51"/>
                </a:solidFill>
                <a:latin typeface="Noto Sans SC"/>
                <a:ea typeface="Noto Sans SC"/>
                <a:cs typeface="Noto Sans SC"/>
                <a:sym typeface="Noto Sans SC"/>
              </a:rPr>
            </a:br>
            <a:r>
              <a:rPr lang="en-US" b="true" i="false" strike="noStrike" u="none" sz="3600">
                <a:solidFill>
                  <a:srgbClr val="4A5C51"/>
                </a:solidFill>
                <a:latin typeface="Noto Sans SC"/>
                <a:ea typeface="Noto Sans SC"/>
                <a:cs typeface="Noto Sans SC"/>
                <a:sym typeface="Noto Sans SC"/>
              </a:rPr>
              <a:t>with Large Language Models</a:t>
            </a:r>
            <a:endParaRPr lang="en-US" sz="1100"/>
          </a:p>
        </p:txBody>
      </p:sp>
      <p:sp>
        <p:nvSpPr>
          <p:cNvPr name="AutoShape 3" id="3"/>
          <p:cNvSpPr/>
          <p:nvPr/>
        </p:nvSpPr>
        <p:spPr>
          <a:xfrm rot="0" flipH="false" flipV="false">
            <a:off x="0" y="3302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4A5C51"/>
                </a:solidFill>
                <a:latin typeface="Noto Sans SC"/>
                <a:ea typeface="Noto Sans SC"/>
                <a:cs typeface="Noto Sans SC"/>
                <a:sym typeface="Noto Sans SC"/>
              </a:rPr>
              <a:t>论文汇报</a:t>
            </a:r>
            <a:endParaRPr lang="en-US" sz="1100"/>
          </a:p>
        </p:txBody>
      </p:sp>
      <p:sp>
        <p:nvSpPr>
          <p:cNvPr name="AutoShape 4" id="4"/>
          <p:cNvSpPr/>
          <p:nvPr/>
        </p:nvSpPr>
        <p:spPr>
          <a:xfrm rot="0" flipH="false" flipV="false">
            <a:off x="0" y="4572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596D63"/>
                </a:solidFill>
                <a:latin typeface="Noto Sans SC"/>
                <a:ea typeface="Noto Sans SC"/>
                <a:cs typeface="Noto Sans SC"/>
                <a:sym typeface="Noto Sans SC"/>
              </a:rPr>
              <a:t>汇报人：[请填写您的姓名] · 日期：2026年3月</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191000" y="5588000"/>
            <a:ext cx="558800" cy="558800"/>
          </a:xfrm>
          <a:prstGeom prst="rect">
            <a:avLst/>
          </a:prstGeom>
        </p:spPr>
      </p:pic>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16600" y="5588000"/>
            <a:ext cx="558800" cy="558800"/>
          </a:xfrm>
          <a:prstGeom prst="rect">
            <a:avLst/>
          </a:prstGeom>
        </p:spPr>
      </p:pic>
      <p:pic>
        <p:nvPicPr>
          <p:cNvPr name="Picture 7" id="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442200" y="5588000"/>
            <a:ext cx="558800" cy="558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目录 CONTENTS</a:t>
            </a:r>
            <a:endParaRPr lang="en-US" sz="1100"/>
          </a:p>
        </p:txBody>
      </p:sp>
      <p:sp>
        <p:nvSpPr>
          <p:cNvPr name="AutoShape 3" id="3"/>
          <p:cNvSpPr/>
          <p:nvPr/>
        </p:nvSpPr>
        <p:spPr>
          <a:xfrm rot="0" flipH="false" flipV="false">
            <a:off x="762000" y="1397000"/>
            <a:ext cx="10668000" cy="1206500"/>
          </a:xfrm>
          <a:prstGeom prst="roundRect">
            <a:avLst>
              <a:gd name="adj" fmla="val 12631"/>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43000" y="1625600"/>
            <a:ext cx="1143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4A5C51"/>
                </a:solidFill>
                <a:latin typeface="Noto Sans SC"/>
                <a:ea typeface="Noto Sans SC"/>
                <a:cs typeface="Noto Sans SC"/>
                <a:sym typeface="Noto Sans SC"/>
              </a:rPr>
              <a:t>壹</a:t>
            </a:r>
            <a:endParaRPr lang="en-US" sz="1100"/>
          </a:p>
        </p:txBody>
      </p:sp>
      <p:sp>
        <p:nvSpPr>
          <p:cNvPr name="AutoShape 5" id="5"/>
          <p:cNvSpPr/>
          <p:nvPr/>
        </p:nvSpPr>
        <p:spPr>
          <a:xfrm rot="0" flipH="false" flipV="false">
            <a:off x="2540000" y="1625600"/>
            <a:ext cx="800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333333"/>
                </a:solidFill>
                <a:latin typeface="Noto Sans SC"/>
                <a:ea typeface="Noto Sans SC"/>
                <a:cs typeface="Noto Sans SC"/>
                <a:sym typeface="Noto Sans SC"/>
              </a:rPr>
              <a:t>研究背景与动机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探讨医疗问答领域的挑战与LLM带来的新机遇。</a:t>
            </a:r>
          </a:p>
        </p:txBody>
      </p:sp>
      <p:sp>
        <p:nvSpPr>
          <p:cNvPr name="AutoShape 6" id="6"/>
          <p:cNvSpPr/>
          <p:nvPr/>
        </p:nvSpPr>
        <p:spPr>
          <a:xfrm rot="0" flipH="false" flipV="false">
            <a:off x="762000" y="2794000"/>
            <a:ext cx="10668000" cy="1206500"/>
          </a:xfrm>
          <a:prstGeom prst="roundRect">
            <a:avLst>
              <a:gd name="adj" fmla="val 12631"/>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1143000" y="3022600"/>
            <a:ext cx="1143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4A5C51"/>
                </a:solidFill>
                <a:latin typeface="Noto Sans SC"/>
                <a:ea typeface="Noto Sans SC"/>
                <a:cs typeface="Noto Sans SC"/>
                <a:sym typeface="Noto Sans SC"/>
              </a:rPr>
              <a:t>贰</a:t>
            </a:r>
            <a:endParaRPr lang="en-US" sz="1100"/>
          </a:p>
        </p:txBody>
      </p:sp>
      <p:sp>
        <p:nvSpPr>
          <p:cNvPr name="AutoShape 8" id="8"/>
          <p:cNvSpPr/>
          <p:nvPr/>
        </p:nvSpPr>
        <p:spPr>
          <a:xfrm rot="0" flipH="false" flipV="false">
            <a:off x="2540000" y="3022600"/>
            <a:ext cx="800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333333"/>
                </a:solidFill>
                <a:latin typeface="Noto Sans SC"/>
                <a:ea typeface="Noto Sans SC"/>
                <a:cs typeface="Noto Sans SC"/>
                <a:sym typeface="Noto Sans SC"/>
              </a:rPr>
              <a:t>模型架构与方法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介绍Med-PaLM 2模型的构建与优化策略。</a:t>
            </a:r>
          </a:p>
        </p:txBody>
      </p:sp>
      <p:sp>
        <p:nvSpPr>
          <p:cNvPr name="AutoShape 9" id="9"/>
          <p:cNvSpPr/>
          <p:nvPr/>
        </p:nvSpPr>
        <p:spPr>
          <a:xfrm rot="0" flipH="false" flipV="false">
            <a:off x="762000" y="4191000"/>
            <a:ext cx="10668000" cy="1206500"/>
          </a:xfrm>
          <a:prstGeom prst="roundRect">
            <a:avLst>
              <a:gd name="adj" fmla="val 12631"/>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143000" y="4419600"/>
            <a:ext cx="1143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4A5C51"/>
                </a:solidFill>
                <a:latin typeface="Noto Sans SC"/>
                <a:ea typeface="Noto Sans SC"/>
                <a:cs typeface="Noto Sans SC"/>
                <a:sym typeface="Noto Sans SC"/>
              </a:rPr>
              <a:t>叁</a:t>
            </a:r>
            <a:endParaRPr lang="en-US" sz="1100"/>
          </a:p>
        </p:txBody>
      </p:sp>
      <p:sp>
        <p:nvSpPr>
          <p:cNvPr name="AutoShape 11" id="11"/>
          <p:cNvSpPr/>
          <p:nvPr/>
        </p:nvSpPr>
        <p:spPr>
          <a:xfrm rot="0" flipH="false" flipV="false">
            <a:off x="2540000" y="4419600"/>
            <a:ext cx="800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333333"/>
                </a:solidFill>
                <a:latin typeface="Noto Sans SC"/>
                <a:ea typeface="Noto Sans SC"/>
                <a:cs typeface="Noto Sans SC"/>
                <a:sym typeface="Noto Sans SC"/>
              </a:rPr>
              <a:t>实验设置与结果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展示模型在专业医学基准测试上的表现。</a:t>
            </a:r>
          </a:p>
        </p:txBody>
      </p:sp>
      <p:sp>
        <p:nvSpPr>
          <p:cNvPr name="AutoShape 12" id="12"/>
          <p:cNvSpPr/>
          <p:nvPr/>
        </p:nvSpPr>
        <p:spPr>
          <a:xfrm rot="0" flipH="false" flipV="false">
            <a:off x="762000" y="5397500"/>
            <a:ext cx="10668000" cy="1206500"/>
          </a:xfrm>
          <a:prstGeom prst="roundRect">
            <a:avLst>
              <a:gd name="adj" fmla="val 12631"/>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143000" y="5626100"/>
            <a:ext cx="1143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4A5C51"/>
                </a:solidFill>
                <a:latin typeface="Noto Sans SC"/>
                <a:ea typeface="Noto Sans SC"/>
                <a:cs typeface="Noto Sans SC"/>
                <a:sym typeface="Noto Sans SC"/>
              </a:rPr>
              <a:t>肆</a:t>
            </a:r>
            <a:endParaRPr lang="en-US" sz="1100"/>
          </a:p>
        </p:txBody>
      </p:sp>
      <p:sp>
        <p:nvSpPr>
          <p:cNvPr name="AutoShape 14" id="14"/>
          <p:cNvSpPr/>
          <p:nvPr/>
        </p:nvSpPr>
        <p:spPr>
          <a:xfrm rot="0" flipH="false" flipV="false">
            <a:off x="2540000" y="5626100"/>
            <a:ext cx="800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333333"/>
                </a:solidFill>
                <a:latin typeface="Noto Sans SC"/>
                <a:ea typeface="Noto Sans SC"/>
                <a:cs typeface="Noto Sans SC"/>
                <a:sym typeface="Noto Sans SC"/>
              </a:rPr>
              <a:t>结论与展望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66666"/>
                </a:solidFill>
                <a:latin typeface="Noto Sans SC"/>
                <a:ea typeface="Noto Sans SC"/>
                <a:cs typeface="Noto Sans SC"/>
                <a:sym typeface="Noto Sans SC"/>
              </a:rPr>
              <a:t>总结研究发现并探讨未来发展方向。</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01 研究背景与动机</a:t>
            </a:r>
            <a:endParaRPr lang="en-US" sz="1100"/>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286000"/>
            <a:ext cx="2032000" cy="2032000"/>
          </a:xfrm>
          <a:prstGeom prst="rect">
            <a:avLst/>
          </a:prstGeom>
        </p:spPr>
      </p:pic>
      <p:sp>
        <p:nvSpPr>
          <p:cNvPr name="AutoShape 4" id="4"/>
          <p:cNvSpPr/>
          <p:nvPr/>
        </p:nvSpPr>
        <p:spPr>
          <a:xfrm rot="0" flipH="false" flipV="false">
            <a:off x="762000" y="4572000"/>
            <a:ext cx="203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300">
                <a:solidFill>
                  <a:srgbClr val="6A7870"/>
                </a:solidFill>
                <a:latin typeface="Noto Sans SC"/>
                <a:ea typeface="Noto Sans SC"/>
                <a:cs typeface="Noto Sans SC"/>
                <a:sym typeface="Noto Sans SC"/>
              </a:rPr>
              <a:t>AI + 医疗</a:t>
            </a:r>
            <a:r>
              <a:rPr lang="en-US" b="false" i="false" strike="noStrike" u="none" sz="1300">
                <a:solidFill>
                  <a:srgbClr val="6A7870"/>
                </a:solidFill>
                <a:latin typeface="Noto Sans SC"/>
                <a:ea typeface="Noto Sans SC"/>
                <a:cs typeface="Noto Sans SC"/>
                <a:sym typeface="Noto Sans SC"/>
              </a:rPr>
              <a:t/>
            </a:r>
            <a:br>
              <a:rPr lang="en-US" b="false" i="false" strike="noStrike" u="none" sz="1300">
                <a:solidFill>
                  <a:srgbClr val="6A7870"/>
                </a:solidFill>
                <a:latin typeface="Noto Sans SC"/>
                <a:ea typeface="Noto Sans SC"/>
                <a:cs typeface="Noto Sans SC"/>
                <a:sym typeface="Noto Sans SC"/>
              </a:rPr>
            </a:br>
            <a:r>
              <a:rPr lang="en-US" b="false" i="false" strike="noStrike" u="none" sz="1300">
                <a:solidFill>
                  <a:srgbClr val="6A7870"/>
                </a:solidFill>
                <a:latin typeface="Noto Sans SC"/>
                <a:ea typeface="Noto Sans SC"/>
                <a:cs typeface="Noto Sans SC"/>
                <a:sym typeface="Noto Sans SC"/>
              </a:rPr>
              <a:t>探索智慧医疗的无限可能</a:t>
            </a:r>
            <a:endParaRPr lang="en-US" sz="1100"/>
          </a:p>
        </p:txBody>
      </p:sp>
      <p:sp>
        <p:nvSpPr>
          <p:cNvPr name="AutoShape 5" id="5"/>
          <p:cNvSpPr/>
          <p:nvPr/>
        </p:nvSpPr>
        <p:spPr>
          <a:xfrm rot="0" flipH="false" flipV="false">
            <a:off x="3175000" y="1651000"/>
            <a:ext cx="4191000" cy="4699000"/>
          </a:xfrm>
          <a:prstGeom prst="roundRect">
            <a:avLst>
              <a:gd name="adj" fmla="val 363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3429000" y="1905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5C51"/>
                </a:solidFill>
                <a:latin typeface="Noto Sans SC"/>
                <a:ea typeface="Noto Sans SC"/>
                <a:cs typeface="Noto Sans SC"/>
                <a:sym typeface="Noto Sans SC"/>
              </a:rPr>
              <a:t>医疗问答的挑战</a:t>
            </a:r>
            <a:endParaRPr lang="en-US" sz="1100"/>
          </a:p>
        </p:txBody>
      </p:sp>
      <p:sp>
        <p:nvSpPr>
          <p:cNvPr name="AutoShape 7" id="7"/>
          <p:cNvSpPr/>
          <p:nvPr/>
        </p:nvSpPr>
        <p:spPr>
          <a:xfrm rot="0" flipH="false" flipV="false">
            <a:off x="3429000" y="2667000"/>
            <a:ext cx="3683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1000"/>
              </a:spcBef>
              <a:defRPr/>
            </a:pPr>
            <a:r>
              <a:rPr lang="en-US" b="true" i="false" strike="noStrike" u="none" sz="1400">
                <a:solidFill>
                  <a:srgbClr val="374151"/>
                </a:solidFill>
                <a:latin typeface="Noto Sans SC"/>
                <a:ea typeface="Noto Sans SC"/>
                <a:cs typeface="Noto Sans SC"/>
                <a:sym typeface="Noto Sans SC"/>
              </a:rPr>
              <a:t>• 知识密集：</a:t>
            </a:r>
            <a:r>
              <a:rPr lang="en-US" b="false" i="false" strike="noStrike" u="none" sz="1300">
                <a:solidFill>
                  <a:srgbClr val="5A665F"/>
                </a:solidFill>
                <a:latin typeface="Noto Sans SC"/>
                <a:ea typeface="Noto Sans SC"/>
                <a:cs typeface="Noto Sans SC"/>
                <a:sym typeface="Noto Sans SC"/>
              </a:rPr>
              <a:t>需要海量、精准且不断更新的医学知识库支撑。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true" i="false" strike="noStrike" u="none" sz="1400">
                <a:solidFill>
                  <a:srgbClr val="374151"/>
                </a:solidFill>
                <a:latin typeface="Noto Sans SC"/>
                <a:ea typeface="Noto Sans SC"/>
                <a:cs typeface="Noto Sans SC"/>
                <a:sym typeface="Noto Sans SC"/>
              </a:rPr>
              <a:t>• 推理复杂：</a:t>
            </a:r>
            <a:r>
              <a:rPr lang="en-US" b="false" i="false" strike="noStrike" u="none" sz="1300">
                <a:solidFill>
                  <a:srgbClr val="5A665F"/>
                </a:solidFill>
                <a:latin typeface="Noto Sans SC"/>
                <a:ea typeface="Noto Sans SC"/>
                <a:cs typeface="Noto Sans SC"/>
                <a:sym typeface="Noto Sans SC"/>
              </a:rPr>
              <a:t>需理解复杂临床情境，进行多步逻辑与因果推理。</a:t>
            </a:r>
            <a:r>
              <a:rPr lang="en-US" b="false" i="false" strike="noStrike" u="none" sz="1600">
                <a:solidFill>
                  <a:srgbClr val="1F2329"/>
                </a:solidFill>
                <a:latin typeface="Noto Sans SC"/>
                <a:ea typeface="Noto Sans SC"/>
                <a:cs typeface="Noto Sans SC"/>
                <a:sym typeface="Noto Sans SC"/>
              </a:rPr>
              <a:t/>
            </a:r>
          </a:p>
          <a:p>
            <a:pPr algn="l" indent="0">
              <a:lnSpc>
                <a:spcPct val="133333"/>
              </a:lnSpc>
              <a:spcBef>
                <a:spcPts val="1200"/>
              </a:spcBef>
            </a:pPr>
            <a:r>
              <a:rPr lang="en-US" b="true" i="false" strike="noStrike" u="none" sz="1400">
                <a:solidFill>
                  <a:srgbClr val="374151"/>
                </a:solidFill>
                <a:latin typeface="Noto Sans SC"/>
                <a:ea typeface="Noto Sans SC"/>
                <a:cs typeface="Noto Sans SC"/>
                <a:sym typeface="Noto Sans SC"/>
              </a:rPr>
              <a:t>• 高风险属性：</a:t>
            </a:r>
            <a:r>
              <a:rPr lang="en-US" b="false" i="false" strike="noStrike" u="none" sz="1300">
                <a:solidFill>
                  <a:srgbClr val="5A665F"/>
                </a:solidFill>
                <a:latin typeface="Noto Sans SC"/>
                <a:ea typeface="Noto Sans SC"/>
                <a:cs typeface="Noto Sans SC"/>
                <a:sym typeface="Noto Sans SC"/>
              </a:rPr>
              <a:t>错误回答可能引发严重后果，对准确性要求极高。</a:t>
            </a:r>
            <a:r>
              <a:rPr lang="en-US" b="false" i="false" strike="noStrike" u="none" sz="1600">
                <a:solidFill>
                  <a:srgbClr val="1F2329"/>
                </a:solidFill>
                <a:latin typeface="Noto Sans SC"/>
                <a:ea typeface="Noto Sans SC"/>
                <a:cs typeface="Noto Sans SC"/>
                <a:sym typeface="Noto Sans SC"/>
              </a:rPr>
              <a:t/>
            </a:r>
          </a:p>
          <a:p>
            <a:pPr algn="l" indent="0">
              <a:lnSpc>
                <a:spcPct val="133333"/>
              </a:lnSpc>
              <a:spcBef>
                <a:spcPts val="1200"/>
              </a:spcBef>
            </a:pPr>
            <a:r>
              <a:rPr lang="en-US" b="true" i="false" strike="noStrike" u="none" sz="1400">
                <a:solidFill>
                  <a:srgbClr val="374151"/>
                </a:solidFill>
                <a:latin typeface="Noto Sans SC"/>
                <a:ea typeface="Noto Sans SC"/>
                <a:cs typeface="Noto Sans SC"/>
                <a:sym typeface="Noto Sans SC"/>
              </a:rPr>
              <a:t>• 语言多样性：</a:t>
            </a:r>
            <a:r>
              <a:rPr lang="en-US" b="false" i="false" strike="noStrike" u="none" sz="1300">
                <a:solidFill>
                  <a:srgbClr val="5A665F"/>
                </a:solidFill>
                <a:latin typeface="Noto Sans SC"/>
                <a:ea typeface="Noto Sans SC"/>
                <a:cs typeface="Noto Sans SC"/>
                <a:sym typeface="Noto Sans SC"/>
              </a:rPr>
              <a:t>需灵活处理专业术语、口语化表达及各地方言。</a:t>
            </a:r>
          </a:p>
        </p:txBody>
      </p:sp>
      <p:sp>
        <p:nvSpPr>
          <p:cNvPr name="AutoShape 8" id="8"/>
          <p:cNvSpPr/>
          <p:nvPr/>
        </p:nvSpPr>
        <p:spPr>
          <a:xfrm rot="0" flipH="false" flipV="false">
            <a:off x="7620000" y="1651000"/>
            <a:ext cx="4191000" cy="4699000"/>
          </a:xfrm>
          <a:prstGeom prst="roundRect">
            <a:avLst>
              <a:gd name="adj" fmla="val 363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874000" y="1905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5C51"/>
                </a:solidFill>
                <a:latin typeface="Noto Sans SC"/>
                <a:ea typeface="Noto Sans SC"/>
                <a:cs typeface="Noto Sans SC"/>
                <a:sym typeface="Noto Sans SC"/>
              </a:rPr>
              <a:t>LLM 带来的新机遇</a:t>
            </a:r>
            <a:endParaRPr lang="en-US" sz="1100"/>
          </a:p>
        </p:txBody>
      </p:sp>
      <p:sp>
        <p:nvSpPr>
          <p:cNvPr name="AutoShape 10" id="10"/>
          <p:cNvSpPr/>
          <p:nvPr/>
        </p:nvSpPr>
        <p:spPr>
          <a:xfrm rot="0" flipH="false" flipV="false">
            <a:off x="7874000" y="2667000"/>
            <a:ext cx="3683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1000"/>
              </a:spcBef>
              <a:defRPr/>
            </a:pPr>
            <a:r>
              <a:rPr lang="en-US" b="true" i="false" strike="noStrike" u="none" sz="1400">
                <a:solidFill>
                  <a:srgbClr val="374151"/>
                </a:solidFill>
                <a:latin typeface="Noto Sans SC"/>
                <a:ea typeface="Noto Sans SC"/>
                <a:cs typeface="Noto Sans SC"/>
                <a:sym typeface="Noto Sans SC"/>
              </a:rPr>
              <a:t>• 海量知识内化：</a:t>
            </a:r>
            <a:r>
              <a:rPr lang="en-US" b="false" i="false" strike="noStrike" u="none" sz="1300">
                <a:solidFill>
                  <a:srgbClr val="5A665F"/>
                </a:solidFill>
                <a:latin typeface="Noto Sans SC"/>
                <a:ea typeface="Noto Sans SC"/>
                <a:cs typeface="Noto Sans SC"/>
                <a:sym typeface="Noto Sans SC"/>
              </a:rPr>
              <a:t>通过大规模预训练，已涵盖大量医学文献与常识。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true" i="false" strike="noStrike" u="none" sz="1400">
                <a:solidFill>
                  <a:srgbClr val="374151"/>
                </a:solidFill>
                <a:latin typeface="Noto Sans SC"/>
                <a:ea typeface="Noto Sans SC"/>
                <a:cs typeface="Noto Sans SC"/>
                <a:sym typeface="Noto Sans SC"/>
              </a:rPr>
              <a:t>• 逻辑推理升级：</a:t>
            </a:r>
            <a:r>
              <a:rPr lang="en-US" b="false" i="false" strike="noStrike" u="none" sz="1300">
                <a:solidFill>
                  <a:srgbClr val="5A665F"/>
                </a:solidFill>
                <a:latin typeface="Noto Sans SC"/>
                <a:ea typeface="Noto Sans SC"/>
                <a:cs typeface="Noto Sans SC"/>
                <a:sym typeface="Noto Sans SC"/>
              </a:rPr>
              <a:t>展现出强大的上下文理解能力，能处理复杂推理链。</a:t>
            </a:r>
            <a:r>
              <a:rPr lang="en-US" b="false" i="false" strike="noStrike" u="none" sz="1600">
                <a:solidFill>
                  <a:srgbClr val="1F2329"/>
                </a:solidFill>
                <a:latin typeface="Noto Sans SC"/>
                <a:ea typeface="Noto Sans SC"/>
                <a:cs typeface="Noto Sans SC"/>
                <a:sym typeface="Noto Sans SC"/>
              </a:rPr>
              <a:t/>
            </a:r>
          </a:p>
          <a:p>
            <a:pPr algn="l" indent="0">
              <a:lnSpc>
                <a:spcPct val="133333"/>
              </a:lnSpc>
              <a:spcBef>
                <a:spcPts val="1200"/>
              </a:spcBef>
            </a:pPr>
            <a:r>
              <a:rPr lang="en-US" b="true" i="false" strike="noStrike" u="none" sz="1400">
                <a:solidFill>
                  <a:srgbClr val="374151"/>
                </a:solidFill>
                <a:latin typeface="Noto Sans SC"/>
                <a:ea typeface="Noto Sans SC"/>
                <a:cs typeface="Noto Sans SC"/>
                <a:sym typeface="Noto Sans SC"/>
              </a:rPr>
              <a:t>• 自然生成交互：</a:t>
            </a:r>
            <a:r>
              <a:rPr lang="en-US" b="false" i="false" strike="noStrike" u="none" sz="1300">
                <a:solidFill>
                  <a:srgbClr val="5A665F"/>
                </a:solidFill>
                <a:latin typeface="Noto Sans SC"/>
                <a:ea typeface="Noto Sans SC"/>
                <a:cs typeface="Noto Sans SC"/>
                <a:sym typeface="Noto Sans SC"/>
              </a:rPr>
              <a:t>可生成流畅、自然且信息丰富的回答，提升用户体验。</a:t>
            </a:r>
            <a:r>
              <a:rPr lang="en-US" b="false" i="false" strike="noStrike" u="none" sz="1600">
                <a:solidFill>
                  <a:srgbClr val="1F2329"/>
                </a:solidFill>
                <a:latin typeface="Noto Sans SC"/>
                <a:ea typeface="Noto Sans SC"/>
                <a:cs typeface="Noto Sans SC"/>
                <a:sym typeface="Noto Sans SC"/>
              </a:rPr>
              <a:t/>
            </a:r>
          </a:p>
          <a:p>
            <a:pPr algn="l" indent="0">
              <a:lnSpc>
                <a:spcPct val="133333"/>
              </a:lnSpc>
              <a:spcBef>
                <a:spcPts val="1200"/>
              </a:spcBef>
            </a:pPr>
            <a:r>
              <a:rPr lang="en-US" b="true" i="false" strike="noStrike" u="none" sz="1400">
                <a:solidFill>
                  <a:srgbClr val="374151"/>
                </a:solidFill>
                <a:latin typeface="Noto Sans SC"/>
                <a:ea typeface="Noto Sans SC"/>
                <a:cs typeface="Noto Sans SC"/>
                <a:sym typeface="Noto Sans SC"/>
              </a:rPr>
              <a:t>• 24/7 个性化服务：</a:t>
            </a:r>
            <a:r>
              <a:rPr lang="en-US" b="false" i="false" strike="noStrike" u="none" sz="1300">
                <a:solidFill>
                  <a:srgbClr val="5A665F"/>
                </a:solidFill>
                <a:latin typeface="Noto Sans SC"/>
                <a:ea typeface="Noto Sans SC"/>
                <a:cs typeface="Noto Sans SC"/>
                <a:sym typeface="Noto Sans SC"/>
              </a:rPr>
              <a:t>打破时空限制，为医生和患者提供随时的辅助咨询。</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02 模型架构与方法：Med-PaLM 2</a:t>
            </a:r>
            <a:endParaRPr lang="en-US" sz="1100"/>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541000" y="444500"/>
            <a:ext cx="635000" cy="635000"/>
          </a:xfrm>
          <a:prstGeom prst="rect">
            <a:avLst/>
          </a:prstGeom>
        </p:spPr>
      </p:pic>
      <p:sp>
        <p:nvSpPr>
          <p:cNvPr name="AutoShape 4" id="4"/>
          <p:cNvSpPr/>
          <p:nvPr/>
        </p:nvSpPr>
        <p:spPr>
          <a:xfrm rot="0" flipH="false" flipV="false">
            <a:off x="762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302000" cy="76200"/>
          </a:xfrm>
          <a:prstGeom prst="roundRect">
            <a:avLst>
              <a:gd name="adj" fmla="val 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159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4A5C51"/>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1016000" y="3048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基础模型</a:t>
            </a:r>
            <a:r>
              <a:rPr lang="en-US" b="true" i="false" strike="noStrike" u="none" sz="1800">
                <a:solidFill>
                  <a:srgbClr val="4A5C51"/>
                </a:solidFill>
                <a:latin typeface="Noto Sans SC"/>
                <a:ea typeface="Noto Sans SC"/>
                <a:cs typeface="Noto Sans SC"/>
                <a:sym typeface="Noto Sans SC"/>
              </a:rPr>
              <a:t/>
            </a:r>
            <a:br>
              <a:rPr lang="en-US" b="true" i="false" strike="noStrike" u="none" sz="1800">
                <a:solidFill>
                  <a:srgbClr val="4A5C51"/>
                </a:solidFill>
                <a:latin typeface="Noto Sans SC"/>
                <a:ea typeface="Noto Sans SC"/>
                <a:cs typeface="Noto Sans SC"/>
                <a:sym typeface="Noto Sans SC"/>
              </a:rPr>
            </a:br>
            <a:r>
              <a:rPr lang="en-US" b="true" i="false" strike="noStrike" u="none" sz="1800">
                <a:solidFill>
                  <a:srgbClr val="4A5C51"/>
                </a:solidFill>
                <a:latin typeface="Noto Sans SC"/>
                <a:ea typeface="Noto Sans SC"/>
                <a:cs typeface="Noto Sans SC"/>
                <a:sym typeface="Noto Sans SC"/>
              </a:rPr>
              <a:t>(Foundation Model)</a:t>
            </a:r>
            <a:endParaRPr lang="en-US" sz="1100"/>
          </a:p>
        </p:txBody>
      </p:sp>
      <p:sp>
        <p:nvSpPr>
          <p:cNvPr name="AutoShape 8" id="8"/>
          <p:cNvSpPr/>
          <p:nvPr/>
        </p:nvSpPr>
        <p:spPr>
          <a:xfrm rot="0" flipH="false" flipV="false">
            <a:off x="1016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模型：</a:t>
            </a:r>
            <a:r>
              <a:rPr lang="en-US" b="false" i="false" strike="noStrike" u="none" sz="1300">
                <a:solidFill>
                  <a:srgbClr val="646464"/>
                </a:solidFill>
                <a:latin typeface="Noto Sans SC"/>
                <a:ea typeface="Noto Sans SC"/>
                <a:cs typeface="Noto Sans SC"/>
                <a:sym typeface="Noto Sans SC"/>
              </a:rPr>
              <a:t>PaLM 2 (Pathways Language Model 2)</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374151"/>
                </a:solidFill>
                <a:latin typeface="Noto Sans SC"/>
                <a:ea typeface="Noto Sans SC"/>
                <a:cs typeface="Noto Sans SC"/>
                <a:sym typeface="Noto Sans SC"/>
              </a:rPr>
              <a:t>特点：</a:t>
            </a:r>
            <a:r>
              <a:rPr lang="en-US" b="false" i="false" strike="noStrike" u="none" sz="1300">
                <a:solidFill>
                  <a:srgbClr val="646464"/>
                </a:solidFill>
                <a:latin typeface="Noto Sans SC"/>
                <a:ea typeface="Noto Sans SC"/>
                <a:cs typeface="Noto Sans SC"/>
                <a:sym typeface="Noto Sans SC"/>
              </a:rPr>
              <a:t>一个强大的通用大型语言模型，具备优秀的多语言能力和推理能力。</a:t>
            </a:r>
          </a:p>
        </p:txBody>
      </p:sp>
      <p:sp>
        <p:nvSpPr>
          <p:cNvPr name="AutoShape 9" id="9"/>
          <p:cNvSpPr/>
          <p:nvPr/>
        </p:nvSpPr>
        <p:spPr>
          <a:xfrm rot="0" flipH="false" flipV="false">
            <a:off x="4445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778000"/>
            <a:ext cx="3302000" cy="76200"/>
          </a:xfrm>
          <a:prstGeom prst="roundRect">
            <a:avLst>
              <a:gd name="adj" fmla="val 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699000" y="2159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4A5C51"/>
                </a:solidFill>
                <a:latin typeface="Noto Sans SC"/>
                <a:ea typeface="Noto Sans SC"/>
                <a:cs typeface="Noto Sans SC"/>
                <a:sym typeface="Noto Sans SC"/>
              </a:rPr>
              <a:t>02</a:t>
            </a:r>
            <a:endParaRPr lang="en-US" sz="1100"/>
          </a:p>
        </p:txBody>
      </p:sp>
      <p:sp>
        <p:nvSpPr>
          <p:cNvPr name="AutoShape 12" id="12"/>
          <p:cNvSpPr/>
          <p:nvPr/>
        </p:nvSpPr>
        <p:spPr>
          <a:xfrm rot="0" flipH="false" flipV="false">
            <a:off x="4699000" y="3048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指令微調</a:t>
            </a:r>
            <a:r>
              <a:rPr lang="en-US" b="true" i="false" strike="noStrike" u="none" sz="1800">
                <a:solidFill>
                  <a:srgbClr val="4A5C51"/>
                </a:solidFill>
                <a:latin typeface="Noto Sans SC"/>
                <a:ea typeface="Noto Sans SC"/>
                <a:cs typeface="Noto Sans SC"/>
                <a:sym typeface="Noto Sans SC"/>
              </a:rPr>
              <a:t/>
            </a:r>
            <a:br>
              <a:rPr lang="en-US" b="true" i="false" strike="noStrike" u="none" sz="1800">
                <a:solidFill>
                  <a:srgbClr val="4A5C51"/>
                </a:solidFill>
                <a:latin typeface="Noto Sans SC"/>
                <a:ea typeface="Noto Sans SC"/>
                <a:cs typeface="Noto Sans SC"/>
                <a:sym typeface="Noto Sans SC"/>
              </a:rPr>
            </a:br>
            <a:r>
              <a:rPr lang="en-US" b="true" i="false" strike="noStrike" u="none" sz="1800">
                <a:solidFill>
                  <a:srgbClr val="4A5C51"/>
                </a:solidFill>
                <a:latin typeface="Noto Sans SC"/>
                <a:ea typeface="Noto Sans SC"/>
                <a:cs typeface="Noto Sans SC"/>
                <a:sym typeface="Noto Sans SC"/>
              </a:rPr>
              <a:t>(Instruction Tuning)</a:t>
            </a:r>
            <a:endParaRPr lang="en-US" sz="1100"/>
          </a:p>
        </p:txBody>
      </p:sp>
      <p:sp>
        <p:nvSpPr>
          <p:cNvPr name="AutoShape 13" id="13"/>
          <p:cNvSpPr/>
          <p:nvPr/>
        </p:nvSpPr>
        <p:spPr>
          <a:xfrm rot="0" flipH="false" flipV="false">
            <a:off x="4699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数据：</a:t>
            </a:r>
            <a:r>
              <a:rPr lang="en-US" b="false" i="false" strike="noStrike" u="none" sz="1300">
                <a:solidFill>
                  <a:srgbClr val="646464"/>
                </a:solidFill>
                <a:latin typeface="Noto Sans SC"/>
                <a:ea typeface="Noto Sans SC"/>
                <a:cs typeface="Noto Sans SC"/>
                <a:sym typeface="Noto Sans SC"/>
              </a:rPr>
              <a:t>使用高质量的医学问答数据对模型进行微调。</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374151"/>
                </a:solidFill>
                <a:latin typeface="Noto Sans SC"/>
                <a:ea typeface="Noto Sans SC"/>
                <a:cs typeface="Noto Sans SC"/>
                <a:sym typeface="Noto Sans SC"/>
              </a:rPr>
              <a:t>目标：</a:t>
            </a:r>
            <a:r>
              <a:rPr lang="en-US" b="false" i="false" strike="noStrike" u="none" sz="1300">
                <a:solidFill>
                  <a:srgbClr val="646464"/>
                </a:solidFill>
                <a:latin typeface="Noto Sans SC"/>
                <a:ea typeface="Noto Sans SC"/>
                <a:cs typeface="Noto Sans SC"/>
                <a:sym typeface="Noto Sans SC"/>
              </a:rPr>
              <a:t>使模型学会遵循指令，生成更准确、更符合医疗场景的回答。</a:t>
            </a:r>
          </a:p>
        </p:txBody>
      </p:sp>
      <p:sp>
        <p:nvSpPr>
          <p:cNvPr name="AutoShape 14" id="14"/>
          <p:cNvSpPr/>
          <p:nvPr/>
        </p:nvSpPr>
        <p:spPr>
          <a:xfrm rot="0" flipH="false" flipV="false">
            <a:off x="8128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778000"/>
            <a:ext cx="3302000" cy="76200"/>
          </a:xfrm>
          <a:prstGeom prst="roundRect">
            <a:avLst>
              <a:gd name="adj" fmla="val 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382000" y="2159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4A5C51"/>
                </a:solidFill>
                <a:latin typeface="Noto Sans SC"/>
                <a:ea typeface="Noto Sans SC"/>
                <a:cs typeface="Noto Sans SC"/>
                <a:sym typeface="Noto Sans SC"/>
              </a:rPr>
              <a:t>03</a:t>
            </a:r>
            <a:endParaRPr lang="en-US" sz="1100"/>
          </a:p>
        </p:txBody>
      </p:sp>
      <p:sp>
        <p:nvSpPr>
          <p:cNvPr name="AutoShape 17" id="17"/>
          <p:cNvSpPr/>
          <p:nvPr/>
        </p:nvSpPr>
        <p:spPr>
          <a:xfrm rot="0" flipH="false" flipV="false">
            <a:off x="8382000" y="3048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人类反馈强化学习</a:t>
            </a:r>
            <a:r>
              <a:rPr lang="en-US" b="true" i="false" strike="noStrike" u="none" sz="1800">
                <a:solidFill>
                  <a:srgbClr val="4A5C51"/>
                </a:solidFill>
                <a:latin typeface="Noto Sans SC"/>
                <a:ea typeface="Noto Sans SC"/>
                <a:cs typeface="Noto Sans SC"/>
                <a:sym typeface="Noto Sans SC"/>
              </a:rPr>
              <a:t/>
            </a:r>
            <a:br>
              <a:rPr lang="en-US" b="true" i="false" strike="noStrike" u="none" sz="1800">
                <a:solidFill>
                  <a:srgbClr val="4A5C51"/>
                </a:solidFill>
                <a:latin typeface="Noto Sans SC"/>
                <a:ea typeface="Noto Sans SC"/>
                <a:cs typeface="Noto Sans SC"/>
                <a:sym typeface="Noto Sans SC"/>
              </a:rPr>
            </a:br>
            <a:r>
              <a:rPr lang="en-US" b="true" i="false" strike="noStrike" u="none" sz="1800">
                <a:solidFill>
                  <a:srgbClr val="4A5C51"/>
                </a:solidFill>
                <a:latin typeface="Noto Sans SC"/>
                <a:ea typeface="Noto Sans SC"/>
                <a:cs typeface="Noto Sans SC"/>
                <a:sym typeface="Noto Sans SC"/>
              </a:rPr>
              <a:t>(RLHF)</a:t>
            </a:r>
            <a:endParaRPr lang="en-US" sz="1100"/>
          </a:p>
        </p:txBody>
      </p:sp>
      <p:sp>
        <p:nvSpPr>
          <p:cNvPr name="AutoShape 18" id="18"/>
          <p:cNvSpPr/>
          <p:nvPr/>
        </p:nvSpPr>
        <p:spPr>
          <a:xfrm rot="0" flipH="false" flipV="false">
            <a:off x="8382000" y="4191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过程：</a:t>
            </a:r>
            <a:r>
              <a:rPr lang="en-US" b="false" i="false" strike="noStrike" u="none" sz="1300">
                <a:solidFill>
                  <a:srgbClr val="646464"/>
                </a:solidFill>
                <a:latin typeface="Noto Sans SC"/>
                <a:ea typeface="Noto Sans SC"/>
                <a:cs typeface="Noto Sans SC"/>
                <a:sym typeface="Noto Sans SC"/>
              </a:rPr>
              <a:t>训练一个奖励模型，根据人类专家对回答质量的评分来优化语言模型。</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374151"/>
                </a:solidFill>
                <a:latin typeface="Noto Sans SC"/>
                <a:ea typeface="Noto Sans SC"/>
                <a:cs typeface="Noto Sans SC"/>
                <a:sym typeface="Noto Sans SC"/>
              </a:rPr>
              <a:t>目标：</a:t>
            </a:r>
            <a:r>
              <a:rPr lang="en-US" b="false" i="false" strike="noStrike" u="none" sz="1300">
                <a:solidFill>
                  <a:srgbClr val="646464"/>
                </a:solidFill>
                <a:latin typeface="Noto Sans SC"/>
                <a:ea typeface="Noto Sans SC"/>
                <a:cs typeface="Noto Sans SC"/>
                <a:sym typeface="Noto Sans SC"/>
              </a:rPr>
              <a:t>提升回答的有用性、无害性和专业性，使其更贴近人类专家的判断。</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03 实验设置：评估框架</a:t>
            </a:r>
            <a:endParaRPr lang="en-US" sz="1100"/>
          </a:p>
        </p:txBody>
      </p:sp>
      <p:sp>
        <p:nvSpPr>
          <p:cNvPr name="AutoShape 3" id="3"/>
          <p:cNvSpPr/>
          <p:nvPr/>
        </p:nvSpPr>
        <p:spPr>
          <a:xfrm rot="0" flipH="false" flipV="false">
            <a:off x="762000" y="1524000"/>
            <a:ext cx="5207000" cy="4191000"/>
          </a:xfrm>
          <a:prstGeom prst="roundRect">
            <a:avLst>
              <a:gd name="adj" fmla="val 363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1828800"/>
            <a:ext cx="4597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评估数据集</a:t>
            </a:r>
            <a:endParaRPr lang="en-US" sz="1100"/>
          </a:p>
        </p:txBody>
      </p:sp>
      <p:sp>
        <p:nvSpPr>
          <p:cNvPr name="AutoShape 5" id="5"/>
          <p:cNvSpPr/>
          <p:nvPr/>
        </p:nvSpPr>
        <p:spPr>
          <a:xfrm rot="0" flipH="false" flipV="false">
            <a:off x="1066800" y="2336800"/>
            <a:ext cx="508000" cy="38100"/>
          </a:xfrm>
          <a:prstGeom prst="roundRect">
            <a:avLst>
              <a:gd name="adj" fmla="val 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730500"/>
            <a:ext cx="279400" cy="279400"/>
          </a:xfrm>
          <a:prstGeom prst="rect">
            <a:avLst/>
          </a:prstGeom>
        </p:spPr>
      </p:pic>
      <p:sp>
        <p:nvSpPr>
          <p:cNvPr name="AutoShape 7" id="7"/>
          <p:cNvSpPr/>
          <p:nvPr/>
        </p:nvSpPr>
        <p:spPr>
          <a:xfrm rot="0" flipH="false" flipV="false">
            <a:off x="1524000" y="2692400"/>
            <a:ext cx="406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A5C51"/>
                </a:solidFill>
                <a:latin typeface="Noto Sans SC"/>
                <a:ea typeface="Noto Sans SC"/>
                <a:cs typeface="Noto Sans SC"/>
                <a:sym typeface="Noto Sans SC"/>
              </a:rPr>
              <a:t>MedQA (USMLE)：</a:t>
            </a:r>
            <a:r>
              <a:rPr lang="en-US" b="false" i="false" strike="noStrike" u="none" sz="1200">
                <a:solidFill>
                  <a:srgbClr val="525252"/>
                </a:solidFill>
                <a:latin typeface="Noto Sans SC"/>
                <a:ea typeface="Noto Sans SC"/>
                <a:cs typeface="Noto Sans SC"/>
                <a:sym typeface="Noto Sans SC"/>
              </a:rPr>
              <a:t>美国医师执照考试试题，评估模型的医学知识和临床推理能力。</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66800" y="3556000"/>
            <a:ext cx="279400" cy="279400"/>
          </a:xfrm>
          <a:prstGeom prst="rect">
            <a:avLst/>
          </a:prstGeom>
        </p:spPr>
      </p:pic>
      <p:sp>
        <p:nvSpPr>
          <p:cNvPr name="AutoShape 9" id="9"/>
          <p:cNvSpPr/>
          <p:nvPr/>
        </p:nvSpPr>
        <p:spPr>
          <a:xfrm rot="0" flipH="false" flipV="false">
            <a:off x="1524000" y="3517900"/>
            <a:ext cx="406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A5C51"/>
                </a:solidFill>
                <a:latin typeface="Noto Sans SC"/>
                <a:ea typeface="Noto Sans SC"/>
                <a:cs typeface="Noto Sans SC"/>
                <a:sym typeface="Noto Sans SC"/>
              </a:rPr>
              <a:t>MMLU (Medical)：</a:t>
            </a:r>
            <a:r>
              <a:rPr lang="en-US" b="false" i="false" strike="noStrike" u="none" sz="1200">
                <a:solidFill>
                  <a:srgbClr val="525252"/>
                </a:solidFill>
                <a:latin typeface="Noto Sans SC"/>
                <a:ea typeface="Noto Sans SC"/>
                <a:cs typeface="Noto Sans SC"/>
                <a:sym typeface="Noto Sans SC"/>
              </a:rPr>
              <a:t>涵盖多个医学子领域的专业知识测试，全面考察多学科能力。</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66800" y="4381500"/>
            <a:ext cx="279400" cy="279400"/>
          </a:xfrm>
          <a:prstGeom prst="rect">
            <a:avLst/>
          </a:prstGeom>
        </p:spPr>
      </p:pic>
      <p:sp>
        <p:nvSpPr>
          <p:cNvPr name="AutoShape 11" id="11"/>
          <p:cNvSpPr/>
          <p:nvPr/>
        </p:nvSpPr>
        <p:spPr>
          <a:xfrm rot="0" flipH="false" flipV="false">
            <a:off x="1524000" y="4343400"/>
            <a:ext cx="406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A5C51"/>
                </a:solidFill>
                <a:latin typeface="Noto Sans SC"/>
                <a:ea typeface="Noto Sans SC"/>
                <a:cs typeface="Noto Sans SC"/>
                <a:sym typeface="Noto Sans SC"/>
              </a:rPr>
              <a:t>PubMedQA：</a:t>
            </a:r>
            <a:r>
              <a:rPr lang="en-US" b="false" i="false" strike="noStrike" u="none" sz="1200">
                <a:solidFill>
                  <a:srgbClr val="525252"/>
                </a:solidFill>
                <a:latin typeface="Noto Sans SC"/>
                <a:ea typeface="Noto Sans SC"/>
                <a:cs typeface="Noto Sans SC"/>
                <a:sym typeface="Noto Sans SC"/>
              </a:rPr>
              <a:t>基于真实医学文献摘要的问答任务，检验模型对专业文献的理解能力。</a:t>
            </a:r>
            <a:endParaRPr lang="en-US" sz="1100"/>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66800" y="5207000"/>
            <a:ext cx="279400" cy="279400"/>
          </a:xfrm>
          <a:prstGeom prst="rect">
            <a:avLst/>
          </a:prstGeom>
        </p:spPr>
      </p:pic>
      <p:sp>
        <p:nvSpPr>
          <p:cNvPr name="AutoShape 13" id="13"/>
          <p:cNvSpPr/>
          <p:nvPr/>
        </p:nvSpPr>
        <p:spPr>
          <a:xfrm rot="0" flipH="false" flipV="false">
            <a:off x="1524000" y="5168900"/>
            <a:ext cx="406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A5C51"/>
                </a:solidFill>
                <a:latin typeface="Noto Sans SC"/>
                <a:ea typeface="Noto Sans SC"/>
                <a:cs typeface="Noto Sans SC"/>
                <a:sym typeface="Noto Sans SC"/>
              </a:rPr>
              <a:t>LiveQA：</a:t>
            </a:r>
            <a:r>
              <a:rPr lang="en-US" b="false" i="false" strike="noStrike" u="none" sz="1200">
                <a:solidFill>
                  <a:srgbClr val="525252"/>
                </a:solidFill>
                <a:latin typeface="Noto Sans SC"/>
                <a:ea typeface="Noto Sans SC"/>
                <a:cs typeface="Noto Sans SC"/>
                <a:sym typeface="Noto Sans SC"/>
              </a:rPr>
              <a:t>模拟真实世界、未经编辑的用户健康提问，贴近真实应用场景。</a:t>
            </a:r>
            <a:endParaRPr lang="en-US" sz="1100"/>
          </a:p>
        </p:txBody>
      </p:sp>
      <p:sp>
        <p:nvSpPr>
          <p:cNvPr name="AutoShape 14" id="14"/>
          <p:cNvSpPr/>
          <p:nvPr/>
        </p:nvSpPr>
        <p:spPr>
          <a:xfrm rot="0" flipH="false" flipV="false">
            <a:off x="6223000" y="1524000"/>
            <a:ext cx="5207000" cy="4191000"/>
          </a:xfrm>
          <a:prstGeom prst="roundRect">
            <a:avLst>
              <a:gd name="adj" fmla="val 363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527800" y="1828800"/>
            <a:ext cx="4597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评估方法</a:t>
            </a:r>
            <a:endParaRPr lang="en-US" sz="1100"/>
          </a:p>
        </p:txBody>
      </p:sp>
      <p:sp>
        <p:nvSpPr>
          <p:cNvPr name="AutoShape 16" id="16"/>
          <p:cNvSpPr/>
          <p:nvPr/>
        </p:nvSpPr>
        <p:spPr>
          <a:xfrm rot="0" flipH="false" flipV="false">
            <a:off x="6527800" y="2336800"/>
            <a:ext cx="508000" cy="38100"/>
          </a:xfrm>
          <a:prstGeom prst="roundRect">
            <a:avLst>
              <a:gd name="adj" fmla="val 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527800" y="2730500"/>
            <a:ext cx="45974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4A5C51"/>
                </a:solidFill>
                <a:latin typeface="Noto Sans SC"/>
                <a:ea typeface="Noto Sans SC"/>
                <a:cs typeface="Noto Sans SC"/>
                <a:sym typeface="Noto Sans SC"/>
              </a:rPr>
              <a:t>▌ 自动评估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525252"/>
                </a:solidFill>
                <a:latin typeface="Noto Sans SC"/>
                <a:ea typeface="Noto Sans SC"/>
                <a:cs typeface="Noto Sans SC"/>
                <a:sym typeface="Noto Sans SC"/>
              </a:rPr>
              <a:t>基于准确率（Accuracy）等客观指标，对模型的回答进行快速、标准化的量化评分。</a:t>
            </a:r>
          </a:p>
        </p:txBody>
      </p:sp>
      <p:sp>
        <p:nvSpPr>
          <p:cNvPr name="AutoShape 18" id="18"/>
          <p:cNvSpPr/>
          <p:nvPr/>
        </p:nvSpPr>
        <p:spPr>
          <a:xfrm rot="0" flipH="false" flipV="false">
            <a:off x="6527800" y="3683000"/>
            <a:ext cx="4597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4A5C51"/>
                </a:solidFill>
                <a:latin typeface="Noto Sans SC"/>
                <a:ea typeface="Noto Sans SC"/>
                <a:cs typeface="Noto Sans SC"/>
                <a:sym typeface="Noto Sans SC"/>
              </a:rPr>
              <a:t>▌ 人类评估 (专家盲评)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525252"/>
                </a:solidFill>
                <a:latin typeface="Noto Sans SC"/>
                <a:ea typeface="Noto Sans SC"/>
                <a:cs typeface="Noto Sans SC"/>
                <a:sym typeface="Noto Sans SC"/>
              </a:rPr>
              <a:t>邀请专业临床医生对回答质量进行综合评价，确保评估维度的全面性与专业深度：</a:t>
            </a:r>
          </a:p>
        </p:txBody>
      </p:sp>
      <p:sp>
        <p:nvSpPr>
          <p:cNvPr name="AutoShape 19" id="19"/>
          <p:cNvSpPr/>
          <p:nvPr/>
        </p:nvSpPr>
        <p:spPr>
          <a:xfrm rot="0" flipH="false" flipV="false">
            <a:off x="6527800" y="4699000"/>
            <a:ext cx="1041400" cy="762000"/>
          </a:xfrm>
          <a:prstGeom prst="roundRect">
            <a:avLst>
              <a:gd name="adj" fmla="val 13333"/>
            </a:avLst>
          </a:prstGeom>
          <a:solidFill>
            <a:srgbClr val="E8F0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527800" y="4851400"/>
            <a:ext cx="1041400" cy="457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4A5C51"/>
                </a:solidFill>
                <a:latin typeface="Noto Sans SC"/>
                <a:ea typeface="Noto Sans SC"/>
                <a:cs typeface="Noto Sans SC"/>
                <a:sym typeface="Noto Sans SC"/>
              </a:rPr>
              <a:t>准确性</a:t>
            </a:r>
            <a:r>
              <a:rPr lang="en-US" b="true" i="false" strike="noStrike" u="none" sz="1300">
                <a:solidFill>
                  <a:srgbClr val="4A5C51"/>
                </a:solidFill>
                <a:latin typeface="Noto Sans SC"/>
                <a:ea typeface="Noto Sans SC"/>
                <a:cs typeface="Noto Sans SC"/>
                <a:sym typeface="Noto Sans SC"/>
              </a:rPr>
              <a:t/>
            </a:r>
            <a:br>
              <a:rPr lang="en-US" b="true" i="false" strike="noStrike" u="none" sz="1300">
                <a:solidFill>
                  <a:srgbClr val="4A5C51"/>
                </a:solidFill>
                <a:latin typeface="Noto Sans SC"/>
                <a:ea typeface="Noto Sans SC"/>
                <a:cs typeface="Noto Sans SC"/>
                <a:sym typeface="Noto Sans SC"/>
              </a:rPr>
            </a:br>
            <a:r>
              <a:rPr lang="en-US" b="true" i="false" strike="noStrike" u="none" sz="1300">
                <a:solidFill>
                  <a:srgbClr val="4A5C51"/>
                </a:solidFill>
                <a:latin typeface="Noto Sans SC"/>
                <a:ea typeface="Noto Sans SC"/>
                <a:cs typeface="Noto Sans SC"/>
                <a:sym typeface="Noto Sans SC"/>
              </a:rPr>
              <a:t>(Accuracy)</a:t>
            </a:r>
            <a:endParaRPr lang="en-US" sz="1100"/>
          </a:p>
        </p:txBody>
      </p:sp>
      <p:sp>
        <p:nvSpPr>
          <p:cNvPr name="AutoShape 21" id="21"/>
          <p:cNvSpPr/>
          <p:nvPr/>
        </p:nvSpPr>
        <p:spPr>
          <a:xfrm rot="0" flipH="false" flipV="false">
            <a:off x="7696200" y="4699000"/>
            <a:ext cx="1041400" cy="762000"/>
          </a:xfrm>
          <a:prstGeom prst="roundRect">
            <a:avLst>
              <a:gd name="adj" fmla="val 13333"/>
            </a:avLst>
          </a:prstGeom>
          <a:solidFill>
            <a:srgbClr val="E8F0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696200" y="4851400"/>
            <a:ext cx="1041400" cy="457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4A5C51"/>
                </a:solidFill>
                <a:latin typeface="Noto Sans SC"/>
                <a:ea typeface="Noto Sans SC"/>
                <a:cs typeface="Noto Sans SC"/>
                <a:sym typeface="Noto Sans SC"/>
              </a:rPr>
              <a:t>有用性</a:t>
            </a:r>
            <a:r>
              <a:rPr lang="en-US" b="true" i="false" strike="noStrike" u="none" sz="1300">
                <a:solidFill>
                  <a:srgbClr val="4A5C51"/>
                </a:solidFill>
                <a:latin typeface="Noto Sans SC"/>
                <a:ea typeface="Noto Sans SC"/>
                <a:cs typeface="Noto Sans SC"/>
                <a:sym typeface="Noto Sans SC"/>
              </a:rPr>
              <a:t/>
            </a:r>
            <a:br>
              <a:rPr lang="en-US" b="true" i="false" strike="noStrike" u="none" sz="1300">
                <a:solidFill>
                  <a:srgbClr val="4A5C51"/>
                </a:solidFill>
                <a:latin typeface="Noto Sans SC"/>
                <a:ea typeface="Noto Sans SC"/>
                <a:cs typeface="Noto Sans SC"/>
                <a:sym typeface="Noto Sans SC"/>
              </a:rPr>
            </a:br>
            <a:r>
              <a:rPr lang="en-US" b="true" i="false" strike="noStrike" u="none" sz="1300">
                <a:solidFill>
                  <a:srgbClr val="4A5C51"/>
                </a:solidFill>
                <a:latin typeface="Noto Sans SC"/>
                <a:ea typeface="Noto Sans SC"/>
                <a:cs typeface="Noto Sans SC"/>
                <a:sym typeface="Noto Sans SC"/>
              </a:rPr>
              <a:t>(Helpfulness)</a:t>
            </a:r>
            <a:endParaRPr lang="en-US" sz="1100"/>
          </a:p>
        </p:txBody>
      </p:sp>
      <p:sp>
        <p:nvSpPr>
          <p:cNvPr name="AutoShape 23" id="23"/>
          <p:cNvSpPr/>
          <p:nvPr/>
        </p:nvSpPr>
        <p:spPr>
          <a:xfrm rot="0" flipH="false" flipV="false">
            <a:off x="8864600" y="4699000"/>
            <a:ext cx="1041400" cy="762000"/>
          </a:xfrm>
          <a:prstGeom prst="roundRect">
            <a:avLst>
              <a:gd name="adj" fmla="val 13333"/>
            </a:avLst>
          </a:prstGeom>
          <a:solidFill>
            <a:srgbClr val="E8F0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864600" y="4851400"/>
            <a:ext cx="1041400" cy="457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4A5C51"/>
                </a:solidFill>
                <a:latin typeface="Noto Sans SC"/>
                <a:ea typeface="Noto Sans SC"/>
                <a:cs typeface="Noto Sans SC"/>
                <a:sym typeface="Noto Sans SC"/>
              </a:rPr>
              <a:t>深度</a:t>
            </a:r>
            <a:r>
              <a:rPr lang="en-US" b="true" i="false" strike="noStrike" u="none" sz="1300">
                <a:solidFill>
                  <a:srgbClr val="4A5C51"/>
                </a:solidFill>
                <a:latin typeface="Noto Sans SC"/>
                <a:ea typeface="Noto Sans SC"/>
                <a:cs typeface="Noto Sans SC"/>
                <a:sym typeface="Noto Sans SC"/>
              </a:rPr>
              <a:t/>
            </a:r>
            <a:br>
              <a:rPr lang="en-US" b="true" i="false" strike="noStrike" u="none" sz="1300">
                <a:solidFill>
                  <a:srgbClr val="4A5C51"/>
                </a:solidFill>
                <a:latin typeface="Noto Sans SC"/>
                <a:ea typeface="Noto Sans SC"/>
                <a:cs typeface="Noto Sans SC"/>
                <a:sym typeface="Noto Sans SC"/>
              </a:rPr>
            </a:br>
            <a:r>
              <a:rPr lang="en-US" b="true" i="false" strike="noStrike" u="none" sz="1300">
                <a:solidFill>
                  <a:srgbClr val="4A5C51"/>
                </a:solidFill>
                <a:latin typeface="Noto Sans SC"/>
                <a:ea typeface="Noto Sans SC"/>
                <a:cs typeface="Noto Sans SC"/>
                <a:sym typeface="Noto Sans SC"/>
              </a:rPr>
              <a:t>(Depth)</a:t>
            </a:r>
            <a:endParaRPr lang="en-US" sz="1100"/>
          </a:p>
        </p:txBody>
      </p:sp>
      <p:sp>
        <p:nvSpPr>
          <p:cNvPr name="AutoShape 25" id="25"/>
          <p:cNvSpPr/>
          <p:nvPr/>
        </p:nvSpPr>
        <p:spPr>
          <a:xfrm rot="0" flipH="false" flipV="false">
            <a:off x="10033000" y="4699000"/>
            <a:ext cx="1041400" cy="762000"/>
          </a:xfrm>
          <a:prstGeom prst="roundRect">
            <a:avLst>
              <a:gd name="adj" fmla="val 13333"/>
            </a:avLst>
          </a:prstGeom>
          <a:solidFill>
            <a:srgbClr val="E8F0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10033000" y="4851400"/>
            <a:ext cx="1041400" cy="457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4A5C51"/>
                </a:solidFill>
                <a:latin typeface="Noto Sans SC"/>
                <a:ea typeface="Noto Sans SC"/>
                <a:cs typeface="Noto Sans SC"/>
                <a:sym typeface="Noto Sans SC"/>
              </a:rPr>
              <a:t>共情能力</a:t>
            </a:r>
            <a:r>
              <a:rPr lang="en-US" b="true" i="false" strike="noStrike" u="none" sz="1300">
                <a:solidFill>
                  <a:srgbClr val="4A5C51"/>
                </a:solidFill>
                <a:latin typeface="Noto Sans SC"/>
                <a:ea typeface="Noto Sans SC"/>
                <a:cs typeface="Noto Sans SC"/>
                <a:sym typeface="Noto Sans SC"/>
              </a:rPr>
              <a:t/>
            </a:r>
            <a:br>
              <a:rPr lang="en-US" b="true" i="false" strike="noStrike" u="none" sz="1300">
                <a:solidFill>
                  <a:srgbClr val="4A5C51"/>
                </a:solidFill>
                <a:latin typeface="Noto Sans SC"/>
                <a:ea typeface="Noto Sans SC"/>
                <a:cs typeface="Noto Sans SC"/>
                <a:sym typeface="Noto Sans SC"/>
              </a:rPr>
            </a:br>
            <a:r>
              <a:rPr lang="en-US" b="true" i="false" strike="noStrike" u="none" sz="1300">
                <a:solidFill>
                  <a:srgbClr val="4A5C51"/>
                </a:solidFill>
                <a:latin typeface="Noto Sans SC"/>
                <a:ea typeface="Noto Sans SC"/>
                <a:cs typeface="Noto Sans SC"/>
                <a:sym typeface="Noto Sans SC"/>
              </a:rPr>
              <a:t>(Empathy)</a:t>
            </a:r>
            <a:endParaRPr lang="en-US" sz="1100"/>
          </a:p>
        </p:txBody>
      </p:sp>
      <p:pic>
        <p:nvPicPr>
          <p:cNvPr name="Picture 27" id="2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791200" y="6096000"/>
            <a:ext cx="609600" cy="6096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03 实验结果：与专家的对比</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A5C51"/>
                </a:solidFill>
                <a:latin typeface="Noto Sans SC"/>
                <a:ea typeface="Noto Sans SC"/>
                <a:cs typeface="Noto Sans SC"/>
                <a:sym typeface="Noto Sans SC"/>
              </a:rPr>
              <a:t>Med-PaLM 2 vs. 人类医生 vs. 其他模型</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5A695F"/>
                </a:solidFill>
                <a:latin typeface="Noto Sans SC"/>
                <a:ea typeface="Noto Sans SC"/>
                <a:cs typeface="Noto Sans SC"/>
                <a:sym typeface="Noto Sans SC"/>
              </a:rPr>
              <a:t>评估指标：准确率 (Accuracy) on MedQA (USMLE)</a:t>
            </a:r>
          </a:p>
        </p:txBody>
      </p:sp>
      <p:sp>
        <p:nvSpPr>
          <p:cNvPr name="AutoShape 4" id="4"/>
          <p:cNvSpPr/>
          <p:nvPr/>
        </p:nvSpPr>
        <p:spPr>
          <a:xfrm rot="0" flipH="false" flipV="false">
            <a:off x="762000" y="2159000"/>
            <a:ext cx="2476500" cy="2667000"/>
          </a:xfrm>
          <a:prstGeom prst="roundRect">
            <a:avLst>
              <a:gd name="adj" fmla="val 615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349500"/>
            <a:ext cx="2095500" cy="355600"/>
          </a:xfrm>
          <a:prstGeom prst="roundRect">
            <a:avLst>
              <a:gd name="adj" fmla="val 5000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349500"/>
            <a:ext cx="20955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solidFill>
                <a:latin typeface="Noto Sans SC"/>
                <a:ea typeface="Noto Sans SC"/>
                <a:cs typeface="Noto Sans SC"/>
                <a:sym typeface="Noto Sans SC"/>
              </a:rPr>
              <a:t>人类专家标杆</a:t>
            </a:r>
            <a:endParaRPr lang="en-US" sz="1100"/>
          </a:p>
        </p:txBody>
      </p:sp>
      <p:sp>
        <p:nvSpPr>
          <p:cNvPr name="AutoShape 7" id="7"/>
          <p:cNvSpPr/>
          <p:nvPr/>
        </p:nvSpPr>
        <p:spPr>
          <a:xfrm rot="0" flipH="false" flipV="false">
            <a:off x="952500" y="2921000"/>
            <a:ext cx="2095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A5C51"/>
                </a:solidFill>
                <a:latin typeface="Noto Sans SC"/>
                <a:ea typeface="Noto Sans SC"/>
                <a:cs typeface="Noto Sans SC"/>
                <a:sym typeface="Noto Sans SC"/>
              </a:rPr>
              <a:t>人类医生 (平均)</a:t>
            </a:r>
            <a:endParaRPr lang="en-US" sz="1100"/>
          </a:p>
        </p:txBody>
      </p:sp>
      <p:sp>
        <p:nvSpPr>
          <p:cNvPr name="AutoShape 8" id="8"/>
          <p:cNvSpPr/>
          <p:nvPr/>
        </p:nvSpPr>
        <p:spPr>
          <a:xfrm rot="0" flipH="false" flipV="false">
            <a:off x="952500" y="3556000"/>
            <a:ext cx="2095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4A5C51"/>
                </a:solidFill>
                <a:latin typeface="Noto Sans SC"/>
                <a:ea typeface="Noto Sans SC"/>
                <a:cs typeface="Noto Sans SC"/>
                <a:sym typeface="Noto Sans SC"/>
              </a:rPr>
              <a:t>~95%</a:t>
            </a:r>
            <a:endParaRPr lang="en-US" sz="1100"/>
          </a:p>
        </p:txBody>
      </p:sp>
      <p:sp>
        <p:nvSpPr>
          <p:cNvPr name="AutoShape 9" id="9"/>
          <p:cNvSpPr/>
          <p:nvPr/>
        </p:nvSpPr>
        <p:spPr>
          <a:xfrm rot="0" flipH="false" flipV="false">
            <a:off x="1079500" y="4445000"/>
            <a:ext cx="1841500" cy="76200"/>
          </a:xfrm>
          <a:prstGeom prst="roundRect">
            <a:avLst>
              <a:gd name="adj" fmla="val 0"/>
            </a:avLst>
          </a:prstGeom>
          <a:solidFill>
            <a:srgbClr val="E0E4D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79500" y="4445000"/>
            <a:ext cx="1739900" cy="76200"/>
          </a:xfrm>
          <a:prstGeom prst="roundRect">
            <a:avLst>
              <a:gd name="adj" fmla="val 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492500" y="2159000"/>
            <a:ext cx="2476500" cy="2667000"/>
          </a:xfrm>
          <a:prstGeom prst="roundRect">
            <a:avLst>
              <a:gd name="adj" fmla="val 615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683000" y="2349500"/>
            <a:ext cx="2095500" cy="355600"/>
          </a:xfrm>
          <a:prstGeom prst="roundRect">
            <a:avLst>
              <a:gd name="adj" fmla="val 50000"/>
            </a:avLst>
          </a:prstGeom>
          <a:solidFill>
            <a:srgbClr val="6CA88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683000" y="2349500"/>
            <a:ext cx="20955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solidFill>
                <a:latin typeface="Noto Sans SC"/>
                <a:ea typeface="Noto Sans SC"/>
                <a:cs typeface="Noto Sans SC"/>
                <a:sym typeface="Noto Sans SC"/>
              </a:rPr>
              <a:t>表现最优模型</a:t>
            </a:r>
            <a:endParaRPr lang="en-US" sz="1100"/>
          </a:p>
        </p:txBody>
      </p:sp>
      <p:sp>
        <p:nvSpPr>
          <p:cNvPr name="AutoShape 14" id="14"/>
          <p:cNvSpPr/>
          <p:nvPr/>
        </p:nvSpPr>
        <p:spPr>
          <a:xfrm rot="0" flipH="false" flipV="false">
            <a:off x="3683000" y="2921000"/>
            <a:ext cx="2095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A5C51"/>
                </a:solidFill>
                <a:latin typeface="Noto Sans SC"/>
                <a:ea typeface="Noto Sans SC"/>
                <a:cs typeface="Noto Sans SC"/>
                <a:sym typeface="Noto Sans SC"/>
              </a:rPr>
              <a:t>Med-PaLM 2</a:t>
            </a:r>
            <a:endParaRPr lang="en-US" sz="1100"/>
          </a:p>
        </p:txBody>
      </p:sp>
      <p:sp>
        <p:nvSpPr>
          <p:cNvPr name="AutoShape 15" id="15"/>
          <p:cNvSpPr/>
          <p:nvPr/>
        </p:nvSpPr>
        <p:spPr>
          <a:xfrm rot="0" flipH="false" flipV="false">
            <a:off x="3683000" y="3556000"/>
            <a:ext cx="2095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6CA88E"/>
                </a:solidFill>
                <a:latin typeface="Noto Sans SC"/>
                <a:ea typeface="Noto Sans SC"/>
                <a:cs typeface="Noto Sans SC"/>
                <a:sym typeface="Noto Sans SC"/>
              </a:rPr>
              <a:t>~85%</a:t>
            </a:r>
            <a:endParaRPr lang="en-US" sz="1100"/>
          </a:p>
        </p:txBody>
      </p:sp>
      <p:sp>
        <p:nvSpPr>
          <p:cNvPr name="AutoShape 16" id="16"/>
          <p:cNvSpPr/>
          <p:nvPr/>
        </p:nvSpPr>
        <p:spPr>
          <a:xfrm rot="0" flipH="false" flipV="false">
            <a:off x="3810000" y="4445000"/>
            <a:ext cx="1841500" cy="76200"/>
          </a:xfrm>
          <a:prstGeom prst="roundRect">
            <a:avLst>
              <a:gd name="adj" fmla="val 0"/>
            </a:avLst>
          </a:prstGeom>
          <a:solidFill>
            <a:srgbClr val="E0E4D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3810000" y="4445000"/>
            <a:ext cx="1562100" cy="76200"/>
          </a:xfrm>
          <a:prstGeom prst="roundRect">
            <a:avLst>
              <a:gd name="adj" fmla="val 0"/>
            </a:avLst>
          </a:prstGeom>
          <a:solidFill>
            <a:srgbClr val="6CA88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223000" y="2159000"/>
            <a:ext cx="2476500" cy="2667000"/>
          </a:xfrm>
          <a:prstGeom prst="roundRect">
            <a:avLst>
              <a:gd name="adj" fmla="val 615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13500" y="2349500"/>
            <a:ext cx="2095500" cy="355600"/>
          </a:xfrm>
          <a:prstGeom prst="roundRect">
            <a:avLst>
              <a:gd name="adj" fmla="val 50000"/>
            </a:avLst>
          </a:prstGeom>
          <a:solidFill>
            <a:srgbClr val="A7B5A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13500" y="2349500"/>
            <a:ext cx="20955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solidFill>
                <a:latin typeface="Noto Sans SC"/>
                <a:ea typeface="Noto Sans SC"/>
                <a:cs typeface="Noto Sans SC"/>
                <a:sym typeface="Noto Sans SC"/>
              </a:rPr>
              <a:t>通用大模型</a:t>
            </a:r>
            <a:endParaRPr lang="en-US" sz="1100"/>
          </a:p>
        </p:txBody>
      </p:sp>
      <p:sp>
        <p:nvSpPr>
          <p:cNvPr name="AutoShape 21" id="21"/>
          <p:cNvSpPr/>
          <p:nvPr/>
        </p:nvSpPr>
        <p:spPr>
          <a:xfrm rot="0" flipH="false" flipV="false">
            <a:off x="6413500" y="2921000"/>
            <a:ext cx="2095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A5C51"/>
                </a:solidFill>
                <a:latin typeface="Noto Sans SC"/>
                <a:ea typeface="Noto Sans SC"/>
                <a:cs typeface="Noto Sans SC"/>
                <a:sym typeface="Noto Sans SC"/>
              </a:rPr>
              <a:t>GPT-4</a:t>
            </a:r>
            <a:endParaRPr lang="en-US" sz="1100"/>
          </a:p>
        </p:txBody>
      </p:sp>
      <p:sp>
        <p:nvSpPr>
          <p:cNvPr name="AutoShape 22" id="22"/>
          <p:cNvSpPr/>
          <p:nvPr/>
        </p:nvSpPr>
        <p:spPr>
          <a:xfrm rot="0" flipH="false" flipV="false">
            <a:off x="6413500" y="3556000"/>
            <a:ext cx="2095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7A8A82"/>
                </a:solidFill>
                <a:latin typeface="Noto Sans SC"/>
                <a:ea typeface="Noto Sans SC"/>
                <a:cs typeface="Noto Sans SC"/>
                <a:sym typeface="Noto Sans SC"/>
              </a:rPr>
              <a:t>~80%</a:t>
            </a:r>
            <a:endParaRPr lang="en-US" sz="1100"/>
          </a:p>
        </p:txBody>
      </p:sp>
      <p:sp>
        <p:nvSpPr>
          <p:cNvPr name="AutoShape 23" id="23"/>
          <p:cNvSpPr/>
          <p:nvPr/>
        </p:nvSpPr>
        <p:spPr>
          <a:xfrm rot="0" flipH="false" flipV="false">
            <a:off x="6540500" y="4445000"/>
            <a:ext cx="1841500" cy="76200"/>
          </a:xfrm>
          <a:prstGeom prst="roundRect">
            <a:avLst>
              <a:gd name="adj" fmla="val 0"/>
            </a:avLst>
          </a:prstGeom>
          <a:solidFill>
            <a:srgbClr val="E0E4D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540500" y="4445000"/>
            <a:ext cx="1473200" cy="76200"/>
          </a:xfrm>
          <a:prstGeom prst="roundRect">
            <a:avLst>
              <a:gd name="adj" fmla="val 0"/>
            </a:avLst>
          </a:prstGeom>
          <a:solidFill>
            <a:srgbClr val="A7B5A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953500" y="2159000"/>
            <a:ext cx="2476500" cy="2667000"/>
          </a:xfrm>
          <a:prstGeom prst="roundRect">
            <a:avLst>
              <a:gd name="adj" fmla="val 615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144000" y="2349500"/>
            <a:ext cx="2095500" cy="355600"/>
          </a:xfrm>
          <a:prstGeom prst="roundRect">
            <a:avLst>
              <a:gd name="adj" fmla="val 50000"/>
            </a:avLst>
          </a:prstGeom>
          <a:solidFill>
            <a:srgbClr val="C9CFC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144000" y="2349500"/>
            <a:ext cx="20955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4A5C51"/>
                </a:solidFill>
                <a:latin typeface="Noto Sans SC"/>
                <a:ea typeface="Noto Sans SC"/>
                <a:cs typeface="Noto Sans SC"/>
                <a:sym typeface="Noto Sans SC"/>
              </a:rPr>
              <a:t>基础模型对照</a:t>
            </a:r>
            <a:endParaRPr lang="en-US" sz="1100"/>
          </a:p>
        </p:txBody>
      </p:sp>
      <p:sp>
        <p:nvSpPr>
          <p:cNvPr name="AutoShape 28" id="28"/>
          <p:cNvSpPr/>
          <p:nvPr/>
        </p:nvSpPr>
        <p:spPr>
          <a:xfrm rot="0" flipH="false" flipV="false">
            <a:off x="9144000" y="2921000"/>
            <a:ext cx="2095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A5C51"/>
                </a:solidFill>
                <a:latin typeface="Noto Sans SC"/>
                <a:ea typeface="Noto Sans SC"/>
                <a:cs typeface="Noto Sans SC"/>
                <a:sym typeface="Noto Sans SC"/>
              </a:rPr>
              <a:t>PaLM 2 (未微调)</a:t>
            </a:r>
            <a:endParaRPr lang="en-US" sz="1100"/>
          </a:p>
        </p:txBody>
      </p:sp>
      <p:sp>
        <p:nvSpPr>
          <p:cNvPr name="AutoShape 29" id="29"/>
          <p:cNvSpPr/>
          <p:nvPr/>
        </p:nvSpPr>
        <p:spPr>
          <a:xfrm rot="0" flipH="false" flipV="false">
            <a:off x="9144000" y="3556000"/>
            <a:ext cx="2095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949E97"/>
                </a:solidFill>
                <a:latin typeface="Noto Sans SC"/>
                <a:ea typeface="Noto Sans SC"/>
                <a:cs typeface="Noto Sans SC"/>
                <a:sym typeface="Noto Sans SC"/>
              </a:rPr>
              <a:t>~60%</a:t>
            </a:r>
            <a:endParaRPr lang="en-US" sz="1100"/>
          </a:p>
        </p:txBody>
      </p:sp>
      <p:sp>
        <p:nvSpPr>
          <p:cNvPr name="AutoShape 30" id="30"/>
          <p:cNvSpPr/>
          <p:nvPr/>
        </p:nvSpPr>
        <p:spPr>
          <a:xfrm rot="0" flipH="false" flipV="false">
            <a:off x="9271000" y="4445000"/>
            <a:ext cx="1841500" cy="76200"/>
          </a:xfrm>
          <a:prstGeom prst="roundRect">
            <a:avLst>
              <a:gd name="adj" fmla="val 0"/>
            </a:avLst>
          </a:prstGeom>
          <a:solidFill>
            <a:srgbClr val="E0E4D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9271000" y="4445000"/>
            <a:ext cx="1104900" cy="76200"/>
          </a:xfrm>
          <a:prstGeom prst="roundRect">
            <a:avLst>
              <a:gd name="adj" fmla="val 0"/>
            </a:avLst>
          </a:prstGeom>
          <a:solidFill>
            <a:srgbClr val="C9CFC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762000" y="5207000"/>
            <a:ext cx="10668000" cy="1270000"/>
          </a:xfrm>
          <a:prstGeom prst="roundRect">
            <a:avLst>
              <a:gd name="adj" fmla="val 8000"/>
            </a:avLst>
          </a:prstGeom>
          <a:solidFill>
            <a:srgbClr val="D2DFC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1016000" y="5397500"/>
            <a:ext cx="10160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true" strike="noStrike" u="none" sz="1300">
                <a:solidFill>
                  <a:srgbClr val="4A5C51"/>
                </a:solidFill>
                <a:latin typeface="Noto Sans SC"/>
                <a:ea typeface="Noto Sans SC"/>
                <a:cs typeface="Noto Sans SC"/>
                <a:sym typeface="Noto Sans SC"/>
              </a:rPr>
              <a:t>Med-PaLM 2在严格的USMLE-style考试中表现优异，虽然与人类专家仍有差距，但已显著超越其他模型，展示了其在专业医学知识方面的强大能力。</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03 实验结果：人类专家评估</a:t>
            </a:r>
            <a:endParaRPr lang="en-US" sz="1100"/>
          </a:p>
        </p:txBody>
      </p:sp>
      <p:sp>
        <p:nvSpPr>
          <p:cNvPr name="AutoShape 3" id="3"/>
          <p:cNvSpPr/>
          <p:nvPr/>
        </p:nvSpPr>
        <p:spPr>
          <a:xfrm rot="0" flipH="false" flipV="false">
            <a:off x="762000" y="1651000"/>
            <a:ext cx="3302000" cy="4572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55800"/>
            <a:ext cx="457200" cy="457200"/>
          </a:xfrm>
          <a:prstGeom prst="rect">
            <a:avLst/>
          </a:prstGeom>
        </p:spPr>
      </p:pic>
      <p:sp>
        <p:nvSpPr>
          <p:cNvPr name="AutoShape 5" id="5"/>
          <p:cNvSpPr/>
          <p:nvPr/>
        </p:nvSpPr>
        <p:spPr>
          <a:xfrm rot="0" flipH="false" flipV="false">
            <a:off x="1651000" y="19304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准确性与可靠性</a:t>
            </a:r>
            <a:endParaRPr lang="en-US" sz="1100"/>
          </a:p>
        </p:txBody>
      </p:sp>
      <p:sp>
        <p:nvSpPr>
          <p:cNvPr name="AutoShape 6" id="6"/>
          <p:cNvSpPr/>
          <p:nvPr/>
        </p:nvSpPr>
        <p:spPr>
          <a:xfrm rot="0" flipH="false" flipV="false">
            <a:off x="1016000" y="2667000"/>
            <a:ext cx="2794000" cy="12700"/>
          </a:xfrm>
          <a:prstGeom prst="roundRect">
            <a:avLst>
              <a:gd name="adj" fmla="val 0"/>
            </a:avLst>
          </a:prstGeom>
          <a:solidFill>
            <a:srgbClr val="D2DAC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048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4A5C51"/>
                </a:solidFill>
                <a:latin typeface="Noto Sans SC"/>
                <a:ea typeface="Noto Sans SC"/>
                <a:cs typeface="Noto Sans SC"/>
                <a:sym typeface="Noto Sans SC"/>
              </a:rPr>
              <a:t>💡 发现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555555"/>
                </a:solidFill>
                <a:latin typeface="Noto Sans SC"/>
                <a:ea typeface="Noto Sans SC"/>
                <a:cs typeface="Noto Sans SC"/>
                <a:sym typeface="Noto Sans SC"/>
              </a:rPr>
              <a:t>Med-PaLM 2的回答在准确性上与初级医生相当，在某些情况下甚至能提供更全面的信息。</a:t>
            </a:r>
          </a:p>
        </p:txBody>
      </p:sp>
      <p:sp>
        <p:nvSpPr>
          <p:cNvPr name="AutoShape 8" id="8"/>
          <p:cNvSpPr/>
          <p:nvPr/>
        </p:nvSpPr>
        <p:spPr>
          <a:xfrm rot="0" flipH="false" flipV="false">
            <a:off x="1016000" y="4699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D97706"/>
                </a:solidFill>
                <a:latin typeface="Noto Sans SC"/>
                <a:ea typeface="Noto Sans SC"/>
                <a:cs typeface="Noto Sans SC"/>
                <a:sym typeface="Noto Sans SC"/>
              </a:rPr>
              <a:t>⚠️ 挑战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555555"/>
                </a:solidFill>
                <a:latin typeface="Noto Sans SC"/>
                <a:ea typeface="Noto Sans SC"/>
                <a:cs typeface="Noto Sans SC"/>
                <a:sym typeface="Noto Sans SC"/>
              </a:rPr>
              <a:t>仍存在“幻觉”现象，即生成看似合理但与事实不符的内容，需严格验证。</a:t>
            </a:r>
          </a:p>
        </p:txBody>
      </p:sp>
      <p:sp>
        <p:nvSpPr>
          <p:cNvPr name="AutoShape 9" id="9"/>
          <p:cNvSpPr/>
          <p:nvPr/>
        </p:nvSpPr>
        <p:spPr>
          <a:xfrm rot="0" flipH="false" flipV="false">
            <a:off x="4445000" y="1651000"/>
            <a:ext cx="3302000" cy="4572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1955800"/>
            <a:ext cx="457200" cy="457200"/>
          </a:xfrm>
          <a:prstGeom prst="rect">
            <a:avLst/>
          </a:prstGeom>
        </p:spPr>
      </p:pic>
      <p:sp>
        <p:nvSpPr>
          <p:cNvPr name="AutoShape 11" id="11"/>
          <p:cNvSpPr/>
          <p:nvPr/>
        </p:nvSpPr>
        <p:spPr>
          <a:xfrm rot="0" flipH="false" flipV="false">
            <a:off x="5334000" y="19304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临床有用性</a:t>
            </a:r>
            <a:endParaRPr lang="en-US" sz="1100"/>
          </a:p>
        </p:txBody>
      </p:sp>
      <p:sp>
        <p:nvSpPr>
          <p:cNvPr name="AutoShape 12" id="12"/>
          <p:cNvSpPr/>
          <p:nvPr/>
        </p:nvSpPr>
        <p:spPr>
          <a:xfrm rot="0" flipH="false" flipV="false">
            <a:off x="4699000" y="2667000"/>
            <a:ext cx="2794000" cy="12700"/>
          </a:xfrm>
          <a:prstGeom prst="roundRect">
            <a:avLst>
              <a:gd name="adj" fmla="val 0"/>
            </a:avLst>
          </a:prstGeom>
          <a:solidFill>
            <a:srgbClr val="D2DAC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699000" y="3048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4A5C51"/>
                </a:solidFill>
                <a:latin typeface="Noto Sans SC"/>
                <a:ea typeface="Noto Sans SC"/>
                <a:cs typeface="Noto Sans SC"/>
                <a:sym typeface="Noto Sans SC"/>
              </a:rPr>
              <a:t>💡 发现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555555"/>
                </a:solidFill>
                <a:latin typeface="Noto Sans SC"/>
                <a:ea typeface="Noto Sans SC"/>
                <a:cs typeface="Noto Sans SC"/>
                <a:sym typeface="Noto Sans SC"/>
              </a:rPr>
              <a:t>模型能够提供结构化的回答，清晰解释诊断思路并列出鉴别诊断，对临床决策具有显著的辅助价值。</a:t>
            </a:r>
          </a:p>
        </p:txBody>
      </p:sp>
      <p:sp>
        <p:nvSpPr>
          <p:cNvPr name="AutoShape 14" id="14"/>
          <p:cNvSpPr/>
          <p:nvPr/>
        </p:nvSpPr>
        <p:spPr>
          <a:xfrm rot="0" flipH="false" flipV="false">
            <a:off x="4699000" y="4699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D97706"/>
                </a:solidFill>
                <a:latin typeface="Noto Sans SC"/>
                <a:ea typeface="Noto Sans SC"/>
                <a:cs typeface="Noto Sans SC"/>
                <a:sym typeface="Noto Sans SC"/>
              </a:rPr>
              <a:t>⚠️ 挑战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555555"/>
                </a:solidFill>
                <a:latin typeface="Noto Sans SC"/>
                <a:ea typeface="Noto Sans SC"/>
                <a:cs typeface="Noto Sans SC"/>
                <a:sym typeface="Noto Sans SC"/>
              </a:rPr>
              <a:t>回答的深度和特异性仍需进一步提升，以更好地满足经验丰富专家的诊断与治疗需求。</a:t>
            </a:r>
          </a:p>
        </p:txBody>
      </p:sp>
      <p:sp>
        <p:nvSpPr>
          <p:cNvPr name="AutoShape 15" id="15"/>
          <p:cNvSpPr/>
          <p:nvPr/>
        </p:nvSpPr>
        <p:spPr>
          <a:xfrm rot="0" flipH="false" flipV="false">
            <a:off x="8128000" y="1651000"/>
            <a:ext cx="3302000" cy="4572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1955800"/>
            <a:ext cx="457200" cy="457200"/>
          </a:xfrm>
          <a:prstGeom prst="rect">
            <a:avLst/>
          </a:prstGeom>
        </p:spPr>
      </p:pic>
      <p:sp>
        <p:nvSpPr>
          <p:cNvPr name="AutoShape 17" id="17"/>
          <p:cNvSpPr/>
          <p:nvPr/>
        </p:nvSpPr>
        <p:spPr>
          <a:xfrm rot="0" flipH="false" flipV="false">
            <a:off x="9017000" y="19304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5C51"/>
                </a:solidFill>
                <a:latin typeface="Noto Sans SC"/>
                <a:ea typeface="Noto Sans SC"/>
                <a:cs typeface="Noto Sans SC"/>
                <a:sym typeface="Noto Sans SC"/>
              </a:rPr>
              <a:t>人文关怀</a:t>
            </a:r>
            <a:endParaRPr lang="en-US" sz="1100"/>
          </a:p>
        </p:txBody>
      </p:sp>
      <p:sp>
        <p:nvSpPr>
          <p:cNvPr name="AutoShape 18" id="18"/>
          <p:cNvSpPr/>
          <p:nvPr/>
        </p:nvSpPr>
        <p:spPr>
          <a:xfrm rot="0" flipH="false" flipV="false">
            <a:off x="8382000" y="2667000"/>
            <a:ext cx="2794000" cy="12700"/>
          </a:xfrm>
          <a:prstGeom prst="roundRect">
            <a:avLst>
              <a:gd name="adj" fmla="val 0"/>
            </a:avLst>
          </a:prstGeom>
          <a:solidFill>
            <a:srgbClr val="D2DAC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382000" y="3048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4A5C51"/>
                </a:solidFill>
                <a:latin typeface="Noto Sans SC"/>
                <a:ea typeface="Noto Sans SC"/>
                <a:cs typeface="Noto Sans SC"/>
                <a:sym typeface="Noto Sans SC"/>
              </a:rPr>
              <a:t>💡 发现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555555"/>
                </a:solidFill>
                <a:latin typeface="Noto Sans SC"/>
                <a:ea typeface="Noto Sans SC"/>
                <a:cs typeface="Noto Sans SC"/>
                <a:sym typeface="Noto Sans SC"/>
              </a:rPr>
              <a:t>通过RLHF（基于人类反馈的强化学习）优化，模型回答在共情表达与情绪安抚方面表现更优，语言风格也更温和。</a:t>
            </a:r>
          </a:p>
        </p:txBody>
      </p:sp>
      <p:sp>
        <p:nvSpPr>
          <p:cNvPr name="AutoShape 20" id="20"/>
          <p:cNvSpPr/>
          <p:nvPr/>
        </p:nvSpPr>
        <p:spPr>
          <a:xfrm rot="0" flipH="false" flipV="false">
            <a:off x="8382000" y="4699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D97706"/>
                </a:solidFill>
                <a:latin typeface="Noto Sans SC"/>
                <a:ea typeface="Noto Sans SC"/>
                <a:cs typeface="Noto Sans SC"/>
                <a:sym typeface="Noto Sans SC"/>
              </a:rPr>
              <a:t>⚠️ 挑战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555555"/>
                </a:solidFill>
                <a:latin typeface="Noto Sans SC"/>
                <a:ea typeface="Noto Sans SC"/>
                <a:cs typeface="Noto Sans SC"/>
                <a:sym typeface="Noto Sans SC"/>
              </a:rPr>
              <a:t>AI目前仍缺乏真正的共情能力，在理解复杂人类情感与提供深度心理支持上，仍有很长的路要走。</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A5C51"/>
                </a:solidFill>
                <a:latin typeface="Noto Sans SC"/>
                <a:ea typeface="Noto Sans SC"/>
                <a:cs typeface="Noto Sans SC"/>
                <a:sym typeface="Noto Sans SC"/>
              </a:rPr>
              <a:t>04 结论与展望</a:t>
            </a:r>
            <a:endParaRPr lang="en-US" sz="1100"/>
          </a:p>
        </p:txBody>
      </p:sp>
      <p:sp>
        <p:nvSpPr>
          <p:cNvPr name="AutoShape 3" id="3"/>
          <p:cNvSpPr/>
          <p:nvPr/>
        </p:nvSpPr>
        <p:spPr>
          <a:xfrm rot="0" flipH="false" flipV="false">
            <a:off x="762000" y="1524000"/>
            <a:ext cx="5207000" cy="4826000"/>
          </a:xfrm>
          <a:prstGeom prst="roundRect">
            <a:avLst>
              <a:gd name="adj" fmla="val 31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524000"/>
            <a:ext cx="5207000" cy="812800"/>
          </a:xfrm>
          <a:prstGeom prst="roundRect">
            <a:avLst>
              <a:gd name="adj" fmla="val 1875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727200"/>
            <a:ext cx="406400" cy="406400"/>
          </a:xfrm>
          <a:prstGeom prst="rect">
            <a:avLst/>
          </a:prstGeom>
        </p:spPr>
      </p:pic>
      <p:sp>
        <p:nvSpPr>
          <p:cNvPr name="AutoShape 6" id="6"/>
          <p:cNvSpPr/>
          <p:nvPr/>
        </p:nvSpPr>
        <p:spPr>
          <a:xfrm rot="0" flipH="false" flipV="false">
            <a:off x="1651000" y="16764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核心结论</a:t>
            </a:r>
            <a:endParaRPr lang="en-US" sz="1100"/>
          </a:p>
        </p:txBody>
      </p:sp>
      <p:sp>
        <p:nvSpPr>
          <p:cNvPr name="AutoShape 7" id="7"/>
          <p:cNvSpPr/>
          <p:nvPr/>
        </p:nvSpPr>
        <p:spPr>
          <a:xfrm rot="0" flipH="false" flipV="false">
            <a:off x="1016000" y="2540000"/>
            <a:ext cx="4699000" cy="1016000"/>
          </a:xfrm>
          <a:prstGeom prst="roundRect">
            <a:avLst>
              <a:gd name="adj" fmla="val 10000"/>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06500" y="2692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4A5C51"/>
                </a:solidFill>
                <a:latin typeface="Noto Sans SC"/>
                <a:ea typeface="Noto Sans SC"/>
                <a:cs typeface="Noto Sans SC"/>
                <a:sym typeface="Noto Sans SC"/>
              </a:rPr>
              <a:t>01. 可行性验证</a:t>
            </a:r>
            <a:r>
              <a:rPr lang="en-US" b="false" i="false" strike="noStrike" u="none" sz="1200">
                <a:solidFill>
                  <a:srgbClr val="5A5A5A"/>
                </a:solidFill>
                <a:latin typeface="Noto Sans SC"/>
                <a:ea typeface="Noto Sans SC"/>
                <a:cs typeface="Noto Sans SC"/>
                <a:sym typeface="Noto Sans SC"/>
              </a:rPr>
              <a:t>大型语言模型通过针对性优化，可以在专业医疗问答任务中达到接近专家的水平。</a:t>
            </a:r>
            <a:endParaRPr lang="en-US" sz="1100"/>
          </a:p>
        </p:txBody>
      </p:sp>
      <p:sp>
        <p:nvSpPr>
          <p:cNvPr name="AutoShape 9" id="9"/>
          <p:cNvSpPr/>
          <p:nvPr/>
        </p:nvSpPr>
        <p:spPr>
          <a:xfrm rot="0" flipH="false" flipV="false">
            <a:off x="1016000" y="3810000"/>
            <a:ext cx="4699000" cy="1016000"/>
          </a:xfrm>
          <a:prstGeom prst="roundRect">
            <a:avLst>
              <a:gd name="adj" fmla="val 10000"/>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206500" y="3962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4A5C51"/>
                </a:solidFill>
                <a:latin typeface="Noto Sans SC"/>
                <a:ea typeface="Noto Sans SC"/>
                <a:cs typeface="Noto Sans SC"/>
                <a:sym typeface="Noto Sans SC"/>
              </a:rPr>
              <a:t>02. 技术路径有效</a:t>
            </a:r>
            <a:r>
              <a:rPr lang="en-US" b="false" i="false" strike="noStrike" u="none" sz="1200">
                <a:solidFill>
                  <a:srgbClr val="5A5A5A"/>
                </a:solidFill>
                <a:latin typeface="Noto Sans SC"/>
                <a:ea typeface="Noto Sans SC"/>
                <a:cs typeface="Noto Sans SC"/>
                <a:sym typeface="Noto Sans SC"/>
              </a:rPr>
              <a:t>指令微调和RLHF是提升模型专业性和可靠性的关键技术，能有效降低回答错误率。</a:t>
            </a:r>
            <a:endParaRPr lang="en-US" sz="1100"/>
          </a:p>
        </p:txBody>
      </p:sp>
      <p:sp>
        <p:nvSpPr>
          <p:cNvPr name="AutoShape 11" id="11"/>
          <p:cNvSpPr/>
          <p:nvPr/>
        </p:nvSpPr>
        <p:spPr>
          <a:xfrm rot="0" flipH="false" flipV="false">
            <a:off x="1016000" y="5080000"/>
            <a:ext cx="4699000" cy="1016000"/>
          </a:xfrm>
          <a:prstGeom prst="roundRect">
            <a:avLst>
              <a:gd name="adj" fmla="val 10000"/>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206500" y="5232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4A5C51"/>
                </a:solidFill>
                <a:latin typeface="Noto Sans SC"/>
                <a:ea typeface="Noto Sans SC"/>
                <a:cs typeface="Noto Sans SC"/>
                <a:sym typeface="Noto Sans SC"/>
              </a:rPr>
              <a:t>03. 价值与风险并存</a:t>
            </a:r>
            <a:r>
              <a:rPr lang="en-US" b="false" i="false" strike="noStrike" u="none" sz="1200">
                <a:solidFill>
                  <a:srgbClr val="5A5A5A"/>
                </a:solidFill>
                <a:latin typeface="Noto Sans SC"/>
                <a:ea typeface="Noto Sans SC"/>
                <a:cs typeface="Noto Sans SC"/>
                <a:sym typeface="Noto Sans SC"/>
              </a:rPr>
              <a:t>展现了作为AI辅助工具的巨大潜力，但“幻觉”和数据偏见等风险仍需持续警惕与治理。</a:t>
            </a:r>
            <a:endParaRPr lang="en-US" sz="1100"/>
          </a:p>
        </p:txBody>
      </p:sp>
      <p:sp>
        <p:nvSpPr>
          <p:cNvPr name="AutoShape 13" id="13"/>
          <p:cNvSpPr/>
          <p:nvPr/>
        </p:nvSpPr>
        <p:spPr>
          <a:xfrm rot="0" flipH="false" flipV="false">
            <a:off x="6223000" y="1524000"/>
            <a:ext cx="5207000" cy="4826000"/>
          </a:xfrm>
          <a:prstGeom prst="roundRect">
            <a:avLst>
              <a:gd name="adj" fmla="val 31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1524000"/>
            <a:ext cx="5207000" cy="812800"/>
          </a:xfrm>
          <a:prstGeom prst="roundRect">
            <a:avLst>
              <a:gd name="adj" fmla="val 18750"/>
            </a:avLst>
          </a:prstGeom>
          <a:solidFill>
            <a:srgbClr val="4A5C5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1727200"/>
            <a:ext cx="406400" cy="406400"/>
          </a:xfrm>
          <a:prstGeom prst="rect">
            <a:avLst/>
          </a:prstGeom>
        </p:spPr>
      </p:pic>
      <p:sp>
        <p:nvSpPr>
          <p:cNvPr name="AutoShape 16" id="16"/>
          <p:cNvSpPr/>
          <p:nvPr/>
        </p:nvSpPr>
        <p:spPr>
          <a:xfrm rot="0" flipH="false" flipV="false">
            <a:off x="7112000" y="16764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未来展望</a:t>
            </a:r>
            <a:endParaRPr lang="en-US" sz="1100"/>
          </a:p>
        </p:txBody>
      </p:sp>
      <p:sp>
        <p:nvSpPr>
          <p:cNvPr name="AutoShape 17" id="17"/>
          <p:cNvSpPr/>
          <p:nvPr/>
        </p:nvSpPr>
        <p:spPr>
          <a:xfrm rot="0" flipH="false" flipV="false">
            <a:off x="6477000" y="2540000"/>
            <a:ext cx="2222500" cy="1651000"/>
          </a:xfrm>
          <a:prstGeom prst="roundRect">
            <a:avLst>
              <a:gd name="adj" fmla="val 6153"/>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04000" y="2730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4A5C51"/>
                </a:solidFill>
                <a:latin typeface="Noto Sans SC"/>
                <a:ea typeface="Noto Sans SC"/>
                <a:cs typeface="Noto Sans SC"/>
                <a:sym typeface="Noto Sans SC"/>
              </a:rPr>
              <a:t>🔍 多模态融合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5A5A5A"/>
                </a:solidFill>
                <a:latin typeface="Noto Sans SC"/>
                <a:ea typeface="Noto Sans SC"/>
                <a:cs typeface="Noto Sans SC"/>
                <a:sym typeface="Noto Sans SC"/>
              </a:rPr>
              <a:t>结合医学影像、电子病历等数据，打破单一文本限制，提升诊断的全面性。</a:t>
            </a:r>
          </a:p>
        </p:txBody>
      </p:sp>
      <p:sp>
        <p:nvSpPr>
          <p:cNvPr name="AutoShape 19" id="19"/>
          <p:cNvSpPr/>
          <p:nvPr/>
        </p:nvSpPr>
        <p:spPr>
          <a:xfrm rot="0" flipH="false" flipV="false">
            <a:off x="8953500" y="2540000"/>
            <a:ext cx="2222500" cy="1651000"/>
          </a:xfrm>
          <a:prstGeom prst="roundRect">
            <a:avLst>
              <a:gd name="adj" fmla="val 6153"/>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80500" y="2730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4A5C51"/>
                </a:solidFill>
                <a:latin typeface="Noto Sans SC"/>
                <a:ea typeface="Noto Sans SC"/>
                <a:cs typeface="Noto Sans SC"/>
                <a:sym typeface="Noto Sans SC"/>
              </a:rPr>
              <a:t>🧠 可解释性增强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5A5A5A"/>
                </a:solidFill>
                <a:latin typeface="Noto Sans SC"/>
                <a:ea typeface="Noto Sans SC"/>
                <a:cs typeface="Noto Sans SC"/>
                <a:sym typeface="Noto Sans SC"/>
              </a:rPr>
              <a:t>让模型清晰展示推理逻辑，而非仅提供结论，增强医生和患者的双重信任。</a:t>
            </a:r>
          </a:p>
        </p:txBody>
      </p:sp>
      <p:sp>
        <p:nvSpPr>
          <p:cNvPr name="AutoShape 21" id="21"/>
          <p:cNvSpPr/>
          <p:nvPr/>
        </p:nvSpPr>
        <p:spPr>
          <a:xfrm rot="0" flipH="false" flipV="false">
            <a:off x="6477000" y="4445000"/>
            <a:ext cx="2222500" cy="1651000"/>
          </a:xfrm>
          <a:prstGeom prst="roundRect">
            <a:avLst>
              <a:gd name="adj" fmla="val 6153"/>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604000" y="4635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4A5C51"/>
                </a:solidFill>
                <a:latin typeface="Noto Sans SC"/>
                <a:ea typeface="Noto Sans SC"/>
                <a:cs typeface="Noto Sans SC"/>
                <a:sym typeface="Noto Sans SC"/>
              </a:rPr>
              <a:t>🎯 个性化与公平性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5A5A5A"/>
                </a:solidFill>
                <a:latin typeface="Noto Sans SC"/>
                <a:ea typeface="Noto Sans SC"/>
                <a:cs typeface="Noto Sans SC"/>
                <a:sym typeface="Noto Sans SC"/>
              </a:rPr>
              <a:t>确保模型在不同人群中的表现公平，并基于个体特征提供个性化健康建议。</a:t>
            </a:r>
          </a:p>
        </p:txBody>
      </p:sp>
      <p:sp>
        <p:nvSpPr>
          <p:cNvPr name="AutoShape 23" id="23"/>
          <p:cNvSpPr/>
          <p:nvPr/>
        </p:nvSpPr>
        <p:spPr>
          <a:xfrm rot="0" flipH="false" flipV="false">
            <a:off x="8953500" y="4445000"/>
            <a:ext cx="2222500" cy="1651000"/>
          </a:xfrm>
          <a:prstGeom prst="roundRect">
            <a:avLst>
              <a:gd name="adj" fmla="val 6153"/>
            </a:avLst>
          </a:prstGeom>
          <a:solidFill>
            <a:srgbClr val="F7F9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080500" y="4635500"/>
            <a:ext cx="196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4A5C51"/>
                </a:solidFill>
                <a:latin typeface="Noto Sans SC"/>
                <a:ea typeface="Noto Sans SC"/>
                <a:cs typeface="Noto Sans SC"/>
                <a:sym typeface="Noto Sans SC"/>
              </a:rPr>
              <a:t>🏥 真实世界部署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5A5A5A"/>
                </a:solidFill>
                <a:latin typeface="Noto Sans SC"/>
                <a:ea typeface="Noto Sans SC"/>
                <a:cs typeface="Noto Sans SC"/>
                <a:sym typeface="Noto Sans SC"/>
              </a:rPr>
              <a:t>探索在真实临床环境中的人机协作模式，并完善相应的伦理与监管框架。</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8F0E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778000"/>
            <a:ext cx="12192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4A5C51"/>
                </a:solidFill>
                <a:latin typeface="Noto Sans SC"/>
                <a:ea typeface="Noto Sans SC"/>
                <a:cs typeface="Noto Sans SC"/>
                <a:sym typeface="Noto Sans SC"/>
              </a:rPr>
              <a:t>Q &amp; A</a:t>
            </a:r>
            <a:endParaRPr lang="en-US" sz="1100"/>
          </a:p>
        </p:txBody>
      </p:sp>
      <p:sp>
        <p:nvSpPr>
          <p:cNvPr name="AutoShape 3" id="3"/>
          <p:cNvSpPr/>
          <p:nvPr/>
        </p:nvSpPr>
        <p:spPr>
          <a:xfrm rot="0" flipH="false" flipV="false">
            <a:off x="0" y="3556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4200">
                <a:solidFill>
                  <a:srgbClr val="4A5C51"/>
                </a:solidFill>
                <a:latin typeface="Noto Sans SC"/>
                <a:ea typeface="Noto Sans SC"/>
                <a:cs typeface="Noto Sans SC"/>
                <a:sym typeface="Noto Sans SC"/>
              </a:rPr>
              <a:t>感谢聆听</a:t>
            </a:r>
            <a:endParaRPr lang="en-US" sz="1100"/>
          </a:p>
        </p:txBody>
      </p:sp>
      <p:sp>
        <p:nvSpPr>
          <p:cNvPr name="AutoShape 4" id="4"/>
          <p:cNvSpPr/>
          <p:nvPr/>
        </p:nvSpPr>
        <p:spPr>
          <a:xfrm rot="0" flipH="false" flipV="false">
            <a:off x="0" y="4699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spc="200">
                <a:solidFill>
                  <a:srgbClr val="6B7E73"/>
                </a:solidFill>
                <a:latin typeface="Noto Sans SC"/>
                <a:ea typeface="Noto Sans SC"/>
                <a:cs typeface="Noto Sans SC"/>
                <a:sym typeface="Noto Sans SC"/>
              </a:rPr>
              <a:t>THANK YOU FOR LISTENING</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826000" y="5461000"/>
            <a:ext cx="609600" cy="609600"/>
          </a:xfrm>
          <a:prstGeom prst="rect">
            <a:avLst/>
          </a:prstGeom>
        </p:spPr>
      </p:pic>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56400" y="5461000"/>
            <a:ext cx="609600" cy="609600"/>
          </a:xfrm>
          <a:prstGeom prst="rect">
            <a:avLst/>
          </a:prstGeom>
        </p:spPr>
      </p:pic>
      <p:pic>
        <p:nvPicPr>
          <p:cNvPr name="Picture 7" id="7"/>
          <p:cNvPicPr>
            <a:picLocks noChangeAspect="true"/>
          </p:cNvPicPr>
          <p:nvPr/>
        </p:nvPicPr>
        <p:blipFill>
          <a:blip r:embed="rId7"/>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