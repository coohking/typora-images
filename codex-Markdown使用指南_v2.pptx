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1737360"/>
            <a:ext cx="33375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800" b="1">
                <a:solidFill>
                  <a:srgbClr val="1C2623"/>
                </a:solidFill>
                <a:latin typeface="Arial"/>
              </a:rPr>
              <a:t>Markdown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578608"/>
            <a:ext cx="33375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500" b="1">
                <a:solidFill>
                  <a:srgbClr val="173A2E"/>
                </a:solidFill>
                <a:latin typeface="Microsoft YaHei"/>
              </a:rPr>
              <a:t>使用指南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26280" y="859536"/>
            <a:ext cx="3273552" cy="17556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80" y="859536"/>
            <a:ext cx="3273552" cy="17556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73752" y="1389888"/>
            <a:ext cx="2468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73A2E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31352" y="1389888"/>
            <a:ext cx="24688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2D475B"/>
                </a:solidFill>
                <a:latin typeface="Microsoft YaHei"/>
              </a:rPr>
              <a:t>基本语法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2971800"/>
            <a:ext cx="7150608" cy="239572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3236976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3A2E"/>
                </a:solidFill>
                <a:latin typeface="Microsoft YaHei"/>
              </a:rPr>
              <a:t>Markdown是什么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37176" y="3730752"/>
            <a:ext cx="6528816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A6961"/>
                </a:solidFill>
                <a:latin typeface="Microsoft YaHei"/>
              </a:rPr>
              <a:t>Markdown是一种轻量级标记语言，排版语法简洁，让人们更多地关注内容本身而非排版。它使用易读易写的纯文本格式编写文档，可与HTML混编，可导出 HTML、PDF 以及本身的 .md 格式的文件。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37176" y="4736592"/>
            <a:ext cx="6528816" cy="384048"/>
          </a:xfrm>
          <a:prstGeom prst="roundRect">
            <a:avLst/>
          </a:prstGeom>
          <a:solidFill>
            <a:srgbClr val="1D2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828032"/>
            <a:ext cx="614476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E0E9E1"/>
                </a:solidFill>
                <a:latin typeface="Consolas"/>
              </a:rPr>
              <a:t># 一级标题    **加粗**    - 列表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01/27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3A2E"/>
                </a:solidFill>
                <a:latin typeface="Microsoft YaHei"/>
              </a:rPr>
              <a:t>Markdown是什么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Markdown是什么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117043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8961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Markdown是一种轻量级标记语言，排版语法简洁，让人们更多地关注内容本身而非排版。它使用易读易写的纯文本格式编写文档，可与HTML混编，可导出 HTML、PDF 以及本身的 .md 格式的文件。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02/27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语法简单，学习成本低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1280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Markdown 使用非常少的符号就可以完成基本的排版操作，例如标题、加粗、列表等。
相比 Word 等富文本编辑器复杂的工具栏操作，Markdown 只需要输入简单符号即可实现格式控制。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214884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231343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例如：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2724912"/>
            <a:ext cx="7150608" cy="1618488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2926080"/>
            <a:ext cx="6675120" cy="127101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 一级标题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## 二级标题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**加粗**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*斜体*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- 列表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4462272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4626864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通常只需要几分钟就可以掌握常用语法。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03/27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可读性强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Markdown 的一个重要设计理念是 **即使不经过渲染，文本本身也具有良好的可读性**。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49047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例如：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901952"/>
            <a:ext cx="7150608" cy="1371600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2103120"/>
            <a:ext cx="6675120" cy="10241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 研究背景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## 方法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## 实验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## 结论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392424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557016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即使在普通文本编辑器中查看，也能清楚地看到文档结构。这一点比 HTML 等标记语言更加直观。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04/27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3A2E"/>
                </a:solidFill>
                <a:latin typeface="Microsoft YaHei"/>
              </a:rPr>
              <a:t>3. 专注内容而不是排版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使用 Markdown 时，作者主要关注 **内容结构**，而不是复杂的排版细节。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49047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例如在写技术文档或科研笔记时，可以直接写：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901952"/>
            <a:ext cx="7150608" cy="1124712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2103120"/>
            <a:ext cx="6675120" cy="7772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 实验方法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 实验结果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# 讨论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145536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310128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不需要花时间调整字体、段落格式或样式，这可以显著提高写作效率。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05/27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3A2E"/>
                </a:solidFill>
                <a:latin typeface="Microsoft YaHei"/>
              </a:rPr>
              <a:t>4. 纯文本格式，兼容性强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Markdown 文件本质上是 **普通文本文件**（`.md` 文件）。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49047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因此具有很多优势：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901952"/>
            <a:ext cx="7150608" cy="1371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2066544"/>
            <a:ext cx="6638544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文件体积小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不依赖特定软件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可以在任何操作系统打开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不容易损坏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392424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557016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同时 Markdown 可以很方便地转换为多种格式，例如：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3968496"/>
            <a:ext cx="7150608" cy="181051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82312" y="4133088"/>
            <a:ext cx="6638544" cy="15361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HTML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PDF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Word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PPT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LaTeX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06/27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3A2E"/>
                </a:solidFill>
                <a:latin typeface="Microsoft YaHei"/>
              </a:rPr>
              <a:t>5. 适合版本控制和团队协作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7315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由于 Markdown 是纯文本文件，因此非常适合与 **Git 等版本控制工具**配合使用。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60020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76479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例如在 GitHub 项目中，Markdown 常用于：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2176272"/>
            <a:ext cx="7150608" cy="1371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82312" y="2340864"/>
            <a:ext cx="6638544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README 文档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项目说明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API 文档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开发指南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666744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831336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文本格式也使得不同版本之间的差异（diff）非常容易比较。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07/27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73A2E"/>
                </a:solidFill>
                <a:latin typeface="Microsoft YaHei"/>
              </a:rPr>
              <a:t>6. 支持代码和数学公式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Markdown 对技术文档和科研写作非常友好，因为它可以方便地插入代码块和数学公式。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49047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例如代码块：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901952"/>
            <a:ext cx="7150608" cy="877824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64024" y="2103120"/>
            <a:ext cx="6675120" cy="53035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def hello():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  print("Hello Markdown")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289864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5736" y="306324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数学公式（LaTeX）：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3474720"/>
            <a:ext cx="7150608" cy="630936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4024" y="3675888"/>
            <a:ext cx="6675120" cy="28346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$E = mc^2$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26280" y="4224528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45736" y="4389120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在很多 Markdown 编辑器中可以直接渲染数学公式，这对于理工科写作非常重要。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08/27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7. 应用范围广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Markdown的优点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目前 Markdown 已经成为技术领域中最常见的文档格式之一，常见应用包括：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208483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1490472"/>
            <a:ext cx="6638544" cy="18105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GitHub 项目文档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技术博客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科研笔记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软件说明文档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AI 和程序开发文档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在线知识管理工具（如 Obsidian、Notion）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09/27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标题语法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标题语法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1005839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更详细语法可见Markdown 基本语法 | Markdown 教程
https://markdown.com.cn/basic-syntax/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874519"/>
            <a:ext cx="7150608" cy="117043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2039111"/>
            <a:ext cx="6711696" cy="8961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要创建标题，请在单词或短语前面添加井号 (`#`) 。`#` 的数量代表了标题的级别。例如，添加三个 `#` 表示创建一个三级标题 (`&lt;h3&gt;`) (例如：`### My Header`)。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标题语法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标题语法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33649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745736" y="969264"/>
          <a:ext cx="67116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1614"/>
                <a:gridCol w="3490081"/>
              </a:tblGrid>
              <a:tr h="418011">
                <a:tc>
                  <a:txBody>
                    <a:bodyPr wrap="square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4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 Heading level 1`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`&lt;h1&gt;Heading level 1&lt;/h1&gt;`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`## Heading level 2`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`&lt;h2&gt;Heading level 2&lt;/h2&gt;`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`### Heading level 3`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`&lt;h3&gt;Heading level 3&lt;/h3&gt;`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`#### Heading level 4`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`&lt;h4&gt;Heading level 4&lt;/h4&gt;`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`##### Heading level 5`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`&lt;h5&gt;Heading level 5&lt;/h5&gt;`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`###### Heading level 6`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60" b="0">
                          <a:solidFill>
                            <a:srgbClr val="6A6961"/>
                          </a:solidFill>
                          <a:latin typeface="Microsoft YaHei"/>
                        </a:rPr>
                        <a:t>`&lt;h6&gt;Heading level 6&lt;/h6&gt;`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标题语法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标题语法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31363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630" y="978408"/>
            <a:ext cx="3071907" cy="267919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段落语法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段落语法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要创建段落，请使用空白行将一行或多行文本进行分隔。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167335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545336"/>
          <a:ext cx="6711694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`I really like using Markdown.I think I'll use it to format all of my documents from now on.`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`&lt;p&gt;I really like using Markdown.&lt;/p&gt;&lt;p&gt;I think I'll use it to format all of my documents from now on.&lt;/p&gt;`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I really like using Markdown.I think I'll use it to format all of my documents from now on.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换行语法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换行语法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在一行的末尾添加两个或多个空格，然后按回车键,即可创建一个换行(`&lt;br&gt;`)。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121615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545336"/>
          <a:ext cx="6711694" cy="777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388619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`This is the first line.  And this is the second line.`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`&lt;p&gt;This is the first line.&lt;br&gt;And this is the second line.&lt;/p&gt;`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This is the first line. And this is the second line.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14/27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强调语法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强调语法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通过将文本设置为粗体或斜体来强调其重要性。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490472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可直接选定内容后使用快捷键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1901952"/>
            <a:ext cx="7150608" cy="31363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615" y="2130552"/>
            <a:ext cx="2815937" cy="26791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15/27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粗体（Bold）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强调语法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1005839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要加粗文本，请在单词或短语的前后各添加两个星号（asterisks）或下划线（underscores）。如需加粗一个单词或短语的中间部分用以表示强调的话，请在要加粗部分的两侧各添加两个星号（asterisks）。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874519"/>
            <a:ext cx="7150608" cy="179222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2093975"/>
          <a:ext cx="671169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 just love **bold text**.`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 just love &lt;strong&gt;bold text&lt;/strong&gt;.`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I just love **bold text**.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 just love __bold text__.`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 just love &lt;strong&gt;bold text&lt;/strong&gt;.`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I just love **bold text**.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`Love**is**bold`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`Love&lt;strong&gt;is&lt;/strong&gt;bold`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Love**is**bold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16/27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斜体（Italic）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强调语法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7315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要用斜体显示文本，请在单词或短语前后添加一个星号（asterisk）或下划线（underscore）。要斜体突出单词的中间部分，请在字母前后各添加一个星号，中间不要带空格。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600200"/>
            <a:ext cx="7150608" cy="179222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819656"/>
          <a:ext cx="6711694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338328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`Italicized text is the *cat's meow*.`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`Italicized text is the &lt;em&gt;cat's meow&lt;/em&gt;.`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Italicized text is the *cat’s meow*.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`Italicized text is the _cat's meow_.`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`Italicized text is the &lt;em&gt;cat's meow&lt;/em&gt;.`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Italicized text is the *cat’s meow*.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`A*cat*meow`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`A&lt;em&gt;cat&lt;/em&gt;meow`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A*cat*meow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17/27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列表语法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列表语法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可直接使用快捷键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31363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644" y="1554480"/>
            <a:ext cx="1453879" cy="26791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18/27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有序列表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列表语法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7315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要创建有序列表，请在每个列表项前添加数字并紧跟一个英文句点。数字不必按数学顺序排列，但是列表应当以数字 1 起始。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600200"/>
            <a:ext cx="7150608" cy="28986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819656"/>
          <a:ext cx="6711695" cy="24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1614"/>
                <a:gridCol w="3490081"/>
              </a:tblGrid>
              <a:tr h="49194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`1. First item
2. Second item
3. Third item
4. Fourth item`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`&lt;ol&gt;&lt;li&gt;First item&lt;/li&gt;
&lt;li&gt;Second item&lt;/li&gt;
&lt;li&gt;Third item&lt;/li&gt;
&lt;li&gt;Fourth item&lt;/li&gt;
&lt;/ol&gt;`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`1. First item
1. Second item
1. Third item
1. Fourth item`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`&lt;ol&gt;&lt;li&gt;First item&lt;/li&gt;
&lt;li&gt;Second item&lt;/li&gt;
&lt;li&gt;Third item&lt;/li&gt;
&lt;li&gt;Fourth item&lt;/li&gt;
&lt;/ol&gt;`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`1. First item
8. Second item
3. Third item
5. Fourth item`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`&lt;ol&gt;&lt;li&gt;First item&lt;/li&gt;
&lt;li&gt;Second item&lt;/li&gt;
&lt;li&gt;Third item&lt;/li&gt;
&lt;li&gt;Fourth item&lt;/li&gt;
&lt;/ol&gt;`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9194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`1. First item
2. Second item
3. Third item  1. Indented item
2. Indented item
4. Fourth item`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`&lt;ol&gt;&lt;li&gt;First item&lt;/li&gt;
&lt;li&gt;Second item&lt;/li&gt;
&lt;li&gt;Third item&lt;ol&gt;&lt;li&gt;Indented item&lt;/li&gt;
&lt;li&gt;Indented item&lt;/li&gt;
&lt;/ol&gt;&lt;/li&gt;
&lt;li&gt;Fourth item&lt;/li&gt;
&lt;/ol&gt;`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526280" y="4617720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5736" y="4782312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**预览效果**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19/27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有序列表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列表语法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208483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914400"/>
            <a:ext cx="6638544" cy="18105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1. First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2. Second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3. Third item</a:t>
            </a:r>
          </a:p>
          <a:p>
            <a:pPr lvl="1"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1. Indented item</a:t>
            </a:r>
          </a:p>
          <a:p>
            <a:pPr lvl="1"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2. Indented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4. Fourth 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20/27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无序列表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列表语法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7315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要创建无序列表，请在每个列表项前面添加破折号 (-)、星号 (*) 或加号 (+) 。缩进一个或多个列表项可创建嵌套列表。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600200"/>
            <a:ext cx="7150608" cy="289864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819656"/>
          <a:ext cx="6711695" cy="24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1614"/>
                <a:gridCol w="3490081"/>
              </a:tblGrid>
              <a:tr h="49194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`- First item- Second item- Third item- Fourth item`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`&lt;ul&gt;&lt;li&gt;First item&lt;/li&gt;
&lt;li&gt;Second item&lt;/li&gt;
&lt;li&gt;Third item&lt;/li&gt;
&lt;li&gt;Fourth item&lt;/li&gt;
&lt;/ul&gt;`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`* First item* Second item* Third item* Fourth item`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`&lt;ul&gt;&lt;li&gt;First item&lt;/li&gt;
&lt;li&gt;Second item&lt;/li&gt;
&lt;li&gt;Third item&lt;/li&gt;
&lt;li&gt;Fourth item&lt;/li&gt;
&lt;/ul&gt;`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  <a:tr h="491947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`+ First item+ Second item+ Third item+ Fourth item`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`&lt;ul&gt;&lt;li&gt;First item&lt;/li&gt;
&lt;li&gt;Second item&lt;/li&gt;
&lt;li&gt;Third item&lt;/li&gt;
&lt;li&gt;Fourth item&lt;/li&gt;
&lt;/ul&gt;`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491948"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`- First item- Second item- Third item  - Indented item  - Indented item- Fourth item`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19" b="0">
                          <a:solidFill>
                            <a:srgbClr val="6A6961"/>
                          </a:solidFill>
                          <a:latin typeface="Microsoft YaHei"/>
                        </a:rPr>
                        <a:t>`&lt;ul&gt;&lt;li&gt;First item&lt;/li&gt;
&lt;li&gt;Second item&lt;/li&gt;
&lt;li&gt;Third item&lt;ul&gt;&lt;li&gt;Indented item&lt;/li&gt;
&lt;li&gt;Indented item&lt;/li&gt;
&lt;/ul&gt;&lt;/li&gt;
&lt;li&gt;Fourth item&lt;/li&gt;
&lt;/ul&gt;`</a:t>
                      </a:r>
                    </a:p>
                  </a:txBody>
                  <a:tcPr marL="36576" marR="36576" marT="27432" marB="27432" anchor="ctr">
                    <a:solidFill>
                      <a:srgbClr val="FBF9F3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526280" y="4617720"/>
            <a:ext cx="7150608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5736" y="4782312"/>
            <a:ext cx="671169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**预览效果**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21/27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无序列表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列表语法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208483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914400"/>
            <a:ext cx="6638544" cy="18105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First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Second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Third item</a:t>
            </a:r>
          </a:p>
          <a:p>
            <a:pPr lvl="1"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Indented item</a:t>
            </a:r>
          </a:p>
          <a:p>
            <a:pPr lvl="1"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Indented item</a:t>
            </a:r>
          </a:p>
          <a:p>
            <a:pPr>
              <a:spcAft>
                <a:spcPts val="300"/>
              </a:spcAft>
              <a:defRPr sz="1340">
                <a:solidFill>
                  <a:srgbClr val="6A6961"/>
                </a:solidFill>
                <a:latin typeface="Microsoft YaHei"/>
              </a:defRPr>
            </a:pPr>
            <a:r>
              <a:t>• Fourth item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22/27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代码语法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代码语法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可直接使用快捷键，并在代码块右下角选择这段代码的语言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29718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13" y="1554480"/>
            <a:ext cx="2202742" cy="25146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526280" y="4416552"/>
            <a:ext cx="7150608" cy="121615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718" y="4645152"/>
            <a:ext cx="4475731" cy="7589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23/27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反引号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代码语法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要将单词或短语表示为代码，请将其包裹在反引号 (```) 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121615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545336"/>
          <a:ext cx="6711694" cy="777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388619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`At the command prompt, type `nano`.`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`At the command prompt, type &lt;code&gt;nano&lt;/code&gt;.`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At the command prompt, type `nano`.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24/27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转义反引号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代码语法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7315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如果你要表示为代码的单词或短语中包含一个或多个反引号，则可以通过将单词或短语包裹在双反引号(````)中。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600200"/>
            <a:ext cx="7150608" cy="121615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745736" y="1819656"/>
          <a:ext cx="6711694" cy="777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1976"/>
                <a:gridCol w="2281976"/>
                <a:gridCol w="2147742"/>
              </a:tblGrid>
              <a:tr h="388619"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Markdown语法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HTML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预览效果</a:t>
                      </a:r>
                    </a:p>
                  </a:txBody>
                  <a:tcPr marL="36576" marR="36576" marT="27432" marB="27432" anchor="ctr">
                    <a:solidFill>
                      <a:srgbClr val="2F5B45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```Use `code` in your Markdown file.```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`&lt;code&gt;Use `code` in your Markdown file.&lt;/code&gt;`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A6961"/>
                          </a:solidFill>
                          <a:latin typeface="Microsoft YaHei"/>
                        </a:rPr>
                        <a:t>`Use `code` in your Markdown file.`</a:t>
                      </a: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25/27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代码块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代码语法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要创建代码块，请将代码块的每一行缩进至少四个空格或一个制表符。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325880"/>
            <a:ext cx="7150608" cy="1371600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1527048"/>
            <a:ext cx="6675120" cy="102412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  &amp;lt;html&gt;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    &amp;lt;head&gt;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    &amp;lt;/head&gt;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  &amp;lt;/html&gt;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2816352"/>
            <a:ext cx="7150608" cy="4572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45736" y="2980944"/>
            <a:ext cx="6711696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渲染效果如下：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6280" y="3392424"/>
            <a:ext cx="7150608" cy="1536192"/>
          </a:xfrm>
          <a:prstGeom prst="roundRect">
            <a:avLst/>
          </a:prstGeom>
          <a:solidFill>
            <a:srgbClr val="1D262B"/>
          </a:solidFill>
          <a:ln w="10160">
            <a:solidFill>
              <a:srgbClr val="273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3593592"/>
            <a:ext cx="6675120" cy="11887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&amp;lt;html&gt;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&amp;lt;head&gt;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  &amp;lt;/head&gt;</a:t>
            </a:r>
          </a:p>
          <a:p>
            <a:pPr>
              <a:spcAft>
                <a:spcPts val="200"/>
              </a:spcAft>
              <a:defRPr sz="1220">
                <a:solidFill>
                  <a:srgbClr val="E0E9E1"/>
                </a:solidFill>
                <a:latin typeface="Consolas"/>
              </a:defRPr>
            </a:pPr>
            <a:r>
              <a:t>&amp;lt;/html&gt;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26/27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74320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0896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0623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0896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3504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566928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3504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713232"/>
            <a:ext cx="32004" cy="3200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97096" y="658368"/>
            <a:ext cx="10972" cy="5257800"/>
          </a:xfrm>
          <a:prstGeom prst="rect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60520" y="1353312"/>
            <a:ext cx="77724" cy="77724"/>
          </a:xfrm>
          <a:prstGeom prst="ellipse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60520" y="2971800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663440"/>
            <a:ext cx="77724" cy="77724"/>
          </a:xfrm>
          <a:prstGeom prst="ellipse">
            <a:avLst/>
          </a:prstGeom>
          <a:solidFill>
            <a:srgbClr val="2F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5596128"/>
            <a:ext cx="77724" cy="77724"/>
          </a:xfrm>
          <a:prstGeom prst="ellipse">
            <a:avLst/>
          </a:prstGeom>
          <a:solidFill>
            <a:srgbClr val="DED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103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1335024"/>
            <a:ext cx="324612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3A2E"/>
                </a:solidFill>
                <a:latin typeface="Microsoft YaHei"/>
              </a:rPr>
              <a:t>代码块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" y="3685032"/>
            <a:ext cx="502920" cy="25603"/>
          </a:xfrm>
          <a:prstGeom prst="rect">
            <a:avLst/>
          </a:prstGeom>
          <a:solidFill>
            <a:srgbClr val="B77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68496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A6961"/>
                </a:solidFill>
                <a:latin typeface="Microsoft YaHei"/>
              </a:rPr>
              <a:t>代码语法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749808"/>
            <a:ext cx="7150608" cy="1444751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8E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914400"/>
            <a:ext cx="6711696" cy="11704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30" b="0">
                <a:solidFill>
                  <a:srgbClr val="6A6961"/>
                </a:solidFill>
                <a:latin typeface="Microsoft YaHei"/>
              </a:rPr>
              <a:t>**Note:** 要创建不用缩进的代码块，请使用 围栏式代码块（fenced code blocks）
https://markdown.com.cn/extended-syntax/fenced-code-blocks.html.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F8980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8C968D"/>
                </a:solidFill>
                <a:latin typeface="Microsoft YaHei"/>
              </a:rPr>
              <a:t>简介&amp;优点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934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2264" y="6446520"/>
            <a:ext cx="31089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B7794B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5456" y="643737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</a:rPr>
              <a:t>基本语法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6565392"/>
            <a:ext cx="868680" cy="10972"/>
          </a:xfrm>
          <a:prstGeom prst="rect">
            <a:avLst/>
          </a:prstGeom>
          <a:solidFill>
            <a:srgbClr val="495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16768" y="6437376"/>
            <a:ext cx="74980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50" b="0">
                <a:solidFill>
                  <a:srgbClr val="CFD5CD"/>
                </a:solidFill>
                <a:latin typeface="Arial"/>
              </a:rPr>
              <a:t>27/27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